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840480" cy="3840480"/>
          </a:xfrm>
          <a:prstGeom prst="ellipse">
            <a:avLst/>
          </a:prstGeom>
          <a:solidFill>
            <a:srgbClr val="0077A8">
              <a:alpha val="30000"/>
            </a:srgbClr>
          </a:solidFill>
          <a:ln w="12700">
            <a:solidFill>
              <a:srgbClr val="0077A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Agent를 위한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Drift Telemetry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가능한 AI Agent를 만들기 위한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설계 · LangGraph 구조화 · Drift 관측 체계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Context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LangGraph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 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RAG / 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Drift Telemetry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Judge 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Observability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2026.05.15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전체 구성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Part로 구성된 기술 발표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" y="13533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84708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Context Engineering과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Telemetry가 필요한가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188720"/>
            <a:ext cx="269748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35331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6200" y="13533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92424" y="184708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개념, 방법론,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전략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18872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353312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93992" y="13533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설계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0216" y="184708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State/Node/Edge/Tool 기반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구조화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718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31363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1363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Telemetry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363016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수집/전송 구조,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체계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97180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97180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2424" y="313639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86200" y="31363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아키텍처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92424" y="363016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평가·탐지·운영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아키텍처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35624" y="297180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35624" y="2971800"/>
            <a:ext cx="2697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0216" y="313639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93992" y="31363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&amp; 로드맵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0216" y="3630168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구현 로드맵과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아이템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해결하려는 문제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문제 정의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Agent가 왜 시간이 지나며 목표에서 벗어나는가?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24358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243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더 긴 컨텍스트 창이 항상 더 나은 답을 만들지 않는가?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197510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975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Failure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6517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에이전트에서 컨텍스트는 어디에 존재하는가?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9480" y="270662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Architecture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Agent는 어떤 데이터를 보고 drift를 판단해야 하는가?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343814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14223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114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가능한 에이전트를 만들려면 어떤 telemetry가 필요한가?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416966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가능한 AI Agent의 3요소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88920" cy="3108960"/>
          </a:xfrm>
          <a:prstGeom prst="rect">
            <a:avLst/>
          </a:prstGeom>
          <a:solidFill>
            <a:srgbClr val="1A2E4A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788920" cy="73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3957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무엇을 보고 판단하는가?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설계 · 선택 · 압축 · 격리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88920" cy="3108960"/>
          </a:xfrm>
          <a:prstGeom prst="rect">
            <a:avLst/>
          </a:prstGeom>
          <a:solidFill>
            <a:srgbClr val="1A2E4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3957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컨텍스트가 어떤 상태와 노드 흐름으로 관리되는가?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Node · Edge · Checkpoint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88920" cy="3108960"/>
          </a:xfrm>
          <a:prstGeom prst="rect">
            <a:avLst/>
          </a:prstGeom>
          <a:solidFill>
            <a:srgbClr val="1A2E4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43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Telemetry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3957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과정에서 무엇이 기록되고 Judge Agent가 무엇을 검증하는가?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· Events · Validation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702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"Prompt는 모델에게 하는 말이고, Context는 모델이 일하는 세계다. Telemetry는 그 세계에서 실제로 무슨 일이 일어났는지 남기는 증거다."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Drift란 무엇인가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에이전트가 목표에서 벗어나는 현상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88720"/>
            <a:ext cx="199339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755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21945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목표에서 이탈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8608" y="1755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1945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도구 선택·반복 호출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118872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1188720"/>
            <a:ext cx="199339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</a:rPr>
              <a:t>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755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Drift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관련없는/오래된 기억 사용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21424" y="118872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188720"/>
            <a:ext cx="19933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1152" y="1755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Drift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1945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오해석·과도한 일반화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88036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2880360"/>
            <a:ext cx="1993392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7A8"/>
                </a:solidFill>
              </a:rPr>
              <a:t>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2336" y="3447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Drift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없이 수치·원인 주장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880360"/>
            <a:ext cx="199339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78608" y="3447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Drift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78608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간 전달 시 의미 변형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288036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5152" y="2880360"/>
            <a:ext cx="199339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⚠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54880" y="3447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컨텍스트 과다 누적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21424" y="2880360"/>
            <a:ext cx="199339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21424" y="2880360"/>
            <a:ext cx="199339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1152" y="3447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31152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정보가 State 오염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Engineering의 정의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단순 Prompt Engineering을 넘어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1234440"/>
          </a:xfrm>
          <a:prstGeom prst="rect">
            <a:avLst/>
          </a:prstGeom>
          <a:solidFill>
            <a:srgbClr val="E8F4F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LLM/Agent가 목표를 달성하기 위해 필요한 정보를 외부 세계에서 가져오고, 장기/단기 기억에 저장하고, 현재 작업에 맞게 선택하고, 중복·충돌·노이즈를 줄이고, 안전하고 검증 가능한 형태로 모델에게 제공하는 전체 시스템.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578608"/>
            <a:ext cx="1828800" cy="457200"/>
          </a:xfrm>
          <a:prstGeom prst="rect">
            <a:avLst/>
          </a:prstGeom>
          <a:solidFill>
            <a:srgbClr val="1A2E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78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2578608"/>
            <a:ext cx="3246120" cy="457200"/>
          </a:xfrm>
          <a:prstGeom prst="rect">
            <a:avLst/>
          </a:prstGeom>
          <a:solidFill>
            <a:srgbClr val="1A2E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578608"/>
            <a:ext cx="3246120" cy="457200"/>
          </a:xfrm>
          <a:prstGeom prst="rect">
            <a:avLst/>
          </a:prstGeom>
          <a:solidFill>
            <a:srgbClr val="1A2E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1828800" cy="457200"/>
          </a:xfrm>
          <a:prstGeom prst="rect">
            <a:avLst/>
          </a:prstGeom>
          <a:solidFill>
            <a:srgbClr val="E8F4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30358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말할까?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30358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보여줄까?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1828800" cy="457200"/>
          </a:xfrm>
          <a:prstGeom prst="rect">
            <a:avLst/>
          </a:prstGeom>
          <a:solidFill>
            <a:srgbClr val="E8F4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93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34930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34930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지시문, 예시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4930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4930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 + 검색 + 메모리 + 도구 + 상태 + 검증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50208"/>
            <a:ext cx="1828800" cy="457200"/>
          </a:xfrm>
          <a:prstGeom prst="rect">
            <a:avLst/>
          </a:prstGeom>
          <a:solidFill>
            <a:srgbClr val="E8F4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50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9502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950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9502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950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파이프라인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1828800" cy="457200"/>
          </a:xfrm>
          <a:prstGeom prst="rect">
            <a:avLst/>
          </a:prstGeom>
          <a:solidFill>
            <a:srgbClr val="E8F4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원인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48840" y="44074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4407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 모호함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44074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4407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누락/과다/충돌/오염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4대 전략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Write · Select · Compress · Isolate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029968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2029968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325880"/>
            <a:ext cx="640080" cy="64008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20756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5603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컨텍스트를 외부에 기록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3264408"/>
            <a:ext cx="181051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335584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55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372160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7216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408736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0873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" y="445312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4531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1143000"/>
            <a:ext cx="2029968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143000"/>
            <a:ext cx="20299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1325880"/>
            <a:ext cx="640080" cy="640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60320" y="20756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560320" y="25603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컨텍스트만 선택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78608" y="3264408"/>
            <a:ext cx="181051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8608" y="335584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355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372160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37216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78608" y="408736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40873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45152" y="1143000"/>
            <a:ext cx="2029968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1143000"/>
            <a:ext cx="20299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0096" y="13258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🗜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36592" y="20756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36592" y="25603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핵심만 남기고 압축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264408"/>
            <a:ext cx="181051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35584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355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72160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7216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compaction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408736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0873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summary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21424" y="1143000"/>
            <a:ext cx="2029968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21424" y="1143000"/>
            <a:ext cx="20299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16368" y="13258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1636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912864" y="20756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912864" y="25603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컨텍스트를 역할별 격리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31152" y="3264408"/>
            <a:ext cx="181051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31152" y="335584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3355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31152" y="372160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31152" y="37216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31152" y="4087368"/>
            <a:ext cx="1810512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31152" y="40873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scope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구성 7요소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컨텍스트는 하나가 아니다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1216152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16152"/>
            <a:ext cx="6400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2161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216152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역할, 정책, 금지사항, 출력 형식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" y="1746504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1746504"/>
            <a:ext cx="6400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1746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74650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요청, 목표, 제약, 성공 기준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67712"/>
            <a:ext cx="402336" cy="40233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" y="2276856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2276856"/>
            <a:ext cx="64008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276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2276856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문서, DB, 웹 검색, 코드베이스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798064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2807208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2807208"/>
            <a:ext cx="64008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2807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2807208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선호, 과거 결정, 절차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2841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" y="3337560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" y="3337560"/>
            <a:ext cx="6400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Context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333756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이름, 설명, schema, 권한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85876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" y="3867912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3867912"/>
            <a:ext cx="6400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3867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Context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29000" y="3867912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단계, 중간 결과, 오류, 검증 상태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389120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" y="4398264"/>
            <a:ext cx="79827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" y="4398264"/>
            <a:ext cx="6400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43982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 Context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29000" y="43982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schema, markdown 구조, report format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긴 컨텍스트가 항상 답은 아니다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Long Context Failure Modes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3977640" cy="3611880"/>
          </a:xfrm>
          <a:prstGeom prst="rect">
            <a:avLst/>
          </a:prstGeom>
          <a:solidFill>
            <a:srgbClr val="E8F4FA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2618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5가지 실패 모드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9222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정보가 컨텍스트에 들어가 이후 판단 오염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8658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Distraction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정보가 현재 작업 판단을 방해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926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Confusion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182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문서·도구가 모델을 혼란스럽게 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7530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3520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Clash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3776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내부 정보들이 서로 충돌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16966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41148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Lost-in-the-Middle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370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 중간 핵심 정보를 놓침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07408" y="1143000"/>
            <a:ext cx="4416552" cy="3611880"/>
          </a:xfrm>
          <a:prstGeom prst="rect">
            <a:avLst/>
          </a:prstGeom>
          <a:solidFill>
            <a:srgbClr val="1A2E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44568" y="1298448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44568" y="1810512"/>
            <a:ext cx="3657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79222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창이 커졌다고 모든 문서를 넣어도 된다는 뜻이 아니다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44568" y="2404872"/>
            <a:ext cx="3657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38658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"많이 넣기"가 아니라 "필요한 것을 정확히 넣기"가 핵심이다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44568" y="2999232"/>
            <a:ext cx="3657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9809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window는 CPU의 RAM처럼 관리해야 한다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4568" y="3593592"/>
            <a:ext cx="3657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57530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data를 직접 주입하지 말고 압축된 summary를 사용하라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44568" y="4187952"/>
            <a:ext cx="3657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16966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정보는 숨기지 않고 명시적으로 표시하라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LangGraph인가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Context Engineering 관점의 LangGraph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25296"/>
            <a:ext cx="530352" cy="530352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25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225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애플리케이션 snapshot, 컨텍스트 저장소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530352" cy="530352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75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1975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state를 읽고 작업 수행 후 update 반환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530352" cy="530352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24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node를 결정, Context Flow Control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530352" cy="53035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74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snapshot 저장, drift 추적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530352" cy="530352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저장, thread 넘어 유지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10912" y="1143000"/>
            <a:ext cx="3813048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48072" y="1280160"/>
            <a:ext cx="3538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장점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66360" y="181051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78308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컨텍스트를 state channel로 분리 가능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166360" y="240487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237744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node별로 필요한 컨텍스트만 전달 가능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166360" y="299923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0" y="297180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checkpoint로 오염 지점 추적 가능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166360" y="359359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0" y="35661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subgraph로 context isolation 가능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166360" y="418795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0" y="41605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node로 final gate 구성 가능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설계: 나쁜 vs 좋은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State ≠ LLM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4069080" cy="36118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618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나쁜 State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719072"/>
            <a:ext cx="38221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810512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State(TypedDict):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everything: dict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2816352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279806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node가 무엇을 읽고 쓰는지 불명확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3255264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323697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state가 LLM에 주입됨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69417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694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36758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 발생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4133088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41148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검증이 어려움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1143000"/>
            <a:ext cx="4233672" cy="361188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27448" y="1261872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좋은 State 설계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81728" y="1719072"/>
            <a:ext cx="3986784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810512"/>
            <a:ext cx="37124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request: RequestContext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evidence: EvidenceState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retrieved_context: list[RetrievedChunk]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tool_observations: list[ToolObsv...]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validation: ValidationState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errors: list[ErrorSummary]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final: FinalOutput | None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341985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47488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evidence, retrieval context 분리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76732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Agent가 근거 추적 가능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7448" y="411480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47488" y="4096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node별 read/write contract 명확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27448" y="446227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7488" y="4443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 방지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Node vs LLM Node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LLM에게 모든 것을 맡기지 않는다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4069080" cy="3611880"/>
          </a:xfrm>
          <a:prstGeom prst="rect">
            <a:avLst/>
          </a:prstGeom>
          <a:solidFill>
            <a:srgbClr val="E8F4F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618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Deterministic Nodes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코드로 처리 — 예측 가능·검증 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993392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93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22576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225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651760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651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access log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980944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809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310128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310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3639312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639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3968496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4297680"/>
            <a:ext cx="3794760" cy="274320"/>
          </a:xfrm>
          <a:prstGeom prst="roundRect">
            <a:avLst>
              <a:gd name="adj" fmla="val 16667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PII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0288" y="1143000"/>
            <a:ext cx="4233672" cy="3611880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1261872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Nodes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27448" y="16276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LLM으로 처리 — 동적 판단·자연어 생성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27448" y="1993392"/>
            <a:ext cx="3959352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1993392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모호한 의도 해석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27448" y="2414016"/>
            <a:ext cx="3959352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414016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action 선택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27448" y="2834640"/>
            <a:ext cx="3959352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834640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27448" y="3255264"/>
            <a:ext cx="3959352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255264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보고서 작성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" y="4572000"/>
            <a:ext cx="8558784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72000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"숫자와 검증은 코드로, 설명과 판단은 LLM으로."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모든 도구를 항상 보여주지 않는다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754880" cy="358444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448056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select_tools(state):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state.request.get("targetPath"):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["parse_user_request"]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state.rawLogs is None: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["read_log_file"]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state.parsedRecords: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["parse_access_log"]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state.filteredRecords: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["filter_log_records"]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state.metrics: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["compute_log_metrics"]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state.ragContext: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["retrieve_runbook"]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state.mcpContext: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["get_service_context"]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["finish"]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39512" y="1170432"/>
            <a:ext cx="3584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39512" y="1170432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1615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Tool Drift 방지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51790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강력한 tool drift 해결책은 prompt가 아니라 현재 단계에서 필요한 도구만 보여주는 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2066544"/>
            <a:ext cx="3584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39512" y="2066544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11226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Context 절약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4140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tool description이 context window를 차지하지 않음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9512" y="2962656"/>
            <a:ext cx="3584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39512" y="2962656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00837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Side-effect 제어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31012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전까지 위험한 도구는 노출하지 않아 안전성 보장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39512" y="3858768"/>
            <a:ext cx="3584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39512" y="3858768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90448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Judge 검증 용이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20624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단계에서 어떤 도구가 노출됐는지 trace로 기록 가능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Telemetry 이벤트 체계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무엇이 기록되는가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70432"/>
            <a:ext cx="64008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5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시작/종료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run_start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55648" y="1554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5648" y="1554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54096" y="1554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1554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final_output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70432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225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스냅샷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1554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554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instruction_snapshot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20848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084832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396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흐름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688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node_start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55648" y="24688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24688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54096" y="24688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54096" y="24688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edge_selected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0848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08483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1396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루프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8032" y="24688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4688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react_step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24688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4688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29992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" y="2999232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0540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tool_start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55648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55648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tool_end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54096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54096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tool_error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9992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999232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0540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호출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28032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llm_start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llm_end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24928" y="33832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4928" y="3383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llm_error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2608" y="39136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92608" y="3913632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684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RAG/MCP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42976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2976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retrieval_result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755648" y="42976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55648" y="42976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mcp_request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54096" y="42976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54096" y="42976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mcp_response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39136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3913632"/>
            <a:ext cx="64008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28032" y="39684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828032" y="42976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42976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validation_result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92608" y="4709160"/>
            <a:ext cx="8558784" cy="256032"/>
          </a:xfrm>
          <a:prstGeom prst="rect">
            <a:avLst/>
          </a:prstGeom>
          <a:solidFill>
            <a:srgbClr val="E8F4FA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" y="4709160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구현: run_start / run_end · instruction_snapshot · llm_start/end · tool_start/end · final_output · validation_result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Telemetry가 어떤 Drift를 잡는가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Drift-Telemetry 매핑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1664208" cy="384048"/>
          </a:xfrm>
          <a:prstGeom prst="rect">
            <a:avLst/>
          </a:prstGeom>
          <a:solidFill>
            <a:srgbClr val="1A2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유형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56816" y="1143000"/>
            <a:ext cx="3657600" cy="384048"/>
          </a:xfrm>
          <a:prstGeom prst="rect">
            <a:avLst/>
          </a:prstGeom>
          <a:solidFill>
            <a:srgbClr val="1A2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14300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이벤트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14416" y="1143000"/>
            <a:ext cx="3200400" cy="384048"/>
          </a:xfrm>
          <a:prstGeom prst="rect">
            <a:avLst/>
          </a:prstGeom>
          <a:solidFill>
            <a:srgbClr val="1A2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14300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포인트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527048"/>
            <a:ext cx="16642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152704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15270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run_start, final_output, validation_result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52704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5270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vs 결과 비교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1911096"/>
            <a:ext cx="166420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1109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drift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56816" y="1911096"/>
            <a:ext cx="3657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191109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instruction_snapshot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1911096"/>
            <a:ext cx="3200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91109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변경 이력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2295144"/>
            <a:ext cx="16642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29514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drift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56816" y="2295144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229514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react_step, tool_start/end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14416" y="229514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2951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도구 선택·반복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" y="2679192"/>
            <a:ext cx="166420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7919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drift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56816" y="2679192"/>
            <a:ext cx="3657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267919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tool_end, final_output, validation_result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14416" y="2679192"/>
            <a:ext cx="3200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6791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없는 수치 주장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3063240"/>
            <a:ext cx="16642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0632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drift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56816" y="306324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9968" y="306324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retrieval_result, final_output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14416" y="3063240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306324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오해석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2608" y="3447288"/>
            <a:ext cx="166420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4472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drift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56816" y="3447288"/>
            <a:ext cx="3657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29968" y="344728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mcp_end, final_output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14416" y="3447288"/>
            <a:ext cx="3200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34472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컨텍스트 오용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" y="3831336"/>
            <a:ext cx="16642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83133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drift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956816" y="3831336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29968" y="383133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node_start/end, edge_selected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14416" y="383133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38313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간 의미 변형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2608" y="4215384"/>
            <a:ext cx="166420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2153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956816" y="4215384"/>
            <a:ext cx="3657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29968" y="421538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llm_start messages, token usage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14416" y="4215384"/>
            <a:ext cx="3200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42153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과다 토큰 사용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92608" y="4599432"/>
            <a:ext cx="16642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59943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956816" y="459943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29968" y="459943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checkpoints, node state diff, errors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14416" y="4599432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45994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state 추적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평가 루프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Observe → Judge → Improve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170432" cy="117043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실행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56232" y="1792224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700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13432" y="1188720"/>
            <a:ext cx="1170432" cy="11704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13432" y="11887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84832" y="248716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TraceLogger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999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이벤트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75304" y="1792224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1700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32504" y="1188720"/>
            <a:ext cx="1170432" cy="11704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32504" y="11887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03904" y="248716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999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분류·검증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94376" y="1792224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32704" y="1700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51576" y="1188720"/>
            <a:ext cx="1170432" cy="11704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51576" y="11887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22976" y="248716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Feedback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999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리포트·알림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13448" y="1792224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1700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70648" y="1188720"/>
            <a:ext cx="1170432" cy="11704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70648" y="11887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42048" y="248716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반영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999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Policy 업데이트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493008"/>
            <a:ext cx="850392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584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평가 항목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9502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3232" y="39319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유형 분류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39502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47872" y="39319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alignment 검사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39502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82512" y="39319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 측정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13232" y="43708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Tool/RAG/Memory 사용 평가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43891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47872" y="43708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issue 생성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43891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✓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382512" y="43708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계약 위반 탐지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아키텍처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+ LangGraph + Telemetry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51560"/>
            <a:ext cx="64008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13632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6002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719072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1719072"/>
            <a:ext cx="64008" cy="5303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746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13632" y="17647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projection · tool selection · RAG/memory selection · compression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2677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386584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2386584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13632" y="24323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· edges · tools · LLM · MCP · RAG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935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054096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054096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TraceLogger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13632" y="30998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events · redaction · run_id correlation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60273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721608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0" y="3721608"/>
            <a:ext cx="64008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Judge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13632" y="3767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· evidence check · output contract check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427024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4389120"/>
            <a:ext cx="6400800" cy="530352"/>
          </a:xfrm>
          <a:prstGeom prst="rect">
            <a:avLst/>
          </a:prstGeom>
          <a:solidFill>
            <a:srgbClr val="1A2E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4389120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3619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+ Feedback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13632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루프: Context Policy / Graph / Prompt / Tool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4단계 구현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029968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2029968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307592"/>
            <a:ext cx="640080" cy="6400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표준화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182880" cy="1828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58775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TraceLogger 인터페이스 고정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182880" cy="1828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09067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schema 문서화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182880" cy="1828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593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강화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182880" cy="1828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096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+ collector 이중화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143000"/>
            <a:ext cx="2029968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143000"/>
            <a:ext cx="20299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3824" y="1307592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057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구조화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33472" y="26243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58775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 정리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33472" y="31272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09067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raw/summary 분리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33472" y="36301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593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evidence/hypothesis 분리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33472" y="413308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4096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node별 context projection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45152" y="1143000"/>
            <a:ext cx="2029968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1143000"/>
            <a:ext cx="20299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0096" y="130759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0096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2057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Judge 강화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9744" y="26243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58775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기반 drift rule 구현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9744" y="31272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309067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평가 추가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9744" y="363016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593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fixture 구성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21424" y="1143000"/>
            <a:ext cx="2029968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21424" y="1143000"/>
            <a:ext cx="20299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16368" y="1307592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12864" y="2057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운영화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86016" y="26243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32904" y="258775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 구축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86016" y="31272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32904" y="309067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prompt/tool/version 비교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86016" y="363016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32904" y="3593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budget 추적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Anti-patterns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피해야 할 설계 10가지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307592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07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170432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state를 매번 LLM에 넣기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307592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07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75504" y="1170432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messages를 memory로 무한 누적하기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1883664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" y="2020824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1883664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tool을 항상 노출하기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83664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2020824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5504" y="1883664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문서를 측정 근거처럼 사용하기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" y="2596896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" y="2734056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" y="2596896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validation을 prompt에만 맡기기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596896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734056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75504" y="2596896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없이 장기 실행하기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2608" y="3310128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" y="3447288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31012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output만 저장하고 중간 경로를 잃어버리기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310128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447288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331012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trace에 secret/raw PII를 그대로 남기기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92608" y="4023360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02336" y="4160520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" y="4023360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error를 limitation에 반영하지 않기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4023360"/>
            <a:ext cx="411480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4160520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75504" y="4023360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변경 이력을 남기지 않기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전체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문서의 결론을 하나로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29968" cy="2606040"/>
          </a:xfrm>
          <a:prstGeom prst="rect">
            <a:avLst/>
          </a:prstGeom>
          <a:solidFill>
            <a:srgbClr val="1A2E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29968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207008"/>
            <a:ext cx="548640" cy="54864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무엇을 보고 판단할지 설계하는 discipline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97280"/>
            <a:ext cx="2029968" cy="2606040"/>
          </a:xfrm>
          <a:prstGeom prst="rect">
            <a:avLst/>
          </a:prstGeom>
          <a:solidFill>
            <a:srgbClr val="1A2E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97280"/>
            <a:ext cx="20299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20700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87752" y="187452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423160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context를 state/node/edge/checkpoint 단위로 통제하는 구현 구조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1097280"/>
            <a:ext cx="2029968" cy="2606040"/>
          </a:xfrm>
          <a:prstGeom prst="rect">
            <a:avLst/>
          </a:prstGeom>
          <a:solidFill>
            <a:srgbClr val="1A2E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097280"/>
            <a:ext cx="20299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20700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4024" y="187452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Telemetry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2423160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agent가 실제로 어떤 context와 도구를 사용했는지 기록하는 증거 계층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097280"/>
            <a:ext cx="2029968" cy="2606040"/>
          </a:xfrm>
          <a:prstGeom prst="rect">
            <a:avLst/>
          </a:prstGeom>
          <a:solidFill>
            <a:srgbClr val="1A2E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097280"/>
            <a:ext cx="20299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207008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0296" y="187452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2423160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trace를 기반으로 drift, evidence alignment, output contract 위반을 평가하는 검증자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8503920" cy="960120"/>
          </a:xfrm>
          <a:prstGeom prst="rect">
            <a:avLst/>
          </a:prstGeom>
          <a:solidFill>
            <a:srgbClr val="1A2E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58768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044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"운영 가능한 AI Agent는 좋은 답을 한 번 생성하는 시스템이 아니라,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 답이 나왔는지 재현·검증·개선할 수 있는 시스템이다."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77240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Judge Agent를 위한 Context Engineering &amp; Drift Telemetry</dc:title>
  <dc:subject>PptxGenJS Presentation</dc:subject>
  <dc:creator>PptxGenJS</dc:creator>
  <cp:lastModifiedBy>PptxGenJS</cp:lastModifiedBy>
  <cp:revision>1</cp:revision>
  <dcterms:created xsi:type="dcterms:W3CDTF">2026-05-15T02:29:41Z</dcterms:created>
  <dcterms:modified xsi:type="dcterms:W3CDTF">2026-05-15T02:29:41Z</dcterms:modified>
</cp:coreProperties>
</file>