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 type="wide"/>
  <p:notesSz cx="6858000" cy="9144000"/>
  <p:defaultTextStyle>
    <a:defPPr>
      <a:defRPr lang="ko-KR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sual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TECH SEMINAR DECK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Judge Agent를 위한 Context Engineering &amp; Drift Telemetry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LangGraph 기반 에이전트 설계, 실행 관측, Drift 평가까지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01/30</a:t>
            </a:r>
          </a:p>
        </p:txBody>
      </p:sp>
      <p:sp>
        <p:nvSpPr>
          <p:cNvPr id="11" name="card"/>
          <p:cNvSpPr/>
          <p:nvPr/>
        </p:nvSpPr>
        <p:spPr>
          <a:xfrm>
            <a:off x="650000" y="1250000"/>
            <a:ext cx="3300000" cy="135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650000" y="1250000"/>
            <a:ext cx="90000" cy="135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79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C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210000" y="13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Context Engineering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210000" y="1680000"/>
            <a:ext cx="2640000" cy="8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모델이 무엇을 보고 판단하는지 설계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Write / Select / Compress / Isolate</a:t>
            </a:r>
          </a:p>
        </p:txBody>
      </p:sp>
      <p:sp>
        <p:nvSpPr>
          <p:cNvPr id="16" name="card"/>
          <p:cNvSpPr/>
          <p:nvPr/>
        </p:nvSpPr>
        <p:spPr>
          <a:xfrm>
            <a:off x="4440000" y="1250000"/>
            <a:ext cx="3300000" cy="135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4440000" y="1250000"/>
            <a:ext cx="90000" cy="135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458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G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5000000" y="13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LangGraph Architecture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5000000" y="1680000"/>
            <a:ext cx="2640000" cy="8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State / Node / Edge로 context 흐름 통제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Checkpoint와 validation으로 운영 안정화</a:t>
            </a:r>
          </a:p>
        </p:txBody>
      </p:sp>
      <p:sp>
        <p:nvSpPr>
          <p:cNvPr id="21" name="card"/>
          <p:cNvSpPr/>
          <p:nvPr/>
        </p:nvSpPr>
        <p:spPr>
          <a:xfrm>
            <a:off x="8230000" y="1250000"/>
            <a:ext cx="3300000" cy="135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8230000" y="1250000"/>
            <a:ext cx="90000" cy="135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37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T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8790000" y="13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Drift Telemetry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8790000" y="1680000"/>
            <a:ext cx="2640000" cy="8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실행 경로를 trace로 남기고 Judge가 검증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Tool, RAG, MCP, LLM evidence alignment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850000" y="3450000"/>
            <a:ext cx="10500000" cy="85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050" b="1">
                <a:solidFill>
                  <a:srgbClr val="2563EB"/>
                </a:solidFill>
                <a:latin typeface="Aptos"/>
                <a:ea typeface="Malgun Gothic"/>
              </a:rPr>
              <a:t>핵심 메시지</a:t>
            </a:r>
          </a:p>
          <a:p>
            <a:pPr>
              <a:buNone/>
            </a:pPr>
            <a:r>
              <a:rPr lang="ko-KR" sz="1780" b="1">
                <a:solidFill>
                  <a:srgbClr val="111827"/>
                </a:solidFill>
                <a:latin typeface="Aptos"/>
                <a:ea typeface="Malgun Gothic"/>
              </a:rPr>
              <a:t>운영 가능한 AI Agent는 좋은 답을 한 번 생성하는 시스템이 아니라, 왜 그 답이 나왔는지 재현·검증·개선할 수 있는 시스템이다.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운영 Agent가 실패하는 지점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데모에서는 보이지 않지만 운영에서는 누적되는 문제들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02/30</a:t>
            </a:r>
          </a:p>
        </p:txBody>
      </p:sp>
      <p:sp>
        <p:nvSpPr>
          <p:cNvPr id="11" name="card"/>
          <p:cNvSpPr/>
          <p:nvPr/>
        </p:nvSpPr>
        <p:spPr>
          <a:xfrm>
            <a:off x="700000" y="1200000"/>
            <a:ext cx="3400000" cy="118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700000" y="1200000"/>
            <a:ext cx="90000" cy="118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840000" y="13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목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260000" y="1325000"/>
            <a:ext cx="27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Goal Drift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260000" y="1630000"/>
            <a:ext cx="2740000" cy="6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원래 요청과 다른 목표를 추구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관측 필요: 목표 관련 trace</a:t>
            </a:r>
          </a:p>
        </p:txBody>
      </p:sp>
      <p:sp>
        <p:nvSpPr>
          <p:cNvPr id="16" name="card"/>
          <p:cNvSpPr/>
          <p:nvPr/>
        </p:nvSpPr>
        <p:spPr>
          <a:xfrm>
            <a:off x="4450000" y="1200000"/>
            <a:ext cx="3400000" cy="118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4450000" y="1200000"/>
            <a:ext cx="90000" cy="118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4590000" y="13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도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5010000" y="1325000"/>
            <a:ext cx="27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Tool Drift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5010000" y="1630000"/>
            <a:ext cx="2740000" cy="6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잘못된 tool 선택/반복 호출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관측 필요: 도구 관련 trace</a:t>
            </a:r>
          </a:p>
        </p:txBody>
      </p:sp>
      <p:sp>
        <p:nvSpPr>
          <p:cNvPr id="21" name="card"/>
          <p:cNvSpPr/>
          <p:nvPr/>
        </p:nvSpPr>
        <p:spPr>
          <a:xfrm>
            <a:off x="8200000" y="1200000"/>
            <a:ext cx="3400000" cy="118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8200000" y="1200000"/>
            <a:ext cx="90000" cy="118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340000" y="13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지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8760000" y="1325000"/>
            <a:ext cx="27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RAG Drift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8760000" y="1630000"/>
            <a:ext cx="2740000" cy="6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문서 오해·출처 누락·과잉 일반화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관측 필요: 지식 관련 trace</a:t>
            </a:r>
          </a:p>
        </p:txBody>
      </p:sp>
      <p:sp>
        <p:nvSpPr>
          <p:cNvPr id="26" name="card"/>
          <p:cNvSpPr/>
          <p:nvPr/>
        </p:nvSpPr>
        <p:spPr>
          <a:xfrm>
            <a:off x="700000" y="2660000"/>
            <a:ext cx="3400000" cy="118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7" name="accent"/>
          <p:cNvSpPr/>
          <p:nvPr/>
        </p:nvSpPr>
        <p:spPr>
          <a:xfrm>
            <a:off x="700000" y="2660000"/>
            <a:ext cx="90000" cy="118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840000" y="279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근</a:t>
            </a:r>
          </a:p>
        </p:txBody>
      </p:sp>
      <p:sp>
        <p:nvSpPr>
          <p:cNvPr id="29" name="card title"/>
          <p:cNvSpPr txBox="1"/>
          <p:nvPr/>
        </p:nvSpPr>
        <p:spPr>
          <a:xfrm>
            <a:off x="1260000" y="2785000"/>
            <a:ext cx="27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Evidence Drift</a:t>
            </a:r>
          </a:p>
        </p:txBody>
      </p:sp>
      <p:sp>
        <p:nvSpPr>
          <p:cNvPr id="30" name="card body"/>
          <p:cNvSpPr txBox="1"/>
          <p:nvPr/>
        </p:nvSpPr>
        <p:spPr>
          <a:xfrm>
            <a:off x="1260000" y="3090000"/>
            <a:ext cx="2740000" cy="6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측정값 없이 수치/원인 주장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관측 필요: 근거 관련 trace</a:t>
            </a:r>
          </a:p>
        </p:txBody>
      </p:sp>
      <p:sp>
        <p:nvSpPr>
          <p:cNvPr id="31" name="card"/>
          <p:cNvSpPr/>
          <p:nvPr/>
        </p:nvSpPr>
        <p:spPr>
          <a:xfrm>
            <a:off x="4450000" y="2660000"/>
            <a:ext cx="3400000" cy="1180000"/>
          </a:xfrm>
          <a:prstGeom prst="roundRect"/>
          <a:solidFill>
            <a:srgbClr val="FFFBEB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2" name="accent"/>
          <p:cNvSpPr/>
          <p:nvPr/>
        </p:nvSpPr>
        <p:spPr>
          <a:xfrm>
            <a:off x="4450000" y="2660000"/>
            <a:ext cx="90000" cy="118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4590000" y="279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97706"/>
                </a:solidFill>
                <a:latin typeface="Aptos"/>
                <a:ea typeface="Malgun Gothic"/>
              </a:rPr>
              <a:t>상</a:t>
            </a:r>
          </a:p>
        </p:txBody>
      </p:sp>
      <p:sp>
        <p:nvSpPr>
          <p:cNvPr id="34" name="card title"/>
          <p:cNvSpPr txBox="1"/>
          <p:nvPr/>
        </p:nvSpPr>
        <p:spPr>
          <a:xfrm>
            <a:off x="5010000" y="2785000"/>
            <a:ext cx="27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Context Bloat</a:t>
            </a:r>
          </a:p>
        </p:txBody>
      </p:sp>
      <p:sp>
        <p:nvSpPr>
          <p:cNvPr id="35" name="card body"/>
          <p:cNvSpPr txBox="1"/>
          <p:nvPr/>
        </p:nvSpPr>
        <p:spPr>
          <a:xfrm>
            <a:off x="5010000" y="3090000"/>
            <a:ext cx="2740000" cy="6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raw log·대화·observation 과다 누적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관측 필요: 상태 관련 trace</a:t>
            </a:r>
          </a:p>
        </p:txBody>
      </p:sp>
      <p:sp>
        <p:nvSpPr>
          <p:cNvPr id="36" name="card"/>
          <p:cNvSpPr/>
          <p:nvPr/>
        </p:nvSpPr>
        <p:spPr>
          <a:xfrm>
            <a:off x="8200000" y="2660000"/>
            <a:ext cx="3400000" cy="1180000"/>
          </a:xfrm>
          <a:prstGeom prst="roundRect"/>
          <a:solidFill>
            <a:srgbClr val="ECFE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7" name="accent"/>
          <p:cNvSpPr/>
          <p:nvPr/>
        </p:nvSpPr>
        <p:spPr>
          <a:xfrm>
            <a:off x="8200000" y="2660000"/>
            <a:ext cx="90000" cy="1180000"/>
          </a:xfrm>
          <a:prstGeom prst="rect"/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ext"/>
          <p:cNvSpPr txBox="1"/>
          <p:nvPr/>
        </p:nvSpPr>
        <p:spPr>
          <a:xfrm>
            <a:off x="8340000" y="279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891B2"/>
                </a:solidFill>
                <a:latin typeface="Aptos"/>
                <a:ea typeface="Malgun Gothic"/>
              </a:rPr>
              <a:t>전</a:t>
            </a:r>
          </a:p>
        </p:txBody>
      </p:sp>
      <p:sp>
        <p:nvSpPr>
          <p:cNvPr id="39" name="card title"/>
          <p:cNvSpPr txBox="1"/>
          <p:nvPr/>
        </p:nvSpPr>
        <p:spPr>
          <a:xfrm>
            <a:off x="8760000" y="2785000"/>
            <a:ext cx="27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Handoff Drift</a:t>
            </a:r>
          </a:p>
        </p:txBody>
      </p:sp>
      <p:sp>
        <p:nvSpPr>
          <p:cNvPr id="40" name="card body"/>
          <p:cNvSpPr txBox="1"/>
          <p:nvPr/>
        </p:nvSpPr>
        <p:spPr>
          <a:xfrm>
            <a:off x="8760000" y="3090000"/>
            <a:ext cx="2740000" cy="6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node/subagent 간 의미 변형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관측 필요: 전달 관련 trace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세 문서가 만드는 하나의 운영 루프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설계 문서, 구현 문서, 관측 문서를 하나의 시스템으로 연결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03/30</a:t>
            </a:r>
          </a:p>
        </p:txBody>
      </p:sp>
      <p:sp>
        <p:nvSpPr>
          <p:cNvPr id="11" name="card"/>
          <p:cNvSpPr/>
          <p:nvPr/>
        </p:nvSpPr>
        <p:spPr>
          <a:xfrm>
            <a:off x="850000" y="1500000"/>
            <a:ext cx="3000000" cy="22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50000" y="1500000"/>
            <a:ext cx="90000" cy="22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90000" y="16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1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410000" y="1625000"/>
            <a:ext cx="2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1. Context Engineering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410000" y="1930000"/>
            <a:ext cx="2340000" cy="16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컨텍스트 구성요소 정의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선택/압축/격리 정책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실패 모드와 대응</a:t>
            </a:r>
          </a:p>
        </p:txBody>
      </p:sp>
      <p:sp>
        <p:nvSpPr>
          <p:cNvPr id="16" name="line"/>
          <p:cNvSpPr/>
          <p:nvPr/>
        </p:nvSpPr>
        <p:spPr>
          <a:xfrm>
            <a:off x="3850000" y="2600000"/>
            <a:ext cx="470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arrowhead"/>
          <p:cNvSpPr txBox="1"/>
          <p:nvPr/>
        </p:nvSpPr>
        <p:spPr>
          <a:xfrm>
            <a:off x="4330000" y="25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18" name="card"/>
          <p:cNvSpPr/>
          <p:nvPr/>
        </p:nvSpPr>
        <p:spPr>
          <a:xfrm>
            <a:off x="4550000" y="1500000"/>
            <a:ext cx="3000000" cy="22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9" name="accent"/>
          <p:cNvSpPr/>
          <p:nvPr/>
        </p:nvSpPr>
        <p:spPr>
          <a:xfrm>
            <a:off x="4550000" y="1500000"/>
            <a:ext cx="90000" cy="22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ext"/>
          <p:cNvSpPr txBox="1"/>
          <p:nvPr/>
        </p:nvSpPr>
        <p:spPr>
          <a:xfrm>
            <a:off x="4690000" y="16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2</a:t>
            </a:r>
          </a:p>
        </p:txBody>
      </p:sp>
      <p:sp>
        <p:nvSpPr>
          <p:cNvPr id="21" name="card title"/>
          <p:cNvSpPr txBox="1"/>
          <p:nvPr/>
        </p:nvSpPr>
        <p:spPr>
          <a:xfrm>
            <a:off x="5110000" y="1625000"/>
            <a:ext cx="2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2. LangGraph 설계</a:t>
            </a:r>
          </a:p>
        </p:txBody>
      </p:sp>
      <p:sp>
        <p:nvSpPr>
          <p:cNvPr id="22" name="card body"/>
          <p:cNvSpPr txBox="1"/>
          <p:nvPr/>
        </p:nvSpPr>
        <p:spPr>
          <a:xfrm>
            <a:off x="5110000" y="1930000"/>
            <a:ext cx="2340000" cy="16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State / Node / Edge 구조화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Tool / RAG / Memory 분리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Validation / Checkpoint 도입</a:t>
            </a:r>
          </a:p>
        </p:txBody>
      </p:sp>
      <p:sp>
        <p:nvSpPr>
          <p:cNvPr id="23" name="line"/>
          <p:cNvSpPr/>
          <p:nvPr/>
        </p:nvSpPr>
        <p:spPr>
          <a:xfrm>
            <a:off x="7550000" y="2600000"/>
            <a:ext cx="470000" cy="3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arrowhead"/>
          <p:cNvSpPr txBox="1"/>
          <p:nvPr/>
        </p:nvSpPr>
        <p:spPr>
          <a:xfrm>
            <a:off x="8030000" y="25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5" name="card"/>
          <p:cNvSpPr/>
          <p:nvPr/>
        </p:nvSpPr>
        <p:spPr>
          <a:xfrm>
            <a:off x="8250000" y="1500000"/>
            <a:ext cx="3000000" cy="22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6" name="accent"/>
          <p:cNvSpPr/>
          <p:nvPr/>
        </p:nvSpPr>
        <p:spPr>
          <a:xfrm>
            <a:off x="8250000" y="1500000"/>
            <a:ext cx="90000" cy="22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8390000" y="16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3</a:t>
            </a:r>
          </a:p>
        </p:txBody>
      </p:sp>
      <p:sp>
        <p:nvSpPr>
          <p:cNvPr id="28" name="card title"/>
          <p:cNvSpPr txBox="1"/>
          <p:nvPr/>
        </p:nvSpPr>
        <p:spPr>
          <a:xfrm>
            <a:off x="8810000" y="1625000"/>
            <a:ext cx="2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3. Drift Telemetry</a:t>
            </a:r>
          </a:p>
        </p:txBody>
      </p:sp>
      <p:sp>
        <p:nvSpPr>
          <p:cNvPr id="29" name="card body"/>
          <p:cNvSpPr txBox="1"/>
          <p:nvPr/>
        </p:nvSpPr>
        <p:spPr>
          <a:xfrm>
            <a:off x="8810000" y="1930000"/>
            <a:ext cx="2340000" cy="16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TraceLogger 단일 sink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LLM/Tool/RAG/MCP 이벤트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Judge Agent 평가 입력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1050000" y="4600000"/>
            <a:ext cx="10000000" cy="72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050" b="1">
                <a:solidFill>
                  <a:srgbClr val="111827"/>
                </a:solidFill>
                <a:latin typeface="Aptos"/>
                <a:ea typeface="Malgun Gothic"/>
              </a:rPr>
              <a:t>결론</a:t>
            </a:r>
          </a:p>
          <a:p>
            <a:pPr>
              <a:buNone/>
            </a:pPr>
            <a:r>
              <a:rPr lang="ko-KR" sz="1500" b="1">
                <a:solidFill>
                  <a:srgbClr val="111827"/>
                </a:solidFill>
                <a:latin typeface="Aptos"/>
                <a:ea typeface="Malgun Gothic"/>
              </a:rPr>
              <a:t>Agent 실행은 “프롬프트 → 답변”이 아니라 “Context 설계 → Graph 실행 → Telemetry 기록 → Judge 평가 → 개선”의 폐루프다.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Context는 하나가 아니라 계층이다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LLM이 보는 정보와 시스템이 보관하는 정보를 분리해서 설계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04/30</a:t>
            </a:r>
          </a:p>
        </p:txBody>
      </p:sp>
      <p:sp>
        <p:nvSpPr>
          <p:cNvPr id="11" name="rect"/>
          <p:cNvSpPr/>
          <p:nvPr/>
        </p:nvSpPr>
        <p:spPr>
          <a:xfrm>
            <a:off x="1100000" y="1120000"/>
            <a:ext cx="10100000" cy="570000"/>
          </a:xfrm>
          <a:prstGeom prst="roundRect"/>
          <a:solidFill>
            <a:srgbClr val="EFF6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1280000" y="1235000"/>
            <a:ext cx="3000000" cy="2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Instruction Context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500000" y="1255000"/>
            <a:ext cx="65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역할, 정책, 금지사항, output contract</a:t>
            </a:r>
          </a:p>
        </p:txBody>
      </p:sp>
      <p:sp>
        <p:nvSpPr>
          <p:cNvPr id="14" name="rect"/>
          <p:cNvSpPr/>
          <p:nvPr/>
        </p:nvSpPr>
        <p:spPr>
          <a:xfrm>
            <a:off x="1100000" y="1800000"/>
            <a:ext cx="10100000" cy="570000"/>
          </a:xfrm>
          <a:prstGeom prst="roundRect"/>
          <a:solidFill>
            <a:srgbClr val="ECFDF5"/>
          </a:solidFill>
          <a:ln w="7620">
            <a:solidFill>
              <a:srgbClr val="0F766E"/>
            </a:solidFill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1280000" y="1915000"/>
            <a:ext cx="3000000" cy="2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00" b="1">
                <a:solidFill>
                  <a:srgbClr val="0F766E"/>
                </a:solidFill>
                <a:latin typeface="Aptos"/>
                <a:ea typeface="Malgun Gothic"/>
              </a:rPr>
              <a:t>Task Context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4500000" y="1935000"/>
            <a:ext cx="65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현재 사용자 요청, 목표, 제약, 성공 기준</a:t>
            </a:r>
          </a:p>
        </p:txBody>
      </p:sp>
      <p:sp>
        <p:nvSpPr>
          <p:cNvPr id="17" name="rect"/>
          <p:cNvSpPr/>
          <p:nvPr/>
        </p:nvSpPr>
        <p:spPr>
          <a:xfrm>
            <a:off x="1100000" y="2480000"/>
            <a:ext cx="10100000" cy="570000"/>
          </a:xfrm>
          <a:prstGeom prst="roundRect"/>
          <a:solidFill>
            <a:srgbClr val="F5F3FF"/>
          </a:solidFill>
          <a:ln w="762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1280000" y="2595000"/>
            <a:ext cx="3000000" cy="2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00" b="1">
                <a:solidFill>
                  <a:srgbClr val="7C3AED"/>
                </a:solidFill>
                <a:latin typeface="Aptos"/>
                <a:ea typeface="Malgun Gothic"/>
              </a:rPr>
              <a:t>Knowledge Context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4500000" y="2615000"/>
            <a:ext cx="65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RAG 문서, 코드, 정책, runbook</a:t>
            </a:r>
          </a:p>
        </p:txBody>
      </p:sp>
      <p:sp>
        <p:nvSpPr>
          <p:cNvPr id="20" name="rect"/>
          <p:cNvSpPr/>
          <p:nvPr/>
        </p:nvSpPr>
        <p:spPr>
          <a:xfrm>
            <a:off x="1100000" y="3160000"/>
            <a:ext cx="10100000" cy="570000"/>
          </a:xfrm>
          <a:prstGeom prst="roundRect"/>
          <a:solidFill>
            <a:srgbClr val="FFFBEB"/>
          </a:solidFill>
          <a:ln w="7620">
            <a:solidFill>
              <a:srgbClr val="D97706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1280000" y="3275000"/>
            <a:ext cx="3000000" cy="2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00" b="1">
                <a:solidFill>
                  <a:srgbClr val="D97706"/>
                </a:solidFill>
                <a:latin typeface="Aptos"/>
                <a:ea typeface="Malgun Gothic"/>
              </a:rPr>
              <a:t>Memory Context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500000" y="3295000"/>
            <a:ext cx="65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사용자 선호, 과거 결정, 절차</a:t>
            </a:r>
          </a:p>
        </p:txBody>
      </p:sp>
      <p:sp>
        <p:nvSpPr>
          <p:cNvPr id="23" name="rect"/>
          <p:cNvSpPr/>
          <p:nvPr/>
        </p:nvSpPr>
        <p:spPr>
          <a:xfrm>
            <a:off x="1100000" y="3840000"/>
            <a:ext cx="10100000" cy="570000"/>
          </a:xfrm>
          <a:prstGeom prst="roundRect"/>
          <a:solidFill>
            <a:srgbClr val="ECFEFF"/>
          </a:solidFill>
          <a:ln w="762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1280000" y="3955000"/>
            <a:ext cx="3000000" cy="2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00" b="1">
                <a:solidFill>
                  <a:srgbClr val="0891B2"/>
                </a:solidFill>
                <a:latin typeface="Aptos"/>
                <a:ea typeface="Malgun Gothic"/>
              </a:rPr>
              <a:t>Tool Observation Context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4500000" y="3975000"/>
            <a:ext cx="65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도구 호출 결과, MCP 응답, 로그 분석 결과</a:t>
            </a:r>
          </a:p>
        </p:txBody>
      </p:sp>
      <p:sp>
        <p:nvSpPr>
          <p:cNvPr id="26" name="rect"/>
          <p:cNvSpPr/>
          <p:nvPr/>
        </p:nvSpPr>
        <p:spPr>
          <a:xfrm>
            <a:off x="1100000" y="4520000"/>
            <a:ext cx="10100000" cy="570000"/>
          </a:xfrm>
          <a:prstGeom prst="roundRect"/>
          <a:solidFill>
            <a:srgbClr val="FEF2F2"/>
          </a:solidFill>
          <a:ln w="762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1280000" y="4635000"/>
            <a:ext cx="3000000" cy="2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00" b="1">
                <a:solidFill>
                  <a:srgbClr val="DC2626"/>
                </a:solidFill>
                <a:latin typeface="Aptos"/>
                <a:ea typeface="Malgun Gothic"/>
              </a:rPr>
              <a:t>State &amp; Validation Context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500000" y="4655000"/>
            <a:ext cx="65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graph state, evidence, errors, validation gate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80000" y="5750000"/>
            <a:ext cx="10500000" cy="42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설계 원칙 · LLM에게 모든 계층을 항상 보여주는 것이 아니라, 현재 Node와 목표에 필요한 계층만 projection한다.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Context Inventory: 무엇을 보여줄 수 있는가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Context Engineering은 정보 자산 목록화에서 시작한다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05/30</a:t>
            </a:r>
          </a:p>
        </p:txBody>
      </p:sp>
      <p:sp>
        <p:nvSpPr>
          <p:cNvPr id="11" name="card"/>
          <p:cNvSpPr/>
          <p:nvPr/>
        </p:nvSpPr>
        <p:spPr>
          <a:xfrm>
            <a:off x="850000" y="1250000"/>
            <a:ext cx="3300000" cy="125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50000" y="1250000"/>
            <a:ext cx="90000" cy="125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9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I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410000" y="13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Instruction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410000" y="1680000"/>
            <a:ext cx="2640000" cy="7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role · policy · output contract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Always / Relevant / Never로 분류</a:t>
            </a:r>
          </a:p>
        </p:txBody>
      </p:sp>
      <p:sp>
        <p:nvSpPr>
          <p:cNvPr id="16" name="card"/>
          <p:cNvSpPr/>
          <p:nvPr/>
        </p:nvSpPr>
        <p:spPr>
          <a:xfrm>
            <a:off x="4500000" y="1250000"/>
            <a:ext cx="3300000" cy="125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4500000" y="1250000"/>
            <a:ext cx="90000" cy="125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464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T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5060000" y="13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Task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5060000" y="1680000"/>
            <a:ext cx="2640000" cy="7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goal · constraints · success criteria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Always / Relevant / Never로 분류</a:t>
            </a:r>
          </a:p>
        </p:txBody>
      </p:sp>
      <p:sp>
        <p:nvSpPr>
          <p:cNvPr id="21" name="card"/>
          <p:cNvSpPr/>
          <p:nvPr/>
        </p:nvSpPr>
        <p:spPr>
          <a:xfrm>
            <a:off x="8150000" y="1250000"/>
            <a:ext cx="3300000" cy="125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8150000" y="1250000"/>
            <a:ext cx="90000" cy="125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29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K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8710000" y="13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Knowledge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8710000" y="1680000"/>
            <a:ext cx="2640000" cy="7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docs · code · runbook · web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Always / Relevant / Never로 분류</a:t>
            </a:r>
          </a:p>
        </p:txBody>
      </p:sp>
      <p:sp>
        <p:nvSpPr>
          <p:cNvPr id="26" name="card"/>
          <p:cNvSpPr/>
          <p:nvPr/>
        </p:nvSpPr>
        <p:spPr>
          <a:xfrm>
            <a:off x="850000" y="2780000"/>
            <a:ext cx="3300000" cy="1250000"/>
          </a:xfrm>
          <a:prstGeom prst="roundRect"/>
          <a:solidFill>
            <a:srgbClr val="FFFBEB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7" name="accent"/>
          <p:cNvSpPr/>
          <p:nvPr/>
        </p:nvSpPr>
        <p:spPr>
          <a:xfrm>
            <a:off x="850000" y="2780000"/>
            <a:ext cx="90000" cy="125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990000" y="291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97706"/>
                </a:solidFill>
                <a:latin typeface="Aptos"/>
                <a:ea typeface="Malgun Gothic"/>
              </a:rPr>
              <a:t>M</a:t>
            </a:r>
          </a:p>
        </p:txBody>
      </p:sp>
      <p:sp>
        <p:nvSpPr>
          <p:cNvPr id="29" name="card title"/>
          <p:cNvSpPr txBox="1"/>
          <p:nvPr/>
        </p:nvSpPr>
        <p:spPr>
          <a:xfrm>
            <a:off x="1410000" y="290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Memory</a:t>
            </a:r>
          </a:p>
        </p:txBody>
      </p:sp>
      <p:sp>
        <p:nvSpPr>
          <p:cNvPr id="30" name="card body"/>
          <p:cNvSpPr txBox="1"/>
          <p:nvPr/>
        </p:nvSpPr>
        <p:spPr>
          <a:xfrm>
            <a:off x="1410000" y="3210000"/>
            <a:ext cx="2640000" cy="7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preferences · decisions · procedures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Always / Relevant / Never로 분류</a:t>
            </a:r>
          </a:p>
        </p:txBody>
      </p:sp>
      <p:sp>
        <p:nvSpPr>
          <p:cNvPr id="31" name="card"/>
          <p:cNvSpPr/>
          <p:nvPr/>
        </p:nvSpPr>
        <p:spPr>
          <a:xfrm>
            <a:off x="4500000" y="2780000"/>
            <a:ext cx="3300000" cy="1250000"/>
          </a:xfrm>
          <a:prstGeom prst="roundRect"/>
          <a:solidFill>
            <a:srgbClr val="ECFE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2" name="accent"/>
          <p:cNvSpPr/>
          <p:nvPr/>
        </p:nvSpPr>
        <p:spPr>
          <a:xfrm>
            <a:off x="4500000" y="2780000"/>
            <a:ext cx="90000" cy="1250000"/>
          </a:xfrm>
          <a:prstGeom prst="rect"/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4640000" y="291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891B2"/>
                </a:solidFill>
                <a:latin typeface="Aptos"/>
                <a:ea typeface="Malgun Gothic"/>
              </a:rPr>
              <a:t>T</a:t>
            </a:r>
          </a:p>
        </p:txBody>
      </p:sp>
      <p:sp>
        <p:nvSpPr>
          <p:cNvPr id="34" name="card title"/>
          <p:cNvSpPr txBox="1"/>
          <p:nvPr/>
        </p:nvSpPr>
        <p:spPr>
          <a:xfrm>
            <a:off x="5060000" y="290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Tools</a:t>
            </a:r>
          </a:p>
        </p:txBody>
      </p:sp>
      <p:sp>
        <p:nvSpPr>
          <p:cNvPr id="35" name="card body"/>
          <p:cNvSpPr txBox="1"/>
          <p:nvPr/>
        </p:nvSpPr>
        <p:spPr>
          <a:xfrm>
            <a:off x="5060000" y="3210000"/>
            <a:ext cx="2640000" cy="7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tool names · schema · permissions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Always / Relevant / Never로 분류</a:t>
            </a:r>
          </a:p>
        </p:txBody>
      </p:sp>
      <p:sp>
        <p:nvSpPr>
          <p:cNvPr id="36" name="card"/>
          <p:cNvSpPr/>
          <p:nvPr/>
        </p:nvSpPr>
        <p:spPr>
          <a:xfrm>
            <a:off x="8150000" y="2780000"/>
            <a:ext cx="3300000" cy="125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7" name="accent"/>
          <p:cNvSpPr/>
          <p:nvPr/>
        </p:nvSpPr>
        <p:spPr>
          <a:xfrm>
            <a:off x="8150000" y="2780000"/>
            <a:ext cx="90000" cy="125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ext"/>
          <p:cNvSpPr txBox="1"/>
          <p:nvPr/>
        </p:nvSpPr>
        <p:spPr>
          <a:xfrm>
            <a:off x="8290000" y="291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S</a:t>
            </a:r>
          </a:p>
        </p:txBody>
      </p:sp>
      <p:sp>
        <p:nvSpPr>
          <p:cNvPr id="39" name="card title"/>
          <p:cNvSpPr txBox="1"/>
          <p:nvPr/>
        </p:nvSpPr>
        <p:spPr>
          <a:xfrm>
            <a:off x="8710000" y="290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State</a:t>
            </a:r>
          </a:p>
        </p:txBody>
      </p:sp>
      <p:sp>
        <p:nvSpPr>
          <p:cNvPr id="40" name="card body"/>
          <p:cNvSpPr txBox="1"/>
          <p:nvPr/>
        </p:nvSpPr>
        <p:spPr>
          <a:xfrm>
            <a:off x="8710000" y="3210000"/>
            <a:ext cx="2640000" cy="7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progress · evidence · errors · validation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Always / Relevant / Never로 분류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950000" y="4550000"/>
            <a:ext cx="10000000" cy="72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350" b="1">
                <a:solidFill>
                  <a:srgbClr val="111827"/>
                </a:solidFill>
                <a:latin typeface="Aptos"/>
                <a:ea typeface="Malgun Gothic"/>
              </a:rPr>
              <a:t>핵심 · 컨텍스트를 prompt에 넣기 전에 먼저 inventory, 권한, 최신성, 신뢰도, token budget을 정의해야 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Context Packing: 넣는 순서도 설계다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중요한 지시와 근거가 노이즈 사이에 묻히지 않게 배치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06/30</a:t>
            </a:r>
          </a:p>
        </p:txBody>
      </p:sp>
      <p:sp>
        <p:nvSpPr>
          <p:cNvPr id="11" name="rect"/>
          <p:cNvSpPr/>
          <p:nvPr/>
        </p:nvSpPr>
        <p:spPr>
          <a:xfrm>
            <a:off x="1150000" y="1050000"/>
            <a:ext cx="9800000" cy="440000"/>
          </a:xfrm>
          <a:prstGeom prst="roundRect"/>
          <a:solidFill>
            <a:srgbClr val="EFF6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1330000" y="1165000"/>
            <a:ext cx="30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2563EB"/>
                </a:solidFill>
                <a:latin typeface="Aptos"/>
                <a:ea typeface="Malgun Gothic"/>
              </a:rPr>
              <a:t>1 Core Instruction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750000" y="1170000"/>
            <a:ext cx="5700000" cy="1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고정 역할/금지사항</a:t>
            </a:r>
          </a:p>
        </p:txBody>
      </p:sp>
      <p:sp>
        <p:nvSpPr>
          <p:cNvPr id="14" name="rect"/>
          <p:cNvSpPr/>
          <p:nvPr/>
        </p:nvSpPr>
        <p:spPr>
          <a:xfrm>
            <a:off x="1150000" y="1575000"/>
            <a:ext cx="9800000" cy="440000"/>
          </a:xfrm>
          <a:prstGeom prst="roundRect"/>
          <a:solidFill>
            <a:srgbClr val="FEF2F2"/>
          </a:solidFill>
          <a:ln w="762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1330000" y="1690000"/>
            <a:ext cx="30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DC2626"/>
                </a:solidFill>
                <a:latin typeface="Aptos"/>
                <a:ea typeface="Malgun Gothic"/>
              </a:rPr>
              <a:t>2 Safety / Priority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4750000" y="1695000"/>
            <a:ext cx="5700000" cy="1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충돌 시 우선순위</a:t>
            </a:r>
          </a:p>
        </p:txBody>
      </p:sp>
      <p:sp>
        <p:nvSpPr>
          <p:cNvPr id="17" name="rect"/>
          <p:cNvSpPr/>
          <p:nvPr/>
        </p:nvSpPr>
        <p:spPr>
          <a:xfrm>
            <a:off x="1150000" y="2100000"/>
            <a:ext cx="9800000" cy="440000"/>
          </a:xfrm>
          <a:prstGeom prst="roundRect"/>
          <a:solidFill>
            <a:srgbClr val="ECFDF5"/>
          </a:solidFill>
          <a:ln w="7620">
            <a:solidFill>
              <a:srgbClr val="0F766E"/>
            </a:solidFill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1330000" y="2215000"/>
            <a:ext cx="30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0F766E"/>
                </a:solidFill>
                <a:latin typeface="Aptos"/>
                <a:ea typeface="Malgun Gothic"/>
              </a:rPr>
              <a:t>3 Task Objective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4750000" y="2220000"/>
            <a:ext cx="5700000" cy="1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현재 목표/완료 기준</a:t>
            </a:r>
          </a:p>
        </p:txBody>
      </p:sp>
      <p:sp>
        <p:nvSpPr>
          <p:cNvPr id="20" name="rect"/>
          <p:cNvSpPr/>
          <p:nvPr/>
        </p:nvSpPr>
        <p:spPr>
          <a:xfrm>
            <a:off x="1150000" y="2625000"/>
            <a:ext cx="9800000" cy="440000"/>
          </a:xfrm>
          <a:prstGeom prst="roundRect"/>
          <a:solidFill>
            <a:srgbClr val="F5F3FF"/>
          </a:solidFill>
          <a:ln w="762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1330000" y="2740000"/>
            <a:ext cx="30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7C3AED"/>
                </a:solidFill>
                <a:latin typeface="Aptos"/>
                <a:ea typeface="Malgun Gothic"/>
              </a:rPr>
              <a:t>4 Output Schema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750000" y="2745000"/>
            <a:ext cx="5700000" cy="1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JSON/Markdown contract</a:t>
            </a:r>
          </a:p>
        </p:txBody>
      </p:sp>
      <p:sp>
        <p:nvSpPr>
          <p:cNvPr id="23" name="rect"/>
          <p:cNvSpPr/>
          <p:nvPr/>
        </p:nvSpPr>
        <p:spPr>
          <a:xfrm>
            <a:off x="1150000" y="3150000"/>
            <a:ext cx="9800000" cy="440000"/>
          </a:xfrm>
          <a:prstGeom prst="roundRect"/>
          <a:solidFill>
            <a:srgbClr val="ECFEFF"/>
          </a:solidFill>
          <a:ln w="762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1330000" y="3265000"/>
            <a:ext cx="30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0891B2"/>
                </a:solidFill>
                <a:latin typeface="Aptos"/>
                <a:ea typeface="Malgun Gothic"/>
              </a:rPr>
              <a:t>5 Relevant State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4750000" y="3270000"/>
            <a:ext cx="5700000" cy="1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node별 projection</a:t>
            </a:r>
          </a:p>
        </p:txBody>
      </p:sp>
      <p:sp>
        <p:nvSpPr>
          <p:cNvPr id="26" name="rect"/>
          <p:cNvSpPr/>
          <p:nvPr/>
        </p:nvSpPr>
        <p:spPr>
          <a:xfrm>
            <a:off x="1150000" y="3675000"/>
            <a:ext cx="9800000" cy="440000"/>
          </a:xfrm>
          <a:prstGeom prst="roundRect"/>
          <a:solidFill>
            <a:srgbClr val="FFFBEB"/>
          </a:solidFill>
          <a:ln w="7620">
            <a:solidFill>
              <a:srgbClr val="D97706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1330000" y="3790000"/>
            <a:ext cx="30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D97706"/>
                </a:solidFill>
                <a:latin typeface="Aptos"/>
                <a:ea typeface="Malgun Gothic"/>
              </a:rPr>
              <a:t>6 Selected Memory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750000" y="3795000"/>
            <a:ext cx="5700000" cy="1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관련 기억만</a:t>
            </a:r>
          </a:p>
        </p:txBody>
      </p:sp>
      <p:sp>
        <p:nvSpPr>
          <p:cNvPr id="29" name="rect"/>
          <p:cNvSpPr/>
          <p:nvPr/>
        </p:nvSpPr>
        <p:spPr>
          <a:xfrm>
            <a:off x="1150000" y="4200000"/>
            <a:ext cx="9800000" cy="440000"/>
          </a:xfrm>
          <a:prstGeom prst="roundRect"/>
          <a:solidFill>
            <a:srgbClr val="F0FDF4"/>
          </a:solidFill>
          <a:ln w="762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0" name="text"/>
          <p:cNvSpPr txBox="1"/>
          <p:nvPr/>
        </p:nvSpPr>
        <p:spPr>
          <a:xfrm>
            <a:off x="1330000" y="4315000"/>
            <a:ext cx="30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16A34A"/>
                </a:solidFill>
                <a:latin typeface="Aptos"/>
                <a:ea typeface="Malgun Gothic"/>
              </a:rPr>
              <a:t>7 Retrieved Knowledge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4750000" y="4320000"/>
            <a:ext cx="5700000" cy="1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source id 포함</a:t>
            </a:r>
          </a:p>
        </p:txBody>
      </p:sp>
      <p:sp>
        <p:nvSpPr>
          <p:cNvPr id="32" name="rect"/>
          <p:cNvSpPr/>
          <p:nvPr/>
        </p:nvSpPr>
        <p:spPr>
          <a:xfrm>
            <a:off x="1150000" y="4725000"/>
            <a:ext cx="9800000" cy="440000"/>
          </a:xfrm>
          <a:prstGeom prst="roundRect"/>
          <a:solidFill>
            <a:srgbClr val="F3F6FA"/>
          </a:solidFill>
          <a:ln w="762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1330000" y="4840000"/>
            <a:ext cx="30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111827"/>
                </a:solidFill>
                <a:latin typeface="Aptos"/>
                <a:ea typeface="Malgun Gothic"/>
              </a:rPr>
              <a:t>8 Available Tools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4750000" y="4845000"/>
            <a:ext cx="5700000" cy="1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현재 단계 tool만</a:t>
            </a:r>
          </a:p>
        </p:txBody>
      </p:sp>
      <p:sp>
        <p:nvSpPr>
          <p:cNvPr id="35" name="rect"/>
          <p:cNvSpPr/>
          <p:nvPr/>
        </p:nvSpPr>
        <p:spPr>
          <a:xfrm>
            <a:off x="1150000" y="5250000"/>
            <a:ext cx="9800000" cy="440000"/>
          </a:xfrm>
          <a:prstGeom prst="roundRect"/>
          <a:solidFill>
            <a:srgbClr val="EFF6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36" name="text"/>
          <p:cNvSpPr txBox="1"/>
          <p:nvPr/>
        </p:nvSpPr>
        <p:spPr>
          <a:xfrm>
            <a:off x="1330000" y="5365000"/>
            <a:ext cx="30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2563EB"/>
                </a:solidFill>
                <a:latin typeface="Aptos"/>
                <a:ea typeface="Malgun Gothic"/>
              </a:rPr>
              <a:t>9 User Request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4750000" y="5370000"/>
            <a:ext cx="5700000" cy="1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원문 요청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Context Engineering의 4대 전략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Write / Select / Compress / Isolate를 Graph 구조에 매핑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07/30</a:t>
            </a:r>
          </a:p>
        </p:txBody>
      </p:sp>
      <p:sp>
        <p:nvSpPr>
          <p:cNvPr id="11" name="card"/>
          <p:cNvSpPr/>
          <p:nvPr/>
        </p:nvSpPr>
        <p:spPr>
          <a:xfrm>
            <a:off x="1500000" y="1700000"/>
            <a:ext cx="3100000" cy="14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1500000" y="1700000"/>
            <a:ext cx="90000" cy="14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1640000" y="18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W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2060000" y="1825000"/>
            <a:ext cx="24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Write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2060000" y="2130000"/>
            <a:ext cx="2440000" cy="8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외부에 기록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State, Memory, Checkpoint, Artifact</a:t>
            </a:r>
          </a:p>
        </p:txBody>
      </p:sp>
      <p:sp>
        <p:nvSpPr>
          <p:cNvPr id="16" name="card"/>
          <p:cNvSpPr/>
          <p:nvPr/>
        </p:nvSpPr>
        <p:spPr>
          <a:xfrm>
            <a:off x="7350000" y="1700000"/>
            <a:ext cx="3100000" cy="14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7350000" y="1700000"/>
            <a:ext cx="90000" cy="14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7490000" y="18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S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7910000" y="1825000"/>
            <a:ext cx="24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Select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7910000" y="2130000"/>
            <a:ext cx="2440000" cy="8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필요한 것만 선택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RAG, Tool allowlist, Memory retrieval</a:t>
            </a:r>
          </a:p>
        </p:txBody>
      </p:sp>
      <p:sp>
        <p:nvSpPr>
          <p:cNvPr id="21" name="card"/>
          <p:cNvSpPr/>
          <p:nvPr/>
        </p:nvSpPr>
        <p:spPr>
          <a:xfrm>
            <a:off x="7350000" y="4100000"/>
            <a:ext cx="3100000" cy="1400000"/>
          </a:xfrm>
          <a:prstGeom prst="roundRect"/>
          <a:solidFill>
            <a:srgbClr val="FFFBEB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7350000" y="4100000"/>
            <a:ext cx="90000" cy="140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7490000" y="42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97706"/>
                </a:solidFill>
                <a:latin typeface="Aptos"/>
                <a:ea typeface="Malgun Gothic"/>
              </a:rPr>
              <a:t>C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7910000" y="4225000"/>
            <a:ext cx="24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Compress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7910000" y="4530000"/>
            <a:ext cx="2440000" cy="8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핵심만 압축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Observation summary, error compaction</a:t>
            </a:r>
          </a:p>
        </p:txBody>
      </p:sp>
      <p:sp>
        <p:nvSpPr>
          <p:cNvPr id="26" name="card"/>
          <p:cNvSpPr/>
          <p:nvPr/>
        </p:nvSpPr>
        <p:spPr>
          <a:xfrm>
            <a:off x="1500000" y="4100000"/>
            <a:ext cx="3100000" cy="14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7" name="accent"/>
          <p:cNvSpPr/>
          <p:nvPr/>
        </p:nvSpPr>
        <p:spPr>
          <a:xfrm>
            <a:off x="1500000" y="4100000"/>
            <a:ext cx="90000" cy="14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1640000" y="42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I</a:t>
            </a:r>
          </a:p>
        </p:txBody>
      </p:sp>
      <p:sp>
        <p:nvSpPr>
          <p:cNvPr id="29" name="card title"/>
          <p:cNvSpPr txBox="1"/>
          <p:nvPr/>
        </p:nvSpPr>
        <p:spPr>
          <a:xfrm>
            <a:off x="2060000" y="4225000"/>
            <a:ext cx="24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Isolate</a:t>
            </a:r>
          </a:p>
        </p:txBody>
      </p:sp>
      <p:sp>
        <p:nvSpPr>
          <p:cNvPr id="30" name="card body"/>
          <p:cNvSpPr txBox="1"/>
          <p:nvPr/>
        </p:nvSpPr>
        <p:spPr>
          <a:xfrm>
            <a:off x="2060000" y="4530000"/>
            <a:ext cx="2440000" cy="8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역할별 격리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Subgraph, Subagent, Tool scope</a:t>
            </a:r>
          </a:p>
        </p:txBody>
      </p:sp>
      <p:sp>
        <p:nvSpPr>
          <p:cNvPr id="31" name="line"/>
          <p:cNvSpPr/>
          <p:nvPr/>
        </p:nvSpPr>
        <p:spPr>
          <a:xfrm>
            <a:off x="4600000" y="2400000"/>
            <a:ext cx="2650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arrowhead"/>
          <p:cNvSpPr txBox="1"/>
          <p:nvPr/>
        </p:nvSpPr>
        <p:spPr>
          <a:xfrm>
            <a:off x="7260000" y="23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3" name="arrowlabel"/>
          <p:cNvSpPr txBox="1"/>
          <p:nvPr/>
        </p:nvSpPr>
        <p:spPr>
          <a:xfrm>
            <a:off x="5575000" y="2160000"/>
            <a:ext cx="7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850">
                <a:solidFill>
                  <a:srgbClr val="64748B"/>
                </a:solidFill>
                <a:latin typeface="Aptos"/>
                <a:ea typeface="Malgun Gothic"/>
              </a:rPr>
              <a:t>context 후보</a:t>
            </a:r>
          </a:p>
        </p:txBody>
      </p:sp>
      <p:sp>
        <p:nvSpPr>
          <p:cNvPr id="34" name="line"/>
          <p:cNvSpPr/>
          <p:nvPr/>
        </p:nvSpPr>
        <p:spPr>
          <a:xfrm>
            <a:off x="8950000" y="3100000"/>
            <a:ext cx="30000" cy="9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arrowhead"/>
          <p:cNvSpPr txBox="1"/>
          <p:nvPr/>
        </p:nvSpPr>
        <p:spPr>
          <a:xfrm>
            <a:off x="8865000" y="40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▼</a:t>
            </a:r>
          </a:p>
        </p:txBody>
      </p:sp>
      <p:sp>
        <p:nvSpPr>
          <p:cNvPr id="36" name="arrowlabel"/>
          <p:cNvSpPr txBox="1"/>
          <p:nvPr/>
        </p:nvSpPr>
        <p:spPr>
          <a:xfrm>
            <a:off x="9020000" y="3460000"/>
            <a:ext cx="9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50">
                <a:solidFill>
                  <a:srgbClr val="64748B"/>
                </a:solidFill>
                <a:latin typeface="Aptos"/>
                <a:ea typeface="Malgun Gothic"/>
              </a:rPr>
              <a:t>선택 결과</a:t>
            </a:r>
          </a:p>
        </p:txBody>
      </p:sp>
      <p:sp>
        <p:nvSpPr>
          <p:cNvPr id="37" name="line"/>
          <p:cNvSpPr/>
          <p:nvPr/>
        </p:nvSpPr>
        <p:spPr>
          <a:xfrm>
            <a:off x="4600000" y="4800000"/>
            <a:ext cx="2650000" cy="3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arrowhead"/>
          <p:cNvSpPr txBox="1"/>
          <p:nvPr/>
        </p:nvSpPr>
        <p:spPr>
          <a:xfrm>
            <a:off x="4510000" y="47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9770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9" name="arrowlabel"/>
          <p:cNvSpPr txBox="1"/>
          <p:nvPr/>
        </p:nvSpPr>
        <p:spPr>
          <a:xfrm>
            <a:off x="5575000" y="4560000"/>
            <a:ext cx="7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850">
                <a:solidFill>
                  <a:srgbClr val="64748B"/>
                </a:solidFill>
                <a:latin typeface="Aptos"/>
                <a:ea typeface="Malgun Gothic"/>
              </a:rPr>
              <a:t>요약</a:t>
            </a:r>
          </a:p>
        </p:txBody>
      </p:sp>
      <p:sp>
        <p:nvSpPr>
          <p:cNvPr id="40" name="line"/>
          <p:cNvSpPr/>
          <p:nvPr/>
        </p:nvSpPr>
        <p:spPr>
          <a:xfrm>
            <a:off x="3100000" y="3100000"/>
            <a:ext cx="30000" cy="9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arrowhead"/>
          <p:cNvSpPr txBox="1"/>
          <p:nvPr/>
        </p:nvSpPr>
        <p:spPr>
          <a:xfrm>
            <a:off x="3015000" y="30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7C3AED"/>
                </a:solidFill>
                <a:latin typeface="Aptos"/>
                <a:ea typeface="Malgun Gothic"/>
              </a:rPr>
              <a:t>▼</a:t>
            </a:r>
          </a:p>
        </p:txBody>
      </p:sp>
      <p:sp>
        <p:nvSpPr>
          <p:cNvPr id="42" name="arrowlabel"/>
          <p:cNvSpPr txBox="1"/>
          <p:nvPr/>
        </p:nvSpPr>
        <p:spPr>
          <a:xfrm>
            <a:off x="3170000" y="3460000"/>
            <a:ext cx="90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50">
                <a:solidFill>
                  <a:srgbClr val="64748B"/>
                </a:solidFill>
                <a:latin typeface="Aptos"/>
                <a:ea typeface="Malgun Gothic"/>
              </a:rPr>
              <a:t>격리된 흐름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4550000" y="3100000"/>
            <a:ext cx="3100000" cy="72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 algn="ctr">
              <a:buNone/>
            </a:pPr>
            <a:r>
              <a:rPr lang="ko-KR" sz="1500" b="1">
                <a:solidFill>
                  <a:srgbClr val="111827"/>
                </a:solidFill>
                <a:latin typeface="Aptos"/>
                <a:ea typeface="Malgun Gothic"/>
              </a:rPr>
              <a:t>Graph State</a:t>
            </a:r>
          </a:p>
          <a:p>
            <a:pPr algn="ctr">
              <a:buNone/>
            </a:pPr>
            <a:r>
              <a:rPr lang="ko-KR" sz="950">
                <a:solidFill>
                  <a:srgbClr val="64748B"/>
                </a:solidFill>
                <a:latin typeface="Aptos"/>
                <a:ea typeface="Malgun Gothic"/>
              </a:rPr>
              <a:t>컨텍스트 후보를 구조화해 보관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Long Context가 실패하는 방식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더 많이 넣는 것이 아니라 더 정확히 넣어야 한다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08/30</a:t>
            </a:r>
          </a:p>
        </p:txBody>
      </p:sp>
      <p:sp>
        <p:nvSpPr>
          <p:cNvPr id="11" name="card"/>
          <p:cNvSpPr/>
          <p:nvPr/>
        </p:nvSpPr>
        <p:spPr>
          <a:xfrm>
            <a:off x="900000" y="1300000"/>
            <a:ext cx="5000000" cy="170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900000" y="1300000"/>
            <a:ext cx="90000" cy="170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1040000" y="14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460000" y="1425000"/>
            <a:ext cx="4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Context Poisoning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460000" y="1730000"/>
            <a:ext cx="4340000" cy="1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잘못된 정보가 state/memory에 들어가 이후 판단을 오염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source, confidence, hypothesis label</a:t>
            </a:r>
          </a:p>
        </p:txBody>
      </p:sp>
      <p:sp>
        <p:nvSpPr>
          <p:cNvPr id="16" name="card"/>
          <p:cNvSpPr/>
          <p:nvPr/>
        </p:nvSpPr>
        <p:spPr>
          <a:xfrm>
            <a:off x="6250000" y="1300000"/>
            <a:ext cx="5000000" cy="1700000"/>
          </a:xfrm>
          <a:prstGeom prst="roundRect"/>
          <a:solidFill>
            <a:srgbClr val="FFFBEB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6250000" y="1300000"/>
            <a:ext cx="90000" cy="170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6390000" y="14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97706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6810000" y="1425000"/>
            <a:ext cx="4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Context Distraction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6810000" y="1730000"/>
            <a:ext cx="4340000" cy="1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긴 과거 로그와 대화가 현재 목표를 방해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summary, stale context trimming</a:t>
            </a:r>
          </a:p>
        </p:txBody>
      </p:sp>
      <p:sp>
        <p:nvSpPr>
          <p:cNvPr id="21" name="card"/>
          <p:cNvSpPr/>
          <p:nvPr/>
        </p:nvSpPr>
        <p:spPr>
          <a:xfrm>
            <a:off x="900000" y="3350000"/>
            <a:ext cx="5000000" cy="17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900000" y="3350000"/>
            <a:ext cx="90000" cy="17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1040000" y="34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1460000" y="3475000"/>
            <a:ext cx="4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Context Confusion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1460000" y="3780000"/>
            <a:ext cx="4340000" cy="1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불필요한 도구/문서가 모델 선택을 흔듦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dynamic tool selection, rerank</a:t>
            </a:r>
          </a:p>
        </p:txBody>
      </p:sp>
      <p:sp>
        <p:nvSpPr>
          <p:cNvPr id="26" name="card"/>
          <p:cNvSpPr/>
          <p:nvPr/>
        </p:nvSpPr>
        <p:spPr>
          <a:xfrm>
            <a:off x="6250000" y="3350000"/>
            <a:ext cx="5000000" cy="17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7" name="accent"/>
          <p:cNvSpPr/>
          <p:nvPr/>
        </p:nvSpPr>
        <p:spPr>
          <a:xfrm>
            <a:off x="6250000" y="3350000"/>
            <a:ext cx="90000" cy="17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6390000" y="34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29" name="card title"/>
          <p:cNvSpPr txBox="1"/>
          <p:nvPr/>
        </p:nvSpPr>
        <p:spPr>
          <a:xfrm>
            <a:off x="6810000" y="3475000"/>
            <a:ext cx="4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Context Clash</a:t>
            </a:r>
          </a:p>
        </p:txBody>
      </p:sp>
      <p:sp>
        <p:nvSpPr>
          <p:cNvPr id="30" name="card body"/>
          <p:cNvSpPr txBox="1"/>
          <p:nvPr/>
        </p:nvSpPr>
        <p:spPr>
          <a:xfrm>
            <a:off x="6810000" y="3780000"/>
            <a:ext cx="4340000" cy="1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문서·메모리·도구 결과가 서로 충돌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priority, effective date, validation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LangGraph는 Context Flow를 명시화한다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State, Node, Edge는 각각 Context 저장소, 경계, 흐름 제어다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09/30</a:t>
            </a:r>
          </a:p>
        </p:txBody>
      </p:sp>
      <p:sp>
        <p:nvSpPr>
          <p:cNvPr id="11" name="card"/>
          <p:cNvSpPr/>
          <p:nvPr/>
        </p:nvSpPr>
        <p:spPr>
          <a:xfrm>
            <a:off x="850000" y="1700000"/>
            <a:ext cx="2600000" cy="13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50000" y="1700000"/>
            <a:ext cx="90000" cy="13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90000" y="18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I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410000" y="1825000"/>
            <a:ext cx="19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Input State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410000" y="2130000"/>
            <a:ext cx="1940000" cy="7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user_input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access_log_path</a:t>
            </a:r>
          </a:p>
        </p:txBody>
      </p:sp>
      <p:sp>
        <p:nvSpPr>
          <p:cNvPr id="16" name="card"/>
          <p:cNvSpPr/>
          <p:nvPr/>
        </p:nvSpPr>
        <p:spPr>
          <a:xfrm>
            <a:off x="4400000" y="1300000"/>
            <a:ext cx="3000000" cy="105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4400000" y="1300000"/>
            <a:ext cx="90000" cy="105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4540000" y="14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N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4960000" y="1425000"/>
            <a:ext cx="2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Node A: Parse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4960000" y="1730000"/>
            <a:ext cx="2340000" cy="5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request 추출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state update</a:t>
            </a:r>
          </a:p>
        </p:txBody>
      </p:sp>
      <p:sp>
        <p:nvSpPr>
          <p:cNvPr id="21" name="card"/>
          <p:cNvSpPr/>
          <p:nvPr/>
        </p:nvSpPr>
        <p:spPr>
          <a:xfrm>
            <a:off x="4400000" y="2850000"/>
            <a:ext cx="3000000" cy="105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4400000" y="2850000"/>
            <a:ext cx="90000" cy="105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4540000" y="29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N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4960000" y="2975000"/>
            <a:ext cx="2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Node B: Tools/RAG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4960000" y="3280000"/>
            <a:ext cx="2340000" cy="5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observation 생성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evidence 수집</a:t>
            </a:r>
          </a:p>
        </p:txBody>
      </p:sp>
      <p:sp>
        <p:nvSpPr>
          <p:cNvPr id="26" name="card"/>
          <p:cNvSpPr/>
          <p:nvPr/>
        </p:nvSpPr>
        <p:spPr>
          <a:xfrm>
            <a:off x="4400000" y="4400000"/>
            <a:ext cx="3000000" cy="105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7" name="accent"/>
          <p:cNvSpPr/>
          <p:nvPr/>
        </p:nvSpPr>
        <p:spPr>
          <a:xfrm>
            <a:off x="4400000" y="4400000"/>
            <a:ext cx="90000" cy="105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4540000" y="45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N</a:t>
            </a:r>
          </a:p>
        </p:txBody>
      </p:sp>
      <p:sp>
        <p:nvSpPr>
          <p:cNvPr id="29" name="card title"/>
          <p:cNvSpPr txBox="1"/>
          <p:nvPr/>
        </p:nvSpPr>
        <p:spPr>
          <a:xfrm>
            <a:off x="4960000" y="4525000"/>
            <a:ext cx="2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Node C: Validate</a:t>
            </a:r>
          </a:p>
        </p:txBody>
      </p:sp>
      <p:sp>
        <p:nvSpPr>
          <p:cNvPr id="30" name="card body"/>
          <p:cNvSpPr txBox="1"/>
          <p:nvPr/>
        </p:nvSpPr>
        <p:spPr>
          <a:xfrm>
            <a:off x="4960000" y="4830000"/>
            <a:ext cx="2340000" cy="5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claim/evidence 검사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finish gate</a:t>
            </a:r>
          </a:p>
        </p:txBody>
      </p:sp>
      <p:sp>
        <p:nvSpPr>
          <p:cNvPr id="31" name="card"/>
          <p:cNvSpPr/>
          <p:nvPr/>
        </p:nvSpPr>
        <p:spPr>
          <a:xfrm>
            <a:off x="8200000" y="2850000"/>
            <a:ext cx="2800000" cy="1300000"/>
          </a:xfrm>
          <a:prstGeom prst="roundRect"/>
          <a:solidFill>
            <a:srgbClr val="FFFBEB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2" name="accent"/>
          <p:cNvSpPr/>
          <p:nvPr/>
        </p:nvSpPr>
        <p:spPr>
          <a:xfrm>
            <a:off x="8200000" y="2850000"/>
            <a:ext cx="90000" cy="130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8340000" y="29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97706"/>
                </a:solidFill>
                <a:latin typeface="Aptos"/>
                <a:ea typeface="Malgun Gothic"/>
              </a:rPr>
              <a:t>O</a:t>
            </a:r>
          </a:p>
        </p:txBody>
      </p:sp>
      <p:sp>
        <p:nvSpPr>
          <p:cNvPr id="34" name="card title"/>
          <p:cNvSpPr txBox="1"/>
          <p:nvPr/>
        </p:nvSpPr>
        <p:spPr>
          <a:xfrm>
            <a:off x="8760000" y="2975000"/>
            <a:ext cx="21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Output State</a:t>
            </a:r>
          </a:p>
        </p:txBody>
      </p:sp>
      <p:sp>
        <p:nvSpPr>
          <p:cNvPr id="35" name="card body"/>
          <p:cNvSpPr txBox="1"/>
          <p:nvPr/>
        </p:nvSpPr>
        <p:spPr>
          <a:xfrm>
            <a:off x="8760000" y="3280000"/>
            <a:ext cx="2140000" cy="7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final_report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validation</a:t>
            </a:r>
          </a:p>
        </p:txBody>
      </p:sp>
      <p:sp>
        <p:nvSpPr>
          <p:cNvPr id="36" name="line"/>
          <p:cNvSpPr/>
          <p:nvPr/>
        </p:nvSpPr>
        <p:spPr>
          <a:xfrm>
            <a:off x="3450000" y="2350000"/>
            <a:ext cx="850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arrowhead"/>
          <p:cNvSpPr txBox="1"/>
          <p:nvPr/>
        </p:nvSpPr>
        <p:spPr>
          <a:xfrm>
            <a:off x="4310000" y="22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8" name="line"/>
          <p:cNvSpPr/>
          <p:nvPr/>
        </p:nvSpPr>
        <p:spPr>
          <a:xfrm>
            <a:off x="5900000" y="2350000"/>
            <a:ext cx="30000" cy="4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arrowhead"/>
          <p:cNvSpPr txBox="1"/>
          <p:nvPr/>
        </p:nvSpPr>
        <p:spPr>
          <a:xfrm>
            <a:off x="5815000" y="27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▼</a:t>
            </a:r>
          </a:p>
        </p:txBody>
      </p:sp>
      <p:sp>
        <p:nvSpPr>
          <p:cNvPr id="40" name="line"/>
          <p:cNvSpPr/>
          <p:nvPr/>
        </p:nvSpPr>
        <p:spPr>
          <a:xfrm>
            <a:off x="5900000" y="3900000"/>
            <a:ext cx="30000" cy="4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arrowhead"/>
          <p:cNvSpPr txBox="1"/>
          <p:nvPr/>
        </p:nvSpPr>
        <p:spPr>
          <a:xfrm>
            <a:off x="5815000" y="43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7C3AED"/>
                </a:solidFill>
                <a:latin typeface="Aptos"/>
                <a:ea typeface="Malgun Gothic"/>
              </a:rPr>
              <a:t>▼</a:t>
            </a:r>
          </a:p>
        </p:txBody>
      </p:sp>
      <p:sp>
        <p:nvSpPr>
          <p:cNvPr id="42" name="line"/>
          <p:cNvSpPr/>
          <p:nvPr/>
        </p:nvSpPr>
        <p:spPr>
          <a:xfrm>
            <a:off x="7400000" y="4950000"/>
            <a:ext cx="1300000" cy="3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arrowhead"/>
          <p:cNvSpPr txBox="1"/>
          <p:nvPr/>
        </p:nvSpPr>
        <p:spPr>
          <a:xfrm>
            <a:off x="8710000" y="48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C262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8200000" y="1550000"/>
            <a:ext cx="2800000" cy="60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150" b="1">
                <a:solidFill>
                  <a:srgbClr val="111827"/>
                </a:solidFill>
                <a:latin typeface="Aptos"/>
                <a:ea typeface="Malgun Gothic"/>
              </a:rPr>
              <a:t>Checkpointer</a:t>
            </a:r>
          </a:p>
          <a:p>
            <a:pPr>
              <a:buNone/>
            </a:pPr>
            <a:r>
              <a:rPr lang="ko-KR" sz="950">
                <a:solidFill>
                  <a:srgbClr val="64748B"/>
                </a:solidFill>
                <a:latin typeface="Aptos"/>
                <a:ea typeface="Malgun Gothic"/>
              </a:rPr>
              <a:t>각 super-step의 state snapshot 저장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좋은 State 설계: raw, summary, evidence를 분리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Judge Agent가 검증 가능한 상태 구조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10/30</a:t>
            </a:r>
          </a:p>
        </p:txBody>
      </p:sp>
      <p:sp>
        <p:nvSpPr>
          <p:cNvPr id="11" name="card"/>
          <p:cNvSpPr/>
          <p:nvPr/>
        </p:nvSpPr>
        <p:spPr>
          <a:xfrm>
            <a:off x="800000" y="1350000"/>
            <a:ext cx="4500000" cy="360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00000" y="1350000"/>
            <a:ext cx="90000" cy="360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40000" y="14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×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360000" y="1475000"/>
            <a:ext cx="38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나쁜 State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360000" y="1780000"/>
            <a:ext cx="3840000" cy="30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messages: list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everything: dict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전체 state를 LLM에 주입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raw data와 판단 근거가 뒤섞임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검증과 재현이 어려움</a:t>
            </a:r>
          </a:p>
        </p:txBody>
      </p:sp>
      <p:sp>
        <p:nvSpPr>
          <p:cNvPr id="16" name="rect"/>
          <p:cNvSpPr/>
          <p:nvPr/>
        </p:nvSpPr>
        <p:spPr>
          <a:xfrm>
            <a:off x="5600000" y="1350000"/>
            <a:ext cx="5600000" cy="3600000"/>
          </a:xfrm>
          <a:prstGeom prst="roundRect"/>
          <a:solidFill>
            <a:srgbClr val="F8FAFC"/>
          </a:solidFill>
          <a:ln w="762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5730000" y="1450000"/>
            <a:ext cx="534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 b="1">
                <a:solidFill>
                  <a:srgbClr val="0F766E"/>
                </a:solidFill>
                <a:latin typeface="Aptos"/>
                <a:ea typeface="Malgun Gothic"/>
              </a:rPr>
              <a:t>권장 State 구조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5730000" y="1740000"/>
            <a:ext cx="5340000" cy="31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request          # 사용자 목표/제약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raw_log_ref      # 원본 artifact 참조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metrics          # deterministic evidence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rag_context      # retrieved guidance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mcp_context      # service metadata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evidence         # claim 근거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validation       # gate 결과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errors           # compacted errors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final_report     # output contract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900000" y="5450000"/>
            <a:ext cx="10000000" cy="42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200" b="1">
                <a:solidFill>
                  <a:srgbClr val="111827"/>
                </a:solidFill>
                <a:latin typeface="Aptos"/>
                <a:ea typeface="Malgun Gothic"/>
              </a:rPr>
              <a:t>핵심 · State는 LLM prompt가 아니라 컨텍스트 후보 저장소다. Node별 projection으로 필요한 것만 보여준다.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Node는 Context Boundary다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각 Node의 read/write/visible/hidden context를 contract로 정의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11/30</a:t>
            </a:r>
          </a:p>
        </p:txBody>
      </p:sp>
      <p:sp>
        <p:nvSpPr>
          <p:cNvPr id="11" name="card"/>
          <p:cNvSpPr/>
          <p:nvPr/>
        </p:nvSpPr>
        <p:spPr>
          <a:xfrm>
            <a:off x="800000" y="1400000"/>
            <a:ext cx="3000000" cy="33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00000" y="1400000"/>
            <a:ext cx="90000" cy="33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40000" y="15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C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360000" y="1525000"/>
            <a:ext cx="2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Node Contract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360000" y="1830000"/>
            <a:ext cx="2340000" cy="27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Reads: filteredRecords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Writes: metrics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Visible: count, rate, p95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Hidden: raw records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Failure: warning + limitation</a:t>
            </a:r>
          </a:p>
        </p:txBody>
      </p:sp>
      <p:sp>
        <p:nvSpPr>
          <p:cNvPr id="16" name="line"/>
          <p:cNvSpPr/>
          <p:nvPr/>
        </p:nvSpPr>
        <p:spPr>
          <a:xfrm>
            <a:off x="3900000" y="3050000"/>
            <a:ext cx="1000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arrowhead"/>
          <p:cNvSpPr txBox="1"/>
          <p:nvPr/>
        </p:nvSpPr>
        <p:spPr>
          <a:xfrm>
            <a:off x="4910000" y="29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18" name="card"/>
          <p:cNvSpPr/>
          <p:nvPr/>
        </p:nvSpPr>
        <p:spPr>
          <a:xfrm>
            <a:off x="5050000" y="1400000"/>
            <a:ext cx="3000000" cy="33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9" name="accent"/>
          <p:cNvSpPr/>
          <p:nvPr/>
        </p:nvSpPr>
        <p:spPr>
          <a:xfrm>
            <a:off x="5050000" y="1400000"/>
            <a:ext cx="90000" cy="33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ext"/>
          <p:cNvSpPr txBox="1"/>
          <p:nvPr/>
        </p:nvSpPr>
        <p:spPr>
          <a:xfrm>
            <a:off x="5190000" y="15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D</a:t>
            </a:r>
          </a:p>
        </p:txBody>
      </p:sp>
      <p:sp>
        <p:nvSpPr>
          <p:cNvPr id="21" name="card title"/>
          <p:cNvSpPr txBox="1"/>
          <p:nvPr/>
        </p:nvSpPr>
        <p:spPr>
          <a:xfrm>
            <a:off x="5610000" y="1525000"/>
            <a:ext cx="2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Deterministic Work</a:t>
            </a:r>
          </a:p>
        </p:txBody>
      </p:sp>
      <p:sp>
        <p:nvSpPr>
          <p:cNvPr id="22" name="card body"/>
          <p:cNvSpPr txBox="1"/>
          <p:nvPr/>
        </p:nvSpPr>
        <p:spPr>
          <a:xfrm>
            <a:off x="5610000" y="1830000"/>
            <a:ext cx="2340000" cy="27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parse/filter/compute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숫자 계산은 code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LLM 추측 금지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schema validation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redaction</a:t>
            </a:r>
          </a:p>
        </p:txBody>
      </p:sp>
      <p:sp>
        <p:nvSpPr>
          <p:cNvPr id="23" name="line"/>
          <p:cNvSpPr/>
          <p:nvPr/>
        </p:nvSpPr>
        <p:spPr>
          <a:xfrm>
            <a:off x="8050000" y="3050000"/>
            <a:ext cx="1000000" cy="3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arrowhead"/>
          <p:cNvSpPr txBox="1"/>
          <p:nvPr/>
        </p:nvSpPr>
        <p:spPr>
          <a:xfrm>
            <a:off x="9060000" y="29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5" name="card"/>
          <p:cNvSpPr/>
          <p:nvPr/>
        </p:nvSpPr>
        <p:spPr>
          <a:xfrm>
            <a:off x="9200000" y="1400000"/>
            <a:ext cx="2400000" cy="33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6" name="accent"/>
          <p:cNvSpPr/>
          <p:nvPr/>
        </p:nvSpPr>
        <p:spPr>
          <a:xfrm>
            <a:off x="9200000" y="1400000"/>
            <a:ext cx="90000" cy="33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340000" y="15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L</a:t>
            </a:r>
          </a:p>
        </p:txBody>
      </p:sp>
      <p:sp>
        <p:nvSpPr>
          <p:cNvPr id="28" name="card title"/>
          <p:cNvSpPr txBox="1"/>
          <p:nvPr/>
        </p:nvSpPr>
        <p:spPr>
          <a:xfrm>
            <a:off x="9760000" y="1525000"/>
            <a:ext cx="17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LLM View</a:t>
            </a:r>
          </a:p>
        </p:txBody>
      </p:sp>
      <p:sp>
        <p:nvSpPr>
          <p:cNvPr id="29" name="card body"/>
          <p:cNvSpPr txBox="1"/>
          <p:nvPr/>
        </p:nvSpPr>
        <p:spPr>
          <a:xfrm>
            <a:off x="9760000" y="1830000"/>
            <a:ext cx="1740000" cy="27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요약된 evidence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source id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limitations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next action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Tool Drift 방지: 동적 Tool Selection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현재 state에서 필요한 도구만 LLM에게 노출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12/30</a:t>
            </a:r>
          </a:p>
        </p:txBody>
      </p:sp>
      <p:sp>
        <p:nvSpPr>
          <p:cNvPr id="11" name="rect"/>
          <p:cNvSpPr/>
          <p:nvPr/>
        </p:nvSpPr>
        <p:spPr>
          <a:xfrm>
            <a:off x="760000" y="1350000"/>
            <a:ext cx="1280000" cy="750000"/>
          </a:xfrm>
          <a:prstGeom prst="roundRect"/>
          <a:solidFill>
            <a:srgbClr val="EFF6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810000" y="1445000"/>
            <a:ext cx="11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80" b="1">
                <a:solidFill>
                  <a:srgbClr val="2563EB"/>
                </a:solidFill>
                <a:latin typeface="Aptos"/>
                <a:ea typeface="Malgun Gothic"/>
              </a:rPr>
              <a:t>요청 파싱 전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20000" y="1695000"/>
            <a:ext cx="1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 b="1">
                <a:solidFill>
                  <a:srgbClr val="111827"/>
                </a:solidFill>
                <a:latin typeface="Aptos"/>
                <a:ea typeface="Malgun Gothic"/>
              </a:rPr>
              <a:t>parse_user_request</a:t>
            </a:r>
          </a:p>
        </p:txBody>
      </p:sp>
      <p:sp>
        <p:nvSpPr>
          <p:cNvPr id="14" name="line"/>
          <p:cNvSpPr/>
          <p:nvPr/>
        </p:nvSpPr>
        <p:spPr>
          <a:xfrm>
            <a:off x="2040000" y="1710000"/>
            <a:ext cx="-45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arrowhead"/>
          <p:cNvSpPr txBox="1"/>
          <p:nvPr/>
        </p:nvSpPr>
        <p:spPr>
          <a:xfrm>
            <a:off x="2005000" y="16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16" name="rect"/>
          <p:cNvSpPr/>
          <p:nvPr/>
        </p:nvSpPr>
        <p:spPr>
          <a:xfrm>
            <a:off x="2145000" y="1350000"/>
            <a:ext cx="1280000" cy="750000"/>
          </a:xfrm>
          <a:prstGeom prst="roundRect"/>
          <a:solidFill>
            <a:srgbClr val="ECFDF5"/>
          </a:solidFill>
          <a:ln w="7620">
            <a:solidFill>
              <a:srgbClr val="0F766E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2195000" y="1445000"/>
            <a:ext cx="11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80" b="1">
                <a:solidFill>
                  <a:srgbClr val="0F766E"/>
                </a:solidFill>
                <a:latin typeface="Aptos"/>
                <a:ea typeface="Malgun Gothic"/>
              </a:rPr>
              <a:t>로그 없음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2205000" y="1695000"/>
            <a:ext cx="1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 b="1">
                <a:solidFill>
                  <a:srgbClr val="111827"/>
                </a:solidFill>
                <a:latin typeface="Aptos"/>
                <a:ea typeface="Malgun Gothic"/>
              </a:rPr>
              <a:t>read_log_file</a:t>
            </a:r>
          </a:p>
        </p:txBody>
      </p:sp>
      <p:sp>
        <p:nvSpPr>
          <p:cNvPr id="19" name="line"/>
          <p:cNvSpPr/>
          <p:nvPr/>
        </p:nvSpPr>
        <p:spPr>
          <a:xfrm>
            <a:off x="3425000" y="1710000"/>
            <a:ext cx="-45000" cy="3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arrowhead"/>
          <p:cNvSpPr txBox="1"/>
          <p:nvPr/>
        </p:nvSpPr>
        <p:spPr>
          <a:xfrm>
            <a:off x="3390000" y="16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1" name="rect"/>
          <p:cNvSpPr/>
          <p:nvPr/>
        </p:nvSpPr>
        <p:spPr>
          <a:xfrm>
            <a:off x="3530000" y="1350000"/>
            <a:ext cx="1280000" cy="750000"/>
          </a:xfrm>
          <a:prstGeom prst="roundRect"/>
          <a:solidFill>
            <a:srgbClr val="F5F3FF"/>
          </a:solidFill>
          <a:ln w="762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3580000" y="1445000"/>
            <a:ext cx="11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80" b="1">
                <a:solidFill>
                  <a:srgbClr val="7C3AED"/>
                </a:solidFill>
                <a:latin typeface="Aptos"/>
                <a:ea typeface="Malgun Gothic"/>
              </a:rPr>
              <a:t>파싱 전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3590000" y="1695000"/>
            <a:ext cx="1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 b="1">
                <a:solidFill>
                  <a:srgbClr val="111827"/>
                </a:solidFill>
                <a:latin typeface="Aptos"/>
                <a:ea typeface="Malgun Gothic"/>
              </a:rPr>
              <a:t>parse_access_log</a:t>
            </a:r>
          </a:p>
        </p:txBody>
      </p:sp>
      <p:sp>
        <p:nvSpPr>
          <p:cNvPr id="24" name="line"/>
          <p:cNvSpPr/>
          <p:nvPr/>
        </p:nvSpPr>
        <p:spPr>
          <a:xfrm>
            <a:off x="4810000" y="1710000"/>
            <a:ext cx="-45000" cy="3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arrowhead"/>
          <p:cNvSpPr txBox="1"/>
          <p:nvPr/>
        </p:nvSpPr>
        <p:spPr>
          <a:xfrm>
            <a:off x="4775000" y="16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7C3AED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6" name="rect"/>
          <p:cNvSpPr/>
          <p:nvPr/>
        </p:nvSpPr>
        <p:spPr>
          <a:xfrm>
            <a:off x="4915000" y="1350000"/>
            <a:ext cx="1280000" cy="750000"/>
          </a:xfrm>
          <a:prstGeom prst="roundRect"/>
          <a:solidFill>
            <a:srgbClr val="FFFBEB"/>
          </a:solidFill>
          <a:ln w="7620">
            <a:solidFill>
              <a:srgbClr val="D97706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4965000" y="1445000"/>
            <a:ext cx="11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80" b="1">
                <a:solidFill>
                  <a:srgbClr val="D97706"/>
                </a:solidFill>
                <a:latin typeface="Aptos"/>
                <a:ea typeface="Malgun Gothic"/>
              </a:rPr>
              <a:t>필터링 전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975000" y="1695000"/>
            <a:ext cx="1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 b="1">
                <a:solidFill>
                  <a:srgbClr val="111827"/>
                </a:solidFill>
                <a:latin typeface="Aptos"/>
                <a:ea typeface="Malgun Gothic"/>
              </a:rPr>
              <a:t>filter_log_records</a:t>
            </a:r>
          </a:p>
        </p:txBody>
      </p:sp>
      <p:sp>
        <p:nvSpPr>
          <p:cNvPr id="29" name="line"/>
          <p:cNvSpPr/>
          <p:nvPr/>
        </p:nvSpPr>
        <p:spPr>
          <a:xfrm>
            <a:off x="6195000" y="1710000"/>
            <a:ext cx="-45000" cy="3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arrowhead"/>
          <p:cNvSpPr txBox="1"/>
          <p:nvPr/>
        </p:nvSpPr>
        <p:spPr>
          <a:xfrm>
            <a:off x="6160000" y="16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9770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1" name="rect"/>
          <p:cNvSpPr/>
          <p:nvPr/>
        </p:nvSpPr>
        <p:spPr>
          <a:xfrm>
            <a:off x="6300000" y="1350000"/>
            <a:ext cx="1280000" cy="750000"/>
          </a:xfrm>
          <a:prstGeom prst="roundRect"/>
          <a:solidFill>
            <a:srgbClr val="ECFEFF"/>
          </a:solidFill>
          <a:ln w="762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6350000" y="1445000"/>
            <a:ext cx="11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80" b="1">
                <a:solidFill>
                  <a:srgbClr val="0891B2"/>
                </a:solidFill>
                <a:latin typeface="Aptos"/>
                <a:ea typeface="Malgun Gothic"/>
              </a:rPr>
              <a:t>수치 없음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360000" y="1695000"/>
            <a:ext cx="1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 b="1">
                <a:solidFill>
                  <a:srgbClr val="111827"/>
                </a:solidFill>
                <a:latin typeface="Aptos"/>
                <a:ea typeface="Malgun Gothic"/>
              </a:rPr>
              <a:t>compute_log_metrics</a:t>
            </a:r>
          </a:p>
        </p:txBody>
      </p:sp>
      <p:sp>
        <p:nvSpPr>
          <p:cNvPr id="34" name="line"/>
          <p:cNvSpPr/>
          <p:nvPr/>
        </p:nvSpPr>
        <p:spPr>
          <a:xfrm>
            <a:off x="7580000" y="1710000"/>
            <a:ext cx="-45000" cy="30000"/>
          </a:xfrm>
          <a:prstGeom prst="rect"/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arrowhead"/>
          <p:cNvSpPr txBox="1"/>
          <p:nvPr/>
        </p:nvSpPr>
        <p:spPr>
          <a:xfrm>
            <a:off x="7545000" y="16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891B2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6" name="rect"/>
          <p:cNvSpPr/>
          <p:nvPr/>
        </p:nvSpPr>
        <p:spPr>
          <a:xfrm>
            <a:off x="7685000" y="1350000"/>
            <a:ext cx="1280000" cy="750000"/>
          </a:xfrm>
          <a:prstGeom prst="roundRect"/>
          <a:solidFill>
            <a:srgbClr val="F0FDF4"/>
          </a:solidFill>
          <a:ln w="762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7735000" y="1445000"/>
            <a:ext cx="11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80" b="1">
                <a:solidFill>
                  <a:srgbClr val="16A34A"/>
                </a:solidFill>
                <a:latin typeface="Aptos"/>
                <a:ea typeface="Malgun Gothic"/>
              </a:rPr>
              <a:t>맥락 없음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745000" y="1695000"/>
            <a:ext cx="1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 b="1">
                <a:solidFill>
                  <a:srgbClr val="111827"/>
                </a:solidFill>
                <a:latin typeface="Aptos"/>
                <a:ea typeface="Malgun Gothic"/>
              </a:rPr>
              <a:t>retrieve_runbook</a:t>
            </a:r>
          </a:p>
        </p:txBody>
      </p:sp>
      <p:sp>
        <p:nvSpPr>
          <p:cNvPr id="39" name="line"/>
          <p:cNvSpPr/>
          <p:nvPr/>
        </p:nvSpPr>
        <p:spPr>
          <a:xfrm>
            <a:off x="8965000" y="1710000"/>
            <a:ext cx="-45000" cy="30000"/>
          </a:xfrm>
          <a:prstGeom prst="rect"/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arrowhead"/>
          <p:cNvSpPr txBox="1"/>
          <p:nvPr/>
        </p:nvSpPr>
        <p:spPr>
          <a:xfrm>
            <a:off x="8930000" y="16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16A34A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41" name="rect"/>
          <p:cNvSpPr/>
          <p:nvPr/>
        </p:nvSpPr>
        <p:spPr>
          <a:xfrm>
            <a:off x="9070000" y="1350000"/>
            <a:ext cx="1280000" cy="750000"/>
          </a:xfrm>
          <a:prstGeom prst="roundRect"/>
          <a:solidFill>
            <a:srgbClr val="FEF2F2"/>
          </a:solidFill>
          <a:ln w="762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42" name="text"/>
          <p:cNvSpPr txBox="1"/>
          <p:nvPr/>
        </p:nvSpPr>
        <p:spPr>
          <a:xfrm>
            <a:off x="9120000" y="1445000"/>
            <a:ext cx="11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80" b="1">
                <a:solidFill>
                  <a:srgbClr val="DC2626"/>
                </a:solidFill>
                <a:latin typeface="Aptos"/>
                <a:ea typeface="Malgun Gothic"/>
              </a:rPr>
              <a:t>메타 없음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9130000" y="1695000"/>
            <a:ext cx="1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 b="1">
                <a:solidFill>
                  <a:srgbClr val="111827"/>
                </a:solidFill>
                <a:latin typeface="Aptos"/>
                <a:ea typeface="Malgun Gothic"/>
              </a:rPr>
              <a:t>get_service_context</a:t>
            </a:r>
          </a:p>
        </p:txBody>
      </p:sp>
      <p:sp>
        <p:nvSpPr>
          <p:cNvPr id="44" name="line"/>
          <p:cNvSpPr/>
          <p:nvPr/>
        </p:nvSpPr>
        <p:spPr>
          <a:xfrm>
            <a:off x="10350000" y="1710000"/>
            <a:ext cx="-45000" cy="3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arrowhead"/>
          <p:cNvSpPr txBox="1"/>
          <p:nvPr/>
        </p:nvSpPr>
        <p:spPr>
          <a:xfrm>
            <a:off x="10315000" y="16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C262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46" name="rect"/>
          <p:cNvSpPr/>
          <p:nvPr/>
        </p:nvSpPr>
        <p:spPr>
          <a:xfrm>
            <a:off x="10455000" y="1350000"/>
            <a:ext cx="1280000" cy="750000"/>
          </a:xfrm>
          <a:prstGeom prst="roundRect"/>
          <a:solidFill>
            <a:srgbClr val="F8FAFC"/>
          </a:solidFill>
          <a:ln w="762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7" name="text"/>
          <p:cNvSpPr txBox="1"/>
          <p:nvPr/>
        </p:nvSpPr>
        <p:spPr>
          <a:xfrm>
            <a:off x="10505000" y="1445000"/>
            <a:ext cx="11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80" b="1">
                <a:solidFill>
                  <a:srgbClr val="111827"/>
                </a:solidFill>
                <a:latin typeface="Aptos"/>
                <a:ea typeface="Malgun Gothic"/>
              </a:rPr>
              <a:t>근거 완료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10515000" y="1695000"/>
            <a:ext cx="1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 b="1">
                <a:solidFill>
                  <a:srgbClr val="111827"/>
                </a:solidFill>
                <a:latin typeface="Aptos"/>
                <a:ea typeface="Malgun Gothic"/>
              </a:rPr>
              <a:t>finish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900000" y="3000000"/>
            <a:ext cx="9900000" cy="115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200" b="1">
                <a:solidFill>
                  <a:srgbClr val="111827"/>
                </a:solidFill>
                <a:latin typeface="Aptos"/>
                <a:ea typeface="Malgun Gothic"/>
              </a:rPr>
              <a:t>왜 중요한가?</a:t>
            </a:r>
          </a:p>
          <a:p>
            <a:pPr>
              <a:buNone/>
            </a:pPr>
            <a:r>
              <a:rPr lang="ko-KR" sz="1550" b="1">
                <a:solidFill>
                  <a:srgbClr val="1F2937"/>
                </a:solidFill>
                <a:latin typeface="Aptos"/>
                <a:ea typeface="Malgun Gothic"/>
              </a:rPr>
              <a:t>모든 도구를 항상 보여주면 모델은 “쓸 수 있는 것”을 “써야 하는 것”으로 오해한다. Tool selection은 prompt 지시보다 강한 안전장치다.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ReAct Step은 최소 Context로 충분하다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전체 state 대신 progress flags와 last observation 중심으로 전달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13/30</a:t>
            </a:r>
          </a:p>
        </p:txBody>
      </p:sp>
      <p:sp>
        <p:nvSpPr>
          <p:cNvPr id="11" name="rect"/>
          <p:cNvSpPr/>
          <p:nvPr/>
        </p:nvSpPr>
        <p:spPr>
          <a:xfrm>
            <a:off x="850000" y="1250000"/>
            <a:ext cx="5200000" cy="4200000"/>
          </a:xfrm>
          <a:prstGeom prst="roundRect"/>
          <a:solidFill>
            <a:srgbClr val="F8FAFC"/>
          </a:solidFill>
          <a:ln w="762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980000" y="1350000"/>
            <a:ext cx="494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 b="1">
                <a:solidFill>
                  <a:srgbClr val="7C3AED"/>
                </a:solidFill>
                <a:latin typeface="Aptos"/>
                <a:ea typeface="Malgun Gothic"/>
              </a:rPr>
              <a:t>LLM-facing ReAct Context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980000" y="1640000"/>
            <a:ext cx="4940000" cy="37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{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step: 4,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goal: "Analyze /api/login 5xx spike",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progress: {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  logs_loaded: true,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  records_filtered: false,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  metrics_computed: false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},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last_observation: {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  tool: "parse_access_log",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  record_count: 10000,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  parse_error_count: 2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},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available_tools: ["filter_log_records"],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constraints: ["Do not finish before evidence"]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}</a:t>
            </a:r>
          </a:p>
        </p:txBody>
      </p:sp>
      <p:sp>
        <p:nvSpPr>
          <p:cNvPr id="14" name="card"/>
          <p:cNvSpPr/>
          <p:nvPr/>
        </p:nvSpPr>
        <p:spPr>
          <a:xfrm>
            <a:off x="6500000" y="1300000"/>
            <a:ext cx="4600000" cy="180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5" name="accent"/>
          <p:cNvSpPr/>
          <p:nvPr/>
        </p:nvSpPr>
        <p:spPr>
          <a:xfrm>
            <a:off x="6500000" y="1300000"/>
            <a:ext cx="90000" cy="180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6640000" y="14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−</a:t>
            </a:r>
          </a:p>
        </p:txBody>
      </p:sp>
      <p:sp>
        <p:nvSpPr>
          <p:cNvPr id="17" name="card title"/>
          <p:cNvSpPr txBox="1"/>
          <p:nvPr/>
        </p:nvSpPr>
        <p:spPr>
          <a:xfrm>
            <a:off x="7060000" y="1425000"/>
            <a:ext cx="39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줄이는 것</a:t>
            </a:r>
          </a:p>
        </p:txBody>
      </p:sp>
      <p:sp>
        <p:nvSpPr>
          <p:cNvPr id="18" name="card body"/>
          <p:cNvSpPr txBox="1"/>
          <p:nvPr/>
        </p:nvSpPr>
        <p:spPr>
          <a:xfrm>
            <a:off x="7060000" y="1730000"/>
            <a:ext cx="3940000" cy="12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raw logs 전체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records 배열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오래된 thought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전체 tool list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관련 없는 memory</a:t>
            </a:r>
          </a:p>
        </p:txBody>
      </p:sp>
      <p:sp>
        <p:nvSpPr>
          <p:cNvPr id="19" name="card"/>
          <p:cNvSpPr/>
          <p:nvPr/>
        </p:nvSpPr>
        <p:spPr>
          <a:xfrm>
            <a:off x="6500000" y="3400000"/>
            <a:ext cx="4600000" cy="1800000"/>
          </a:xfrm>
          <a:prstGeom prst="roundRect"/>
          <a:solidFill>
            <a:srgbClr val="F0FDF4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0" name="accent"/>
          <p:cNvSpPr/>
          <p:nvPr/>
        </p:nvSpPr>
        <p:spPr>
          <a:xfrm>
            <a:off x="6500000" y="3400000"/>
            <a:ext cx="90000" cy="1800000"/>
          </a:xfrm>
          <a:prstGeom prst="rect"/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6640000" y="35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16A34A"/>
                </a:solidFill>
                <a:latin typeface="Aptos"/>
                <a:ea typeface="Malgun Gothic"/>
              </a:rPr>
              <a:t>+</a:t>
            </a:r>
          </a:p>
        </p:txBody>
      </p:sp>
      <p:sp>
        <p:nvSpPr>
          <p:cNvPr id="22" name="card title"/>
          <p:cNvSpPr txBox="1"/>
          <p:nvPr/>
        </p:nvSpPr>
        <p:spPr>
          <a:xfrm>
            <a:off x="7060000" y="3525000"/>
            <a:ext cx="39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남기는 것</a:t>
            </a:r>
          </a:p>
        </p:txBody>
      </p:sp>
      <p:sp>
        <p:nvSpPr>
          <p:cNvPr id="23" name="card body"/>
          <p:cNvSpPr txBox="1"/>
          <p:nvPr/>
        </p:nvSpPr>
        <p:spPr>
          <a:xfrm>
            <a:off x="7060000" y="3830000"/>
            <a:ext cx="3940000" cy="12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현재 목표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진행 상태 flag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최근 observation 요약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선택 가능한 tool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finish 제약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RAG는 단일 호출이 아니라 Context Pipeline이다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검색 결과가 final claim으로 가기 전 검증·압축·역할 구분 필요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14/30</a:t>
            </a:r>
          </a:p>
        </p:txBody>
      </p:sp>
      <p:sp>
        <p:nvSpPr>
          <p:cNvPr id="11" name="rect"/>
          <p:cNvSpPr/>
          <p:nvPr/>
        </p:nvSpPr>
        <p:spPr>
          <a:xfrm>
            <a:off x="800000" y="1700000"/>
            <a:ext cx="1550000" cy="980000"/>
          </a:xfrm>
          <a:prstGeom prst="roundRect"/>
          <a:solidFill>
            <a:srgbClr val="EFF6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890000" y="1920000"/>
            <a:ext cx="1370000" cy="4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100" b="1">
                <a:solidFill>
                  <a:srgbClr val="2563EB"/>
                </a:solidFill>
                <a:latin typeface="Aptos"/>
                <a:ea typeface="Malgun Gothic"/>
              </a:rPr>
              <a:t>Query
Understanding</a:t>
            </a:r>
          </a:p>
        </p:txBody>
      </p:sp>
      <p:sp>
        <p:nvSpPr>
          <p:cNvPr id="13" name="line"/>
          <p:cNvSpPr/>
          <p:nvPr/>
        </p:nvSpPr>
        <p:spPr>
          <a:xfrm>
            <a:off x="2350000" y="2180000"/>
            <a:ext cx="120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arrowhead"/>
          <p:cNvSpPr txBox="1"/>
          <p:nvPr/>
        </p:nvSpPr>
        <p:spPr>
          <a:xfrm>
            <a:off x="2480000" y="209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15" name="rect"/>
          <p:cNvSpPr/>
          <p:nvPr/>
        </p:nvSpPr>
        <p:spPr>
          <a:xfrm>
            <a:off x="2630000" y="1700000"/>
            <a:ext cx="1550000" cy="980000"/>
          </a:xfrm>
          <a:prstGeom prst="roundRect"/>
          <a:solidFill>
            <a:srgbClr val="ECFDF5"/>
          </a:solidFill>
          <a:ln w="7620">
            <a:solidFill>
              <a:srgbClr val="0F766E"/>
            </a:solidFill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2720000" y="1920000"/>
            <a:ext cx="1370000" cy="4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100" b="1">
                <a:solidFill>
                  <a:srgbClr val="0F766E"/>
                </a:solidFill>
                <a:latin typeface="Aptos"/>
                <a:ea typeface="Malgun Gothic"/>
              </a:rPr>
              <a:t>Retrieve
Candidates</a:t>
            </a:r>
          </a:p>
        </p:txBody>
      </p:sp>
      <p:sp>
        <p:nvSpPr>
          <p:cNvPr id="17" name="line"/>
          <p:cNvSpPr/>
          <p:nvPr/>
        </p:nvSpPr>
        <p:spPr>
          <a:xfrm>
            <a:off x="4180000" y="2180000"/>
            <a:ext cx="120000" cy="3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arrowhead"/>
          <p:cNvSpPr txBox="1"/>
          <p:nvPr/>
        </p:nvSpPr>
        <p:spPr>
          <a:xfrm>
            <a:off x="4310000" y="209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19" name="rect"/>
          <p:cNvSpPr/>
          <p:nvPr/>
        </p:nvSpPr>
        <p:spPr>
          <a:xfrm>
            <a:off x="4460000" y="1700000"/>
            <a:ext cx="1550000" cy="980000"/>
          </a:xfrm>
          <a:prstGeom prst="roundRect"/>
          <a:solidFill>
            <a:srgbClr val="F5F3FF"/>
          </a:solidFill>
          <a:ln w="762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20" name="text"/>
          <p:cNvSpPr txBox="1"/>
          <p:nvPr/>
        </p:nvSpPr>
        <p:spPr>
          <a:xfrm>
            <a:off x="4550000" y="1920000"/>
            <a:ext cx="1370000" cy="4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100" b="1">
                <a:solidFill>
                  <a:srgbClr val="7C3AED"/>
                </a:solidFill>
                <a:latin typeface="Aptos"/>
                <a:ea typeface="Malgun Gothic"/>
              </a:rPr>
              <a:t>Rerank /
Filter</a:t>
            </a:r>
          </a:p>
        </p:txBody>
      </p:sp>
      <p:sp>
        <p:nvSpPr>
          <p:cNvPr id="21" name="line"/>
          <p:cNvSpPr/>
          <p:nvPr/>
        </p:nvSpPr>
        <p:spPr>
          <a:xfrm>
            <a:off x="6010000" y="2180000"/>
            <a:ext cx="120000" cy="3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arrowhead"/>
          <p:cNvSpPr txBox="1"/>
          <p:nvPr/>
        </p:nvSpPr>
        <p:spPr>
          <a:xfrm>
            <a:off x="6140000" y="209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7C3AED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3" name="rect"/>
          <p:cNvSpPr/>
          <p:nvPr/>
        </p:nvSpPr>
        <p:spPr>
          <a:xfrm>
            <a:off x="6290000" y="1700000"/>
            <a:ext cx="1550000" cy="980000"/>
          </a:xfrm>
          <a:prstGeom prst="roundRect"/>
          <a:solidFill>
            <a:srgbClr val="FFFBEB"/>
          </a:solidFill>
          <a:ln w="7620">
            <a:solidFill>
              <a:srgbClr val="D97706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6380000" y="1920000"/>
            <a:ext cx="1370000" cy="4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100" b="1">
                <a:solidFill>
                  <a:srgbClr val="D97706"/>
                </a:solidFill>
                <a:latin typeface="Aptos"/>
                <a:ea typeface="Malgun Gothic"/>
              </a:rPr>
              <a:t>Compress
Context</a:t>
            </a:r>
          </a:p>
        </p:txBody>
      </p:sp>
      <p:sp>
        <p:nvSpPr>
          <p:cNvPr id="25" name="line"/>
          <p:cNvSpPr/>
          <p:nvPr/>
        </p:nvSpPr>
        <p:spPr>
          <a:xfrm>
            <a:off x="7840000" y="2180000"/>
            <a:ext cx="120000" cy="3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rrowhead"/>
          <p:cNvSpPr txBox="1"/>
          <p:nvPr/>
        </p:nvSpPr>
        <p:spPr>
          <a:xfrm>
            <a:off x="7970000" y="209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9770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7" name="rect"/>
          <p:cNvSpPr/>
          <p:nvPr/>
        </p:nvSpPr>
        <p:spPr>
          <a:xfrm>
            <a:off x="8120000" y="1700000"/>
            <a:ext cx="1550000" cy="980000"/>
          </a:xfrm>
          <a:prstGeom prst="roundRect"/>
          <a:solidFill>
            <a:srgbClr val="FEF2F2"/>
          </a:solidFill>
          <a:ln w="762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8210000" y="1920000"/>
            <a:ext cx="1370000" cy="4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100" b="1">
                <a:solidFill>
                  <a:srgbClr val="DC2626"/>
                </a:solidFill>
                <a:latin typeface="Aptos"/>
                <a:ea typeface="Malgun Gothic"/>
              </a:rPr>
              <a:t>Validate
Sources</a:t>
            </a:r>
          </a:p>
        </p:txBody>
      </p:sp>
      <p:sp>
        <p:nvSpPr>
          <p:cNvPr id="29" name="line"/>
          <p:cNvSpPr/>
          <p:nvPr/>
        </p:nvSpPr>
        <p:spPr>
          <a:xfrm>
            <a:off x="9670000" y="2180000"/>
            <a:ext cx="120000" cy="3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arrowhead"/>
          <p:cNvSpPr txBox="1"/>
          <p:nvPr/>
        </p:nvSpPr>
        <p:spPr>
          <a:xfrm>
            <a:off x="9800000" y="209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C262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1" name="rect"/>
          <p:cNvSpPr/>
          <p:nvPr/>
        </p:nvSpPr>
        <p:spPr>
          <a:xfrm>
            <a:off x="9950000" y="1700000"/>
            <a:ext cx="1550000" cy="980000"/>
          </a:xfrm>
          <a:prstGeom prst="roundRect"/>
          <a:solidFill>
            <a:srgbClr val="ECFEFF"/>
          </a:solidFill>
          <a:ln w="762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10040000" y="1920000"/>
            <a:ext cx="1370000" cy="45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100" b="1">
                <a:solidFill>
                  <a:srgbClr val="0891B2"/>
                </a:solidFill>
                <a:latin typeface="Aptos"/>
                <a:ea typeface="Malgun Gothic"/>
              </a:rPr>
              <a:t>Context
Pack</a:t>
            </a:r>
          </a:p>
        </p:txBody>
      </p:sp>
      <p:sp>
        <p:nvSpPr>
          <p:cNvPr id="33" name="card"/>
          <p:cNvSpPr/>
          <p:nvPr/>
        </p:nvSpPr>
        <p:spPr>
          <a:xfrm>
            <a:off x="900000" y="3600000"/>
            <a:ext cx="2450000" cy="13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4" name="accent"/>
          <p:cNvSpPr/>
          <p:nvPr/>
        </p:nvSpPr>
        <p:spPr>
          <a:xfrm>
            <a:off x="900000" y="3600000"/>
            <a:ext cx="90000" cy="13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card title"/>
          <p:cNvSpPr txBox="1"/>
          <p:nvPr/>
        </p:nvSpPr>
        <p:spPr>
          <a:xfrm>
            <a:off x="1070000" y="3725000"/>
            <a:ext cx="21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Authoritative</a:t>
            </a:r>
          </a:p>
        </p:txBody>
      </p:sp>
      <p:sp>
        <p:nvSpPr>
          <p:cNvPr id="36" name="card body"/>
          <p:cNvSpPr txBox="1"/>
          <p:nvPr/>
        </p:nvSpPr>
        <p:spPr>
          <a:xfrm>
            <a:off x="1070000" y="4030000"/>
            <a:ext cx="2190000" cy="7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정책/공식 문서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claim 근거 가능</a:t>
            </a:r>
          </a:p>
        </p:txBody>
      </p:sp>
      <p:sp>
        <p:nvSpPr>
          <p:cNvPr id="37" name="card"/>
          <p:cNvSpPr/>
          <p:nvPr/>
        </p:nvSpPr>
        <p:spPr>
          <a:xfrm>
            <a:off x="3600000" y="3600000"/>
            <a:ext cx="2450000" cy="13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8" name="accent"/>
          <p:cNvSpPr/>
          <p:nvPr/>
        </p:nvSpPr>
        <p:spPr>
          <a:xfrm>
            <a:off x="3600000" y="3600000"/>
            <a:ext cx="90000" cy="13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card title"/>
          <p:cNvSpPr txBox="1"/>
          <p:nvPr/>
        </p:nvSpPr>
        <p:spPr>
          <a:xfrm>
            <a:off x="3770000" y="3725000"/>
            <a:ext cx="21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Guidance</a:t>
            </a:r>
          </a:p>
        </p:txBody>
      </p:sp>
      <p:sp>
        <p:nvSpPr>
          <p:cNvPr id="40" name="card body"/>
          <p:cNvSpPr txBox="1"/>
          <p:nvPr/>
        </p:nvSpPr>
        <p:spPr>
          <a:xfrm>
            <a:off x="3770000" y="4030000"/>
            <a:ext cx="2190000" cy="7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runbook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원인 후보/조치 제안</a:t>
            </a:r>
          </a:p>
        </p:txBody>
      </p:sp>
      <p:sp>
        <p:nvSpPr>
          <p:cNvPr id="41" name="card"/>
          <p:cNvSpPr/>
          <p:nvPr/>
        </p:nvSpPr>
        <p:spPr>
          <a:xfrm>
            <a:off x="6300000" y="3600000"/>
            <a:ext cx="2450000" cy="1300000"/>
          </a:xfrm>
          <a:prstGeom prst="roundRect"/>
          <a:solidFill>
            <a:srgbClr val="FFFBEB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42" name="accent"/>
          <p:cNvSpPr/>
          <p:nvPr/>
        </p:nvSpPr>
        <p:spPr>
          <a:xfrm>
            <a:off x="6300000" y="3600000"/>
            <a:ext cx="90000" cy="130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card title"/>
          <p:cNvSpPr txBox="1"/>
          <p:nvPr/>
        </p:nvSpPr>
        <p:spPr>
          <a:xfrm>
            <a:off x="6470000" y="3725000"/>
            <a:ext cx="21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Episodic</a:t>
            </a:r>
          </a:p>
        </p:txBody>
      </p:sp>
      <p:sp>
        <p:nvSpPr>
          <p:cNvPr id="44" name="card body"/>
          <p:cNvSpPr txBox="1"/>
          <p:nvPr/>
        </p:nvSpPr>
        <p:spPr>
          <a:xfrm>
            <a:off x="6470000" y="4030000"/>
            <a:ext cx="2190000" cy="7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과거 incident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유사 사례 참고</a:t>
            </a:r>
          </a:p>
        </p:txBody>
      </p:sp>
      <p:sp>
        <p:nvSpPr>
          <p:cNvPr id="45" name="card"/>
          <p:cNvSpPr/>
          <p:nvPr/>
        </p:nvSpPr>
        <p:spPr>
          <a:xfrm>
            <a:off x="9000000" y="3600000"/>
            <a:ext cx="2450000" cy="1300000"/>
          </a:xfrm>
          <a:prstGeom prst="roundRect"/>
          <a:solidFill>
            <a:srgbClr val="F3F6FA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46" name="accent"/>
          <p:cNvSpPr/>
          <p:nvPr/>
        </p:nvSpPr>
        <p:spPr>
          <a:xfrm>
            <a:off x="9000000" y="3600000"/>
            <a:ext cx="90000" cy="1300000"/>
          </a:xfrm>
          <a:prstGeom prst="rect"/>
          <a:solidFill>
            <a:srgbClr val="64748B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card title"/>
          <p:cNvSpPr txBox="1"/>
          <p:nvPr/>
        </p:nvSpPr>
        <p:spPr>
          <a:xfrm>
            <a:off x="9170000" y="3725000"/>
            <a:ext cx="21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Background</a:t>
            </a:r>
          </a:p>
        </p:txBody>
      </p:sp>
      <p:sp>
        <p:nvSpPr>
          <p:cNvPr id="48" name="card body"/>
          <p:cNvSpPr txBox="1"/>
          <p:nvPr/>
        </p:nvSpPr>
        <p:spPr>
          <a:xfrm>
            <a:off x="9170000" y="4030000"/>
            <a:ext cx="2190000" cy="7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외부 문서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보조 설명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Memory와 Checkpoint는 다르다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기억해야 할 것과 되돌릴 수 있어야 할 것을 분리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15/30</a:t>
            </a:r>
          </a:p>
        </p:txBody>
      </p:sp>
      <p:sp>
        <p:nvSpPr>
          <p:cNvPr id="11" name="card"/>
          <p:cNvSpPr/>
          <p:nvPr/>
        </p:nvSpPr>
        <p:spPr>
          <a:xfrm>
            <a:off x="850000" y="1450000"/>
            <a:ext cx="3300000" cy="25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50000" y="1450000"/>
            <a:ext cx="90000" cy="25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90000" y="15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S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410000" y="15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Short-term Memory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410000" y="1880000"/>
            <a:ext cx="2640000" cy="19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thread-scoped state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현재 대화/작업의 진행 상태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checkpoint로 resume 가능</a:t>
            </a:r>
          </a:p>
        </p:txBody>
      </p:sp>
      <p:sp>
        <p:nvSpPr>
          <p:cNvPr id="16" name="card"/>
          <p:cNvSpPr/>
          <p:nvPr/>
        </p:nvSpPr>
        <p:spPr>
          <a:xfrm>
            <a:off x="4450000" y="1450000"/>
            <a:ext cx="3300000" cy="25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4450000" y="1450000"/>
            <a:ext cx="90000" cy="25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4590000" y="15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L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5010000" y="15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Long-term Memory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5010000" y="1880000"/>
            <a:ext cx="2640000" cy="19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namespace 기반 store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사용자 선호/프로젝트 규칙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relevance/recency로 select</a:t>
            </a:r>
          </a:p>
        </p:txBody>
      </p:sp>
      <p:sp>
        <p:nvSpPr>
          <p:cNvPr id="21" name="card"/>
          <p:cNvSpPr/>
          <p:nvPr/>
        </p:nvSpPr>
        <p:spPr>
          <a:xfrm>
            <a:off x="8050000" y="1450000"/>
            <a:ext cx="3300000" cy="25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8050000" y="1450000"/>
            <a:ext cx="90000" cy="25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190000" y="15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C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8610000" y="15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Checkpoint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8610000" y="1880000"/>
            <a:ext cx="2640000" cy="19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각 step의 state snapshot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time travel debugging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context poisoning 지점 추적</a:t>
            </a:r>
          </a:p>
        </p:txBody>
      </p:sp>
      <p:sp>
        <p:nvSpPr>
          <p:cNvPr id="26" name="rect"/>
          <p:cNvSpPr/>
          <p:nvPr/>
        </p:nvSpPr>
        <p:spPr>
          <a:xfrm>
            <a:off x="1200000" y="5000000"/>
            <a:ext cx="800000" cy="420000"/>
          </a:xfrm>
          <a:prstGeom prst="roundRect"/>
          <a:solidFill>
            <a:srgbClr val="FFFF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1250000" y="5115000"/>
            <a:ext cx="7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850" b="1">
                <a:solidFill>
                  <a:srgbClr val="111827"/>
                </a:solidFill>
                <a:latin typeface="Aptos"/>
                <a:ea typeface="Malgun Gothic"/>
              </a:rPr>
              <a:t>START</a:t>
            </a:r>
          </a:p>
        </p:txBody>
      </p:sp>
      <p:sp>
        <p:nvSpPr>
          <p:cNvPr id="28" name="line"/>
          <p:cNvSpPr/>
          <p:nvPr/>
        </p:nvSpPr>
        <p:spPr>
          <a:xfrm>
            <a:off x="2000000" y="5210000"/>
            <a:ext cx="950000" cy="30000"/>
          </a:xfrm>
          <a:prstGeom prst="rect"/>
          <a:solidFill>
            <a:srgbClr val="D8DEE8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arrowhead"/>
          <p:cNvSpPr txBox="1"/>
          <p:nvPr/>
        </p:nvSpPr>
        <p:spPr>
          <a:xfrm>
            <a:off x="2960000" y="51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8DEE8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0" name="rect"/>
          <p:cNvSpPr/>
          <p:nvPr/>
        </p:nvSpPr>
        <p:spPr>
          <a:xfrm>
            <a:off x="3100000" y="5000000"/>
            <a:ext cx="800000" cy="420000"/>
          </a:xfrm>
          <a:prstGeom prst="roundRect"/>
          <a:solidFill>
            <a:srgbClr val="FFFF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3150000" y="5115000"/>
            <a:ext cx="7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850" b="1">
                <a:solidFill>
                  <a:srgbClr val="111827"/>
                </a:solidFill>
                <a:latin typeface="Aptos"/>
                <a:ea typeface="Malgun Gothic"/>
              </a:rPr>
              <a:t>parse</a:t>
            </a:r>
          </a:p>
        </p:txBody>
      </p:sp>
      <p:sp>
        <p:nvSpPr>
          <p:cNvPr id="32" name="line"/>
          <p:cNvSpPr/>
          <p:nvPr/>
        </p:nvSpPr>
        <p:spPr>
          <a:xfrm>
            <a:off x="3900000" y="5210000"/>
            <a:ext cx="950000" cy="30000"/>
          </a:xfrm>
          <a:prstGeom prst="rect"/>
          <a:solidFill>
            <a:srgbClr val="D8DE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arrowhead"/>
          <p:cNvSpPr txBox="1"/>
          <p:nvPr/>
        </p:nvSpPr>
        <p:spPr>
          <a:xfrm>
            <a:off x="4860000" y="51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8DEE8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4" name="rect"/>
          <p:cNvSpPr/>
          <p:nvPr/>
        </p:nvSpPr>
        <p:spPr>
          <a:xfrm>
            <a:off x="5000000" y="5000000"/>
            <a:ext cx="800000" cy="420000"/>
          </a:xfrm>
          <a:prstGeom prst="roundRect"/>
          <a:solidFill>
            <a:srgbClr val="FFFF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5050000" y="5115000"/>
            <a:ext cx="7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850" b="1">
                <a:solidFill>
                  <a:srgbClr val="111827"/>
                </a:solidFill>
                <a:latin typeface="Aptos"/>
                <a:ea typeface="Malgun Gothic"/>
              </a:rPr>
              <a:t>tool</a:t>
            </a:r>
          </a:p>
        </p:txBody>
      </p:sp>
      <p:sp>
        <p:nvSpPr>
          <p:cNvPr id="36" name="line"/>
          <p:cNvSpPr/>
          <p:nvPr/>
        </p:nvSpPr>
        <p:spPr>
          <a:xfrm>
            <a:off x="5800000" y="5210000"/>
            <a:ext cx="950000" cy="30000"/>
          </a:xfrm>
          <a:prstGeom prst="rect"/>
          <a:solidFill>
            <a:srgbClr val="D8DE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arrowhead"/>
          <p:cNvSpPr txBox="1"/>
          <p:nvPr/>
        </p:nvSpPr>
        <p:spPr>
          <a:xfrm>
            <a:off x="6760000" y="51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8DEE8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8" name="rect"/>
          <p:cNvSpPr/>
          <p:nvPr/>
        </p:nvSpPr>
        <p:spPr>
          <a:xfrm>
            <a:off x="6900000" y="5000000"/>
            <a:ext cx="800000" cy="420000"/>
          </a:xfrm>
          <a:prstGeom prst="roundRect"/>
          <a:solidFill>
            <a:srgbClr val="FFFF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6950000" y="5115000"/>
            <a:ext cx="7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850" b="1">
                <a:solidFill>
                  <a:srgbClr val="111827"/>
                </a:solidFill>
                <a:latin typeface="Aptos"/>
                <a:ea typeface="Malgun Gothic"/>
              </a:rPr>
              <a:t>rag</a:t>
            </a:r>
          </a:p>
        </p:txBody>
      </p:sp>
      <p:sp>
        <p:nvSpPr>
          <p:cNvPr id="40" name="line"/>
          <p:cNvSpPr/>
          <p:nvPr/>
        </p:nvSpPr>
        <p:spPr>
          <a:xfrm>
            <a:off x="7700000" y="5210000"/>
            <a:ext cx="950000" cy="30000"/>
          </a:xfrm>
          <a:prstGeom prst="rect"/>
          <a:solidFill>
            <a:srgbClr val="D8DEE8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arrowhead"/>
          <p:cNvSpPr txBox="1"/>
          <p:nvPr/>
        </p:nvSpPr>
        <p:spPr>
          <a:xfrm>
            <a:off x="8660000" y="51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8DEE8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42" name="rect"/>
          <p:cNvSpPr/>
          <p:nvPr/>
        </p:nvSpPr>
        <p:spPr>
          <a:xfrm>
            <a:off x="8800000" y="5000000"/>
            <a:ext cx="800000" cy="420000"/>
          </a:xfrm>
          <a:prstGeom prst="roundRect"/>
          <a:solidFill>
            <a:srgbClr val="FFFF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43" name="text"/>
          <p:cNvSpPr txBox="1"/>
          <p:nvPr/>
        </p:nvSpPr>
        <p:spPr>
          <a:xfrm>
            <a:off x="8850000" y="5115000"/>
            <a:ext cx="7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850" b="1">
                <a:solidFill>
                  <a:srgbClr val="111827"/>
                </a:solidFill>
                <a:latin typeface="Aptos"/>
                <a:ea typeface="Malgun Gothic"/>
              </a:rPr>
              <a:t>validate</a:t>
            </a:r>
          </a:p>
        </p:txBody>
      </p:sp>
      <p:sp>
        <p:nvSpPr>
          <p:cNvPr id="44" name="line"/>
          <p:cNvSpPr/>
          <p:nvPr/>
        </p:nvSpPr>
        <p:spPr>
          <a:xfrm>
            <a:off x="9600000" y="5210000"/>
            <a:ext cx="950000" cy="30000"/>
          </a:xfrm>
          <a:prstGeom prst="rect"/>
          <a:solidFill>
            <a:srgbClr val="D8DEE8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arrowhead"/>
          <p:cNvSpPr txBox="1"/>
          <p:nvPr/>
        </p:nvSpPr>
        <p:spPr>
          <a:xfrm>
            <a:off x="10560000" y="512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8DEE8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46" name="rect"/>
          <p:cNvSpPr/>
          <p:nvPr/>
        </p:nvSpPr>
        <p:spPr>
          <a:xfrm>
            <a:off x="10700000" y="5000000"/>
            <a:ext cx="800000" cy="420000"/>
          </a:xfrm>
          <a:prstGeom prst="roundRect"/>
          <a:solidFill>
            <a:srgbClr val="FFFFFF"/>
          </a:solidFill>
          <a:ln w="762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7" name="text"/>
          <p:cNvSpPr txBox="1"/>
          <p:nvPr/>
        </p:nvSpPr>
        <p:spPr>
          <a:xfrm>
            <a:off x="10750000" y="5115000"/>
            <a:ext cx="7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850" b="1">
                <a:solidFill>
                  <a:srgbClr val="111827"/>
                </a:solidFill>
                <a:latin typeface="Aptos"/>
                <a:ea typeface="Malgun Gothic"/>
              </a:rPr>
              <a:t>final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1350000" y="5600000"/>
            <a:ext cx="9500000" cy="3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050" b="1">
                <a:solidFill>
                  <a:srgbClr val="111827"/>
                </a:solidFill>
                <a:latin typeface="Aptos"/>
                <a:ea typeface="Malgun Gothic"/>
              </a:rPr>
              <a:t>각 step의 checkpoint가 있어야 승인·복구·디버깅·Judge 재평가가 가능하다.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Human-in-the-loop: Side Effect는 승인 Gate로 격리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외부 발송·삭제·결제·재시작 같은 행동은 checkpoint 이후 승인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16/30</a:t>
            </a:r>
          </a:p>
        </p:txBody>
      </p:sp>
      <p:sp>
        <p:nvSpPr>
          <p:cNvPr id="11" name="card"/>
          <p:cNvSpPr/>
          <p:nvPr/>
        </p:nvSpPr>
        <p:spPr>
          <a:xfrm>
            <a:off x="820000" y="1900000"/>
            <a:ext cx="1850000" cy="10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20000" y="1900000"/>
            <a:ext cx="90000" cy="10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 title"/>
          <p:cNvSpPr txBox="1"/>
          <p:nvPr/>
        </p:nvSpPr>
        <p:spPr>
          <a:xfrm>
            <a:off x="990000" y="2025000"/>
            <a:ext cx="15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Draft Action</a:t>
            </a:r>
          </a:p>
        </p:txBody>
      </p:sp>
      <p:sp>
        <p:nvSpPr>
          <p:cNvPr id="14" name="card body"/>
          <p:cNvSpPr txBox="1"/>
          <p:nvPr/>
        </p:nvSpPr>
        <p:spPr>
          <a:xfrm>
            <a:off x="990000" y="2330000"/>
            <a:ext cx="1590000" cy="4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LLM이 제안</a:t>
            </a:r>
          </a:p>
        </p:txBody>
      </p:sp>
      <p:sp>
        <p:nvSpPr>
          <p:cNvPr id="15" name="line"/>
          <p:cNvSpPr/>
          <p:nvPr/>
        </p:nvSpPr>
        <p:spPr>
          <a:xfrm>
            <a:off x="2670000" y="2400000"/>
            <a:ext cx="150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arrowhead"/>
          <p:cNvSpPr txBox="1"/>
          <p:nvPr/>
        </p:nvSpPr>
        <p:spPr>
          <a:xfrm>
            <a:off x="2830000" y="23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17" name="card"/>
          <p:cNvSpPr/>
          <p:nvPr/>
        </p:nvSpPr>
        <p:spPr>
          <a:xfrm>
            <a:off x="2990000" y="1900000"/>
            <a:ext cx="1850000" cy="10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8" name="accent"/>
          <p:cNvSpPr/>
          <p:nvPr/>
        </p:nvSpPr>
        <p:spPr>
          <a:xfrm>
            <a:off x="2990000" y="1900000"/>
            <a:ext cx="90000" cy="10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card title"/>
          <p:cNvSpPr txBox="1"/>
          <p:nvPr/>
        </p:nvSpPr>
        <p:spPr>
          <a:xfrm>
            <a:off x="3160000" y="2025000"/>
            <a:ext cx="15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Approval Pack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3160000" y="2330000"/>
            <a:ext cx="1590000" cy="4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근거/위험/rollback</a:t>
            </a:r>
          </a:p>
        </p:txBody>
      </p:sp>
      <p:sp>
        <p:nvSpPr>
          <p:cNvPr id="21" name="line"/>
          <p:cNvSpPr/>
          <p:nvPr/>
        </p:nvSpPr>
        <p:spPr>
          <a:xfrm>
            <a:off x="4840000" y="2400000"/>
            <a:ext cx="150000" cy="3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arrowhead"/>
          <p:cNvSpPr txBox="1"/>
          <p:nvPr/>
        </p:nvSpPr>
        <p:spPr>
          <a:xfrm>
            <a:off x="5000000" y="23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3" name="card"/>
          <p:cNvSpPr/>
          <p:nvPr/>
        </p:nvSpPr>
        <p:spPr>
          <a:xfrm>
            <a:off x="5160000" y="1900000"/>
            <a:ext cx="1850000" cy="10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4" name="accent"/>
          <p:cNvSpPr/>
          <p:nvPr/>
        </p:nvSpPr>
        <p:spPr>
          <a:xfrm>
            <a:off x="5160000" y="1900000"/>
            <a:ext cx="90000" cy="10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card title"/>
          <p:cNvSpPr txBox="1"/>
          <p:nvPr/>
        </p:nvSpPr>
        <p:spPr>
          <a:xfrm>
            <a:off x="5330000" y="2025000"/>
            <a:ext cx="15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Human Review</a:t>
            </a:r>
          </a:p>
        </p:txBody>
      </p:sp>
      <p:sp>
        <p:nvSpPr>
          <p:cNvPr id="26" name="card body"/>
          <p:cNvSpPr txBox="1"/>
          <p:nvPr/>
        </p:nvSpPr>
        <p:spPr>
          <a:xfrm>
            <a:off x="5330000" y="2330000"/>
            <a:ext cx="1590000" cy="4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승인 또는 거절</a:t>
            </a:r>
          </a:p>
        </p:txBody>
      </p:sp>
      <p:sp>
        <p:nvSpPr>
          <p:cNvPr id="27" name="line"/>
          <p:cNvSpPr/>
          <p:nvPr/>
        </p:nvSpPr>
        <p:spPr>
          <a:xfrm>
            <a:off x="7010000" y="2400000"/>
            <a:ext cx="150000" cy="3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arrowhead"/>
          <p:cNvSpPr txBox="1"/>
          <p:nvPr/>
        </p:nvSpPr>
        <p:spPr>
          <a:xfrm>
            <a:off x="7170000" y="23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7C3AED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9" name="card"/>
          <p:cNvSpPr/>
          <p:nvPr/>
        </p:nvSpPr>
        <p:spPr>
          <a:xfrm>
            <a:off x="7330000" y="1900000"/>
            <a:ext cx="1850000" cy="100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0" name="accent"/>
          <p:cNvSpPr/>
          <p:nvPr/>
        </p:nvSpPr>
        <p:spPr>
          <a:xfrm>
            <a:off x="7330000" y="1900000"/>
            <a:ext cx="90000" cy="100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card title"/>
          <p:cNvSpPr txBox="1"/>
          <p:nvPr/>
        </p:nvSpPr>
        <p:spPr>
          <a:xfrm>
            <a:off x="7500000" y="2025000"/>
            <a:ext cx="15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Execute Tool</a:t>
            </a:r>
          </a:p>
        </p:txBody>
      </p:sp>
      <p:sp>
        <p:nvSpPr>
          <p:cNvPr id="32" name="card body"/>
          <p:cNvSpPr txBox="1"/>
          <p:nvPr/>
        </p:nvSpPr>
        <p:spPr>
          <a:xfrm>
            <a:off x="7500000" y="2330000"/>
            <a:ext cx="1590000" cy="4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승인 후 실행</a:t>
            </a:r>
          </a:p>
        </p:txBody>
      </p:sp>
      <p:sp>
        <p:nvSpPr>
          <p:cNvPr id="33" name="line"/>
          <p:cNvSpPr/>
          <p:nvPr/>
        </p:nvSpPr>
        <p:spPr>
          <a:xfrm>
            <a:off x="9180000" y="2400000"/>
            <a:ext cx="150000" cy="3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arrowhead"/>
          <p:cNvSpPr txBox="1"/>
          <p:nvPr/>
        </p:nvSpPr>
        <p:spPr>
          <a:xfrm>
            <a:off x="9340000" y="231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C262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5" name="card"/>
          <p:cNvSpPr/>
          <p:nvPr/>
        </p:nvSpPr>
        <p:spPr>
          <a:xfrm>
            <a:off x="9500000" y="1900000"/>
            <a:ext cx="1850000" cy="1000000"/>
          </a:xfrm>
          <a:prstGeom prst="roundRect"/>
          <a:solidFill>
            <a:srgbClr val="F0FDF4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6" name="accent"/>
          <p:cNvSpPr/>
          <p:nvPr/>
        </p:nvSpPr>
        <p:spPr>
          <a:xfrm>
            <a:off x="9500000" y="1900000"/>
            <a:ext cx="90000" cy="1000000"/>
          </a:xfrm>
          <a:prstGeom prst="rect"/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card title"/>
          <p:cNvSpPr txBox="1"/>
          <p:nvPr/>
        </p:nvSpPr>
        <p:spPr>
          <a:xfrm>
            <a:off x="9670000" y="2025000"/>
            <a:ext cx="15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Checkpoint Resume</a:t>
            </a:r>
          </a:p>
        </p:txBody>
      </p:sp>
      <p:sp>
        <p:nvSpPr>
          <p:cNvPr id="38" name="card body"/>
          <p:cNvSpPr txBox="1"/>
          <p:nvPr/>
        </p:nvSpPr>
        <p:spPr>
          <a:xfrm>
            <a:off x="9670000" y="2330000"/>
            <a:ext cx="1590000" cy="4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결과 반영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1100000" y="3900000"/>
            <a:ext cx="9700000" cy="90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200" b="1">
                <a:solidFill>
                  <a:srgbClr val="111827"/>
                </a:solidFill>
                <a:latin typeface="Aptos"/>
                <a:ea typeface="Malgun Gothic"/>
              </a:rPr>
              <a:t>Approval Context Pack</a:t>
            </a:r>
          </a:p>
          <a:p>
            <a:pPr>
              <a:buNone/>
            </a:pPr>
            <a:r>
              <a:rPr lang="ko-KR" sz="1450" b="1">
                <a:solidFill>
                  <a:srgbClr val="1F2937"/>
                </a:solidFill>
                <a:latin typeface="Aptos"/>
                <a:ea typeface="Malgun Gothic"/>
              </a:rPr>
              <a:t>proposed_action · reason · evidence · risk · rollback · source_refs만 사람에게 보여준다. 전체 대화나 raw state를 노출하지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Reference Agent 아키텍처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WebLog Analysis Agent의 context, tool, telemetry 흐름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17/30</a:t>
            </a:r>
          </a:p>
        </p:txBody>
      </p:sp>
      <p:sp>
        <p:nvSpPr>
          <p:cNvPr id="11" name="card"/>
          <p:cNvSpPr/>
          <p:nvPr/>
        </p:nvSpPr>
        <p:spPr>
          <a:xfrm>
            <a:off x="650000" y="1250000"/>
            <a:ext cx="2600000" cy="42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650000" y="1250000"/>
            <a:ext cx="90000" cy="42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79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1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210000" y="1375000"/>
            <a:ext cx="19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Input &amp; Context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210000" y="1680000"/>
            <a:ext cx="1940000" cy="36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User input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Access log path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System prompt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Tool policy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Output contract</a:t>
            </a:r>
          </a:p>
        </p:txBody>
      </p:sp>
      <p:sp>
        <p:nvSpPr>
          <p:cNvPr id="16" name="card"/>
          <p:cNvSpPr/>
          <p:nvPr/>
        </p:nvSpPr>
        <p:spPr>
          <a:xfrm>
            <a:off x="3650000" y="1250000"/>
            <a:ext cx="3800000" cy="42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3650000" y="1250000"/>
            <a:ext cx="90000" cy="42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379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2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4210000" y="1375000"/>
            <a:ext cx="31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LangGraph-style ReAct Core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4210000" y="1680000"/>
            <a:ext cx="3140000" cy="36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initialize_agent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react_agent loop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deterministic tools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RAG retriever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MCP service context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validate_findings</a:t>
            </a:r>
          </a:p>
        </p:txBody>
      </p:sp>
      <p:sp>
        <p:nvSpPr>
          <p:cNvPr id="21" name="card"/>
          <p:cNvSpPr/>
          <p:nvPr/>
        </p:nvSpPr>
        <p:spPr>
          <a:xfrm>
            <a:off x="7900000" y="1250000"/>
            <a:ext cx="3600000" cy="42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7900000" y="1250000"/>
            <a:ext cx="90000" cy="42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04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3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8460000" y="1375000"/>
            <a:ext cx="29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Output &amp; Telemetry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8460000" y="1680000"/>
            <a:ext cx="2940000" cy="36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state.finalReport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validation_result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TraceLogger JSONL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node/tool/llm/rag/mcp events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Judge Agent input</a:t>
            </a:r>
          </a:p>
        </p:txBody>
      </p:sp>
      <p:sp>
        <p:nvSpPr>
          <p:cNvPr id="26" name="line"/>
          <p:cNvSpPr/>
          <p:nvPr/>
        </p:nvSpPr>
        <p:spPr>
          <a:xfrm>
            <a:off x="3250000" y="3350000"/>
            <a:ext cx="300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rrowhead"/>
          <p:cNvSpPr txBox="1"/>
          <p:nvPr/>
        </p:nvSpPr>
        <p:spPr>
          <a:xfrm>
            <a:off x="3560000" y="32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8" name="line"/>
          <p:cNvSpPr/>
          <p:nvPr/>
        </p:nvSpPr>
        <p:spPr>
          <a:xfrm>
            <a:off x="7450000" y="3350000"/>
            <a:ext cx="350000" cy="3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arrowhead"/>
          <p:cNvSpPr txBox="1"/>
          <p:nvPr/>
        </p:nvSpPr>
        <p:spPr>
          <a:xfrm>
            <a:off x="7810000" y="32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Reference Agent 실행 흐름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최종 보고서가 만들어지는 경로를 단계별로 관측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18/30</a:t>
            </a:r>
          </a:p>
        </p:txBody>
      </p:sp>
      <p:sp>
        <p:nvSpPr>
          <p:cNvPr id="11" name="rect"/>
          <p:cNvSpPr/>
          <p:nvPr/>
        </p:nvSpPr>
        <p:spPr>
          <a:xfrm>
            <a:off x="720000" y="1450000"/>
            <a:ext cx="1450000" cy="800000"/>
          </a:xfrm>
          <a:prstGeom prst="roundRect"/>
          <a:solidFill>
            <a:srgbClr val="EFF6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780000" y="1555000"/>
            <a:ext cx="1330000" cy="2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900" b="1">
                <a:solidFill>
                  <a:srgbClr val="2563EB"/>
                </a:solidFill>
                <a:latin typeface="Aptos"/>
                <a:ea typeface="Malgun Gothic"/>
              </a:rPr>
              <a:t>run_start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790000" y="1820000"/>
            <a:ext cx="131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>
                <a:solidFill>
                  <a:srgbClr val="111827"/>
                </a:solidFill>
                <a:latin typeface="Aptos"/>
                <a:ea typeface="Malgun Gothic"/>
              </a:rPr>
              <a:t>버전/구성 기록</a:t>
            </a:r>
          </a:p>
        </p:txBody>
      </p:sp>
      <p:sp>
        <p:nvSpPr>
          <p:cNvPr id="14" name="line"/>
          <p:cNvSpPr/>
          <p:nvPr/>
        </p:nvSpPr>
        <p:spPr>
          <a:xfrm>
            <a:off x="2170000" y="1840000"/>
            <a:ext cx="50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arrowhead"/>
          <p:cNvSpPr txBox="1"/>
          <p:nvPr/>
        </p:nvSpPr>
        <p:spPr>
          <a:xfrm>
            <a:off x="2230000" y="175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16" name="rect"/>
          <p:cNvSpPr/>
          <p:nvPr/>
        </p:nvSpPr>
        <p:spPr>
          <a:xfrm>
            <a:off x="2380000" y="1450000"/>
            <a:ext cx="1450000" cy="800000"/>
          </a:xfrm>
          <a:prstGeom prst="roundRect"/>
          <a:solidFill>
            <a:srgbClr val="ECFDF5"/>
          </a:solidFill>
          <a:ln w="7620">
            <a:solidFill>
              <a:srgbClr val="0F766E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2440000" y="1555000"/>
            <a:ext cx="1330000" cy="2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900" b="1">
                <a:solidFill>
                  <a:srgbClr val="0F766E"/>
                </a:solidFill>
                <a:latin typeface="Aptos"/>
                <a:ea typeface="Malgun Gothic"/>
              </a:rPr>
              <a:t>instruction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2450000" y="1820000"/>
            <a:ext cx="131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>
                <a:solidFill>
                  <a:srgbClr val="111827"/>
                </a:solidFill>
                <a:latin typeface="Aptos"/>
                <a:ea typeface="Malgun Gothic"/>
              </a:rPr>
              <a:t>prompt snapshot</a:t>
            </a:r>
          </a:p>
        </p:txBody>
      </p:sp>
      <p:sp>
        <p:nvSpPr>
          <p:cNvPr id="19" name="line"/>
          <p:cNvSpPr/>
          <p:nvPr/>
        </p:nvSpPr>
        <p:spPr>
          <a:xfrm>
            <a:off x="3830000" y="1840000"/>
            <a:ext cx="50000" cy="3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arrowhead"/>
          <p:cNvSpPr txBox="1"/>
          <p:nvPr/>
        </p:nvSpPr>
        <p:spPr>
          <a:xfrm>
            <a:off x="3890000" y="175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1" name="rect"/>
          <p:cNvSpPr/>
          <p:nvPr/>
        </p:nvSpPr>
        <p:spPr>
          <a:xfrm>
            <a:off x="4040000" y="1450000"/>
            <a:ext cx="1450000" cy="800000"/>
          </a:xfrm>
          <a:prstGeom prst="roundRect"/>
          <a:solidFill>
            <a:srgbClr val="F5F3FF"/>
          </a:solidFill>
          <a:ln w="762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4100000" y="1555000"/>
            <a:ext cx="1330000" cy="2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900" b="1">
                <a:solidFill>
                  <a:srgbClr val="7C3AED"/>
                </a:solidFill>
                <a:latin typeface="Aptos"/>
                <a:ea typeface="Malgun Gothic"/>
              </a:rPr>
              <a:t>ReAct loop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110000" y="1820000"/>
            <a:ext cx="131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>
                <a:solidFill>
                  <a:srgbClr val="111827"/>
                </a:solidFill>
                <a:latin typeface="Aptos"/>
                <a:ea typeface="Malgun Gothic"/>
              </a:rPr>
              <a:t>tool 선택/observation</a:t>
            </a:r>
          </a:p>
        </p:txBody>
      </p:sp>
      <p:sp>
        <p:nvSpPr>
          <p:cNvPr id="24" name="line"/>
          <p:cNvSpPr/>
          <p:nvPr/>
        </p:nvSpPr>
        <p:spPr>
          <a:xfrm>
            <a:off x="5490000" y="1840000"/>
            <a:ext cx="50000" cy="3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arrowhead"/>
          <p:cNvSpPr txBox="1"/>
          <p:nvPr/>
        </p:nvSpPr>
        <p:spPr>
          <a:xfrm>
            <a:off x="5550000" y="175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7C3AED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6" name="rect"/>
          <p:cNvSpPr/>
          <p:nvPr/>
        </p:nvSpPr>
        <p:spPr>
          <a:xfrm>
            <a:off x="5700000" y="1450000"/>
            <a:ext cx="1450000" cy="800000"/>
          </a:xfrm>
          <a:prstGeom prst="roundRect"/>
          <a:solidFill>
            <a:srgbClr val="FFFBEB"/>
          </a:solidFill>
          <a:ln w="7620">
            <a:solidFill>
              <a:srgbClr val="D97706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5760000" y="1555000"/>
            <a:ext cx="1330000" cy="2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900" b="1">
                <a:solidFill>
                  <a:srgbClr val="D97706"/>
                </a:solidFill>
                <a:latin typeface="Aptos"/>
                <a:ea typeface="Malgun Gothic"/>
              </a:rPr>
              <a:t>tools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770000" y="1820000"/>
            <a:ext cx="131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>
                <a:solidFill>
                  <a:srgbClr val="111827"/>
                </a:solidFill>
                <a:latin typeface="Aptos"/>
                <a:ea typeface="Malgun Gothic"/>
              </a:rPr>
              <a:t>logs/metrics/anomaly</a:t>
            </a:r>
          </a:p>
        </p:txBody>
      </p:sp>
      <p:sp>
        <p:nvSpPr>
          <p:cNvPr id="29" name="line"/>
          <p:cNvSpPr/>
          <p:nvPr/>
        </p:nvSpPr>
        <p:spPr>
          <a:xfrm>
            <a:off x="7150000" y="1840000"/>
            <a:ext cx="50000" cy="3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arrowhead"/>
          <p:cNvSpPr txBox="1"/>
          <p:nvPr/>
        </p:nvSpPr>
        <p:spPr>
          <a:xfrm>
            <a:off x="7210000" y="175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9770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1" name="rect"/>
          <p:cNvSpPr/>
          <p:nvPr/>
        </p:nvSpPr>
        <p:spPr>
          <a:xfrm>
            <a:off x="7360000" y="1450000"/>
            <a:ext cx="1450000" cy="800000"/>
          </a:xfrm>
          <a:prstGeom prst="roundRect"/>
          <a:solidFill>
            <a:srgbClr val="ECFEFF"/>
          </a:solidFill>
          <a:ln w="762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7420000" y="1555000"/>
            <a:ext cx="1330000" cy="2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900" b="1">
                <a:solidFill>
                  <a:srgbClr val="0891B2"/>
                </a:solidFill>
                <a:latin typeface="Aptos"/>
                <a:ea typeface="Malgun Gothic"/>
              </a:rPr>
              <a:t>RAG/MCP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430000" y="1820000"/>
            <a:ext cx="131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>
                <a:solidFill>
                  <a:srgbClr val="111827"/>
                </a:solidFill>
                <a:latin typeface="Aptos"/>
                <a:ea typeface="Malgun Gothic"/>
              </a:rPr>
              <a:t>runbook/service metadata</a:t>
            </a:r>
          </a:p>
        </p:txBody>
      </p:sp>
      <p:sp>
        <p:nvSpPr>
          <p:cNvPr id="34" name="line"/>
          <p:cNvSpPr/>
          <p:nvPr/>
        </p:nvSpPr>
        <p:spPr>
          <a:xfrm>
            <a:off x="8810000" y="1840000"/>
            <a:ext cx="50000" cy="30000"/>
          </a:xfrm>
          <a:prstGeom prst="rect"/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arrowhead"/>
          <p:cNvSpPr txBox="1"/>
          <p:nvPr/>
        </p:nvSpPr>
        <p:spPr>
          <a:xfrm>
            <a:off x="8870000" y="175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891B2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6" name="rect"/>
          <p:cNvSpPr/>
          <p:nvPr/>
        </p:nvSpPr>
        <p:spPr>
          <a:xfrm>
            <a:off x="9020000" y="1450000"/>
            <a:ext cx="1450000" cy="800000"/>
          </a:xfrm>
          <a:prstGeom prst="roundRect"/>
          <a:solidFill>
            <a:srgbClr val="FEF2F2"/>
          </a:solidFill>
          <a:ln w="762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9080000" y="1555000"/>
            <a:ext cx="1330000" cy="2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900" b="1">
                <a:solidFill>
                  <a:srgbClr val="DC2626"/>
                </a:solidFill>
                <a:latin typeface="Aptos"/>
                <a:ea typeface="Malgun Gothic"/>
              </a:rPr>
              <a:t>validate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9090000" y="1820000"/>
            <a:ext cx="131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>
                <a:solidFill>
                  <a:srgbClr val="111827"/>
                </a:solidFill>
                <a:latin typeface="Aptos"/>
                <a:ea typeface="Malgun Gothic"/>
              </a:rPr>
              <a:t>claim/evidence gate</a:t>
            </a:r>
          </a:p>
        </p:txBody>
      </p:sp>
      <p:sp>
        <p:nvSpPr>
          <p:cNvPr id="39" name="line"/>
          <p:cNvSpPr/>
          <p:nvPr/>
        </p:nvSpPr>
        <p:spPr>
          <a:xfrm>
            <a:off x="10470000" y="1840000"/>
            <a:ext cx="50000" cy="3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arrowhead"/>
          <p:cNvSpPr txBox="1"/>
          <p:nvPr/>
        </p:nvSpPr>
        <p:spPr>
          <a:xfrm>
            <a:off x="10530000" y="175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C262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41" name="rect"/>
          <p:cNvSpPr/>
          <p:nvPr/>
        </p:nvSpPr>
        <p:spPr>
          <a:xfrm>
            <a:off x="10680000" y="1450000"/>
            <a:ext cx="1450000" cy="800000"/>
          </a:xfrm>
          <a:prstGeom prst="roundRect"/>
          <a:solidFill>
            <a:srgbClr val="F0FDF4"/>
          </a:solidFill>
          <a:ln w="762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2" name="text"/>
          <p:cNvSpPr txBox="1"/>
          <p:nvPr/>
        </p:nvSpPr>
        <p:spPr>
          <a:xfrm>
            <a:off x="10740000" y="1555000"/>
            <a:ext cx="1330000" cy="2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900" b="1">
                <a:solidFill>
                  <a:srgbClr val="16A34A"/>
                </a:solidFill>
                <a:latin typeface="Aptos"/>
                <a:ea typeface="Malgun Gothic"/>
              </a:rPr>
              <a:t>final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10750000" y="1820000"/>
            <a:ext cx="131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760">
                <a:solidFill>
                  <a:srgbClr val="111827"/>
                </a:solidFill>
                <a:latin typeface="Aptos"/>
                <a:ea typeface="Malgun Gothic"/>
              </a:rPr>
              <a:t>report + run_end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950000" y="3150000"/>
            <a:ext cx="10000000" cy="160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400" b="1">
                <a:solidFill>
                  <a:srgbClr val="111827"/>
                </a:solidFill>
                <a:latin typeface="Aptos"/>
                <a:ea typeface="Malgun Gothic"/>
              </a:rPr>
              <a:t>Judge Agent가 봐야 하는 것은 final report 하나가 아니다</a:t>
            </a:r>
          </a:p>
          <a:p>
            <a:pPr>
              <a:buNone/>
            </a:pPr>
            <a:r>
              <a:rPr lang="ko-KR" sz="1700" b="1">
                <a:solidFill>
                  <a:srgbClr val="1F2937"/>
                </a:solidFill>
                <a:latin typeface="Aptos"/>
                <a:ea typeface="Malgun Gothic"/>
              </a:rPr>
              <a:t>실행 경로, state 변화, tool 결과, RAG 출처, MCP 메타데이터, validation issue를 함께 봐야 drift를 판단할 수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TraceLogger: Drift Telemetry의 단일 Sink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모든 관측 이벤트를 run_id 기준으로 연결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19/30</a:t>
            </a:r>
          </a:p>
        </p:txBody>
      </p:sp>
      <p:sp>
        <p:nvSpPr>
          <p:cNvPr id="11" name="rect"/>
          <p:cNvSpPr/>
          <p:nvPr/>
        </p:nvSpPr>
        <p:spPr>
          <a:xfrm>
            <a:off x="800000" y="1500000"/>
            <a:ext cx="4700000" cy="2400000"/>
          </a:xfrm>
          <a:prstGeom prst="roundRect"/>
          <a:solidFill>
            <a:srgbClr val="F8FAFC"/>
          </a:solidFill>
          <a:ln w="762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930000" y="1600000"/>
            <a:ext cx="444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 b="1">
                <a:solidFill>
                  <a:srgbClr val="2563EB"/>
                </a:solidFill>
                <a:latin typeface="Aptos"/>
                <a:ea typeface="Malgun Gothic"/>
              </a:rPr>
              <a:t>TraceLogger 핵심 흐름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930000" y="1890000"/>
            <a:ext cx="4440000" cy="19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trace.emit(event_type, **payload)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→ add run_id / timestamp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→ redact secrets / PII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→ write JSONL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→ optional collector export</a:t>
            </a:r>
          </a:p>
        </p:txBody>
      </p:sp>
      <p:sp>
        <p:nvSpPr>
          <p:cNvPr id="14" name="card"/>
          <p:cNvSpPr/>
          <p:nvPr/>
        </p:nvSpPr>
        <p:spPr>
          <a:xfrm>
            <a:off x="5900000" y="1450000"/>
            <a:ext cx="2500000" cy="25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5" name="accent"/>
          <p:cNvSpPr/>
          <p:nvPr/>
        </p:nvSpPr>
        <p:spPr>
          <a:xfrm>
            <a:off x="5900000" y="1450000"/>
            <a:ext cx="90000" cy="25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6040000" y="15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E</a:t>
            </a:r>
          </a:p>
        </p:txBody>
      </p:sp>
      <p:sp>
        <p:nvSpPr>
          <p:cNvPr id="17" name="card title"/>
          <p:cNvSpPr txBox="1"/>
          <p:nvPr/>
        </p:nvSpPr>
        <p:spPr>
          <a:xfrm>
            <a:off x="6460000" y="1575000"/>
            <a:ext cx="18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필수 이벤트</a:t>
            </a:r>
          </a:p>
        </p:txBody>
      </p:sp>
      <p:sp>
        <p:nvSpPr>
          <p:cNvPr id="18" name="card body"/>
          <p:cNvSpPr txBox="1"/>
          <p:nvPr/>
        </p:nvSpPr>
        <p:spPr>
          <a:xfrm>
            <a:off x="6460000" y="1880000"/>
            <a:ext cx="1840000" cy="19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run_start / run_end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instruction_snapshot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llm_start / end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tool_start / end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final_output</a:t>
            </a:r>
          </a:p>
        </p:txBody>
      </p:sp>
      <p:sp>
        <p:nvSpPr>
          <p:cNvPr id="19" name="card"/>
          <p:cNvSpPr/>
          <p:nvPr/>
        </p:nvSpPr>
        <p:spPr>
          <a:xfrm>
            <a:off x="8750000" y="1450000"/>
            <a:ext cx="2500000" cy="25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0" name="accent"/>
          <p:cNvSpPr/>
          <p:nvPr/>
        </p:nvSpPr>
        <p:spPr>
          <a:xfrm>
            <a:off x="8750000" y="1450000"/>
            <a:ext cx="90000" cy="25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8890000" y="15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+</a:t>
            </a:r>
          </a:p>
        </p:txBody>
      </p:sp>
      <p:sp>
        <p:nvSpPr>
          <p:cNvPr id="22" name="card title"/>
          <p:cNvSpPr txBox="1"/>
          <p:nvPr/>
        </p:nvSpPr>
        <p:spPr>
          <a:xfrm>
            <a:off x="9310000" y="1575000"/>
            <a:ext cx="18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권장 이벤트</a:t>
            </a:r>
          </a:p>
        </p:txBody>
      </p:sp>
      <p:sp>
        <p:nvSpPr>
          <p:cNvPr id="23" name="card body"/>
          <p:cNvSpPr txBox="1"/>
          <p:nvPr/>
        </p:nvSpPr>
        <p:spPr>
          <a:xfrm>
            <a:off x="9310000" y="1880000"/>
            <a:ext cx="1840000" cy="19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node_start / end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edge_selected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react_step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rag retrieval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validation_result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1000000" y="4550000"/>
            <a:ext cx="9900000" cy="70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400" b="1">
                <a:solidFill>
                  <a:srgbClr val="111827"/>
                </a:solidFill>
                <a:latin typeface="Aptos"/>
                <a:ea typeface="Malgun Gothic"/>
              </a:rPr>
              <a:t>운영 원칙 · Telemetry는 나중에 붙이는 로그가 아니라, Agent 생성 시점부터 주입되는 실행 증거 계층이다.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Telemetry Event Taxonomy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어떤 이벤트가 어떤 질문에 답하는가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20/30</a:t>
            </a:r>
          </a:p>
        </p:txBody>
      </p:sp>
      <p:sp>
        <p:nvSpPr>
          <p:cNvPr id="11" name="rect"/>
          <p:cNvSpPr/>
          <p:nvPr/>
        </p:nvSpPr>
        <p:spPr>
          <a:xfrm>
            <a:off x="700000" y="1160000"/>
            <a:ext cx="2550000" cy="1180000"/>
          </a:xfrm>
          <a:prstGeom prst="roundRect"/>
          <a:solidFill>
            <a:srgbClr val="EFF6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790000" y="1250000"/>
            <a:ext cx="2370000" cy="2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2563EB"/>
                </a:solidFill>
                <a:latin typeface="Aptos"/>
                <a:ea typeface="Malgun Gothic"/>
              </a:rPr>
              <a:t>Lifecycle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790000" y="1510000"/>
            <a:ext cx="237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 b="1">
                <a:solidFill>
                  <a:srgbClr val="111827"/>
                </a:solidFill>
                <a:latin typeface="Aptos"/>
                <a:ea typeface="Malgun Gothic"/>
              </a:rPr>
              <a:t>어떤 agent/version/model인가?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790000" y="1860000"/>
            <a:ext cx="237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>
                <a:solidFill>
                  <a:srgbClr val="64748B"/>
                </a:solidFill>
                <a:latin typeface="Aptos"/>
                <a:ea typeface="Malgun Gothic"/>
              </a:rPr>
              <a:t>run_start, run_end</a:t>
            </a:r>
          </a:p>
        </p:txBody>
      </p:sp>
      <p:sp>
        <p:nvSpPr>
          <p:cNvPr id="15" name="rect"/>
          <p:cNvSpPr/>
          <p:nvPr/>
        </p:nvSpPr>
        <p:spPr>
          <a:xfrm>
            <a:off x="3500000" y="1160000"/>
            <a:ext cx="2550000" cy="1180000"/>
          </a:xfrm>
          <a:prstGeom prst="roundRect"/>
          <a:solidFill>
            <a:srgbClr val="ECFDF5"/>
          </a:solidFill>
          <a:ln w="7620">
            <a:solidFill>
              <a:srgbClr val="0F766E"/>
            </a:solidFill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3590000" y="1250000"/>
            <a:ext cx="2370000" cy="2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0F766E"/>
                </a:solidFill>
                <a:latin typeface="Aptos"/>
                <a:ea typeface="Malgun Gothic"/>
              </a:rPr>
              <a:t>Prompt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3590000" y="1510000"/>
            <a:ext cx="237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 b="1">
                <a:solidFill>
                  <a:srgbClr val="111827"/>
                </a:solidFill>
                <a:latin typeface="Aptos"/>
                <a:ea typeface="Malgun Gothic"/>
              </a:rPr>
              <a:t>어떤 지시로 실행됐는가?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3590000" y="1860000"/>
            <a:ext cx="237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>
                <a:solidFill>
                  <a:srgbClr val="64748B"/>
                </a:solidFill>
                <a:latin typeface="Aptos"/>
                <a:ea typeface="Malgun Gothic"/>
              </a:rPr>
              <a:t>instruction_snapshot</a:t>
            </a:r>
          </a:p>
        </p:txBody>
      </p:sp>
      <p:sp>
        <p:nvSpPr>
          <p:cNvPr id="19" name="rect"/>
          <p:cNvSpPr/>
          <p:nvPr/>
        </p:nvSpPr>
        <p:spPr>
          <a:xfrm>
            <a:off x="6300000" y="1160000"/>
            <a:ext cx="2550000" cy="1180000"/>
          </a:xfrm>
          <a:prstGeom prst="roundRect"/>
          <a:solidFill>
            <a:srgbClr val="F5F3FF"/>
          </a:solidFill>
          <a:ln w="762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20" name="text"/>
          <p:cNvSpPr txBox="1"/>
          <p:nvPr/>
        </p:nvSpPr>
        <p:spPr>
          <a:xfrm>
            <a:off x="6390000" y="1250000"/>
            <a:ext cx="2370000" cy="2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7C3AED"/>
                </a:solidFill>
                <a:latin typeface="Aptos"/>
                <a:ea typeface="Malgun Gothic"/>
              </a:rPr>
              <a:t>Graph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390000" y="1510000"/>
            <a:ext cx="237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 b="1">
                <a:solidFill>
                  <a:srgbClr val="111827"/>
                </a:solidFill>
                <a:latin typeface="Aptos"/>
                <a:ea typeface="Malgun Gothic"/>
              </a:rPr>
              <a:t>어떤 경로로 실행됐는가?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390000" y="1860000"/>
            <a:ext cx="237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>
                <a:solidFill>
                  <a:srgbClr val="64748B"/>
                </a:solidFill>
                <a:latin typeface="Aptos"/>
                <a:ea typeface="Malgun Gothic"/>
              </a:rPr>
              <a:t>node_start/end, edge_selected</a:t>
            </a:r>
          </a:p>
        </p:txBody>
      </p:sp>
      <p:sp>
        <p:nvSpPr>
          <p:cNvPr id="23" name="rect"/>
          <p:cNvSpPr/>
          <p:nvPr/>
        </p:nvSpPr>
        <p:spPr>
          <a:xfrm>
            <a:off x="9100000" y="1160000"/>
            <a:ext cx="2550000" cy="1180000"/>
          </a:xfrm>
          <a:prstGeom prst="roundRect"/>
          <a:solidFill>
            <a:srgbClr val="FFFBEB"/>
          </a:solidFill>
          <a:ln w="7620">
            <a:solidFill>
              <a:srgbClr val="D97706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9190000" y="1250000"/>
            <a:ext cx="2370000" cy="2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D97706"/>
                </a:solidFill>
                <a:latin typeface="Aptos"/>
                <a:ea typeface="Malgun Gothic"/>
              </a:rPr>
              <a:t>ReAct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190000" y="1510000"/>
            <a:ext cx="237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 b="1">
                <a:solidFill>
                  <a:srgbClr val="111827"/>
                </a:solidFill>
                <a:latin typeface="Aptos"/>
                <a:ea typeface="Malgun Gothic"/>
              </a:rPr>
              <a:t>왜 이 action을 골랐는가?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9190000" y="1860000"/>
            <a:ext cx="237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>
                <a:solidFill>
                  <a:srgbClr val="64748B"/>
                </a:solidFill>
                <a:latin typeface="Aptos"/>
                <a:ea typeface="Malgun Gothic"/>
              </a:rPr>
              <a:t>react_step, observation</a:t>
            </a:r>
          </a:p>
        </p:txBody>
      </p:sp>
      <p:sp>
        <p:nvSpPr>
          <p:cNvPr id="27" name="rect"/>
          <p:cNvSpPr/>
          <p:nvPr/>
        </p:nvSpPr>
        <p:spPr>
          <a:xfrm>
            <a:off x="700000" y="2570000"/>
            <a:ext cx="2550000" cy="1180000"/>
          </a:xfrm>
          <a:prstGeom prst="roundRect"/>
          <a:solidFill>
            <a:srgbClr val="FEF2F2"/>
          </a:solidFill>
          <a:ln w="762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790000" y="2660000"/>
            <a:ext cx="2370000" cy="2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DC2626"/>
                </a:solidFill>
                <a:latin typeface="Aptos"/>
                <a:ea typeface="Malgun Gothic"/>
              </a:rPr>
              <a:t>Tool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790000" y="2920000"/>
            <a:ext cx="237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 b="1">
                <a:solidFill>
                  <a:srgbClr val="111827"/>
                </a:solidFill>
                <a:latin typeface="Aptos"/>
                <a:ea typeface="Malgun Gothic"/>
              </a:rPr>
              <a:t>주장의 근거가 있는가?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790000" y="3270000"/>
            <a:ext cx="237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>
                <a:solidFill>
                  <a:srgbClr val="64748B"/>
                </a:solidFill>
                <a:latin typeface="Aptos"/>
                <a:ea typeface="Malgun Gothic"/>
              </a:rPr>
              <a:t>tool_start/end/error</a:t>
            </a:r>
          </a:p>
        </p:txBody>
      </p:sp>
      <p:sp>
        <p:nvSpPr>
          <p:cNvPr id="31" name="rect"/>
          <p:cNvSpPr/>
          <p:nvPr/>
        </p:nvSpPr>
        <p:spPr>
          <a:xfrm>
            <a:off x="3500000" y="2570000"/>
            <a:ext cx="2550000" cy="1180000"/>
          </a:xfrm>
          <a:prstGeom prst="roundRect"/>
          <a:solidFill>
            <a:srgbClr val="ECFEFF"/>
          </a:solidFill>
          <a:ln w="762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3590000" y="2660000"/>
            <a:ext cx="2370000" cy="2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0891B2"/>
                </a:solidFill>
                <a:latin typeface="Aptos"/>
                <a:ea typeface="Malgun Gothic"/>
              </a:rPr>
              <a:t>External Context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590000" y="2920000"/>
            <a:ext cx="237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 b="1">
                <a:solidFill>
                  <a:srgbClr val="111827"/>
                </a:solidFill>
                <a:latin typeface="Aptos"/>
                <a:ea typeface="Malgun Gothic"/>
              </a:rPr>
              <a:t>어떤 외부 맥락을 썼는가?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3590000" y="3270000"/>
            <a:ext cx="237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>
                <a:solidFill>
                  <a:srgbClr val="64748B"/>
                </a:solidFill>
                <a:latin typeface="Aptos"/>
                <a:ea typeface="Malgun Gothic"/>
              </a:rPr>
              <a:t>rag, mcp events</a:t>
            </a:r>
          </a:p>
        </p:txBody>
      </p:sp>
      <p:sp>
        <p:nvSpPr>
          <p:cNvPr id="35" name="rect"/>
          <p:cNvSpPr/>
          <p:nvPr/>
        </p:nvSpPr>
        <p:spPr>
          <a:xfrm>
            <a:off x="6300000" y="2570000"/>
            <a:ext cx="2550000" cy="1180000"/>
          </a:xfrm>
          <a:prstGeom prst="roundRect"/>
          <a:solidFill>
            <a:srgbClr val="F0FDF4"/>
          </a:solidFill>
          <a:ln w="762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6" name="text"/>
          <p:cNvSpPr txBox="1"/>
          <p:nvPr/>
        </p:nvSpPr>
        <p:spPr>
          <a:xfrm>
            <a:off x="6390000" y="2660000"/>
            <a:ext cx="2370000" cy="2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16A34A"/>
                </a:solidFill>
                <a:latin typeface="Aptos"/>
                <a:ea typeface="Malgun Gothic"/>
              </a:rPr>
              <a:t>LLM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6390000" y="2920000"/>
            <a:ext cx="237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 b="1">
                <a:solidFill>
                  <a:srgbClr val="111827"/>
                </a:solidFill>
                <a:latin typeface="Aptos"/>
                <a:ea typeface="Malgun Gothic"/>
              </a:rPr>
              <a:t>모델이 무엇을 봤는가?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6390000" y="3270000"/>
            <a:ext cx="237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>
                <a:solidFill>
                  <a:srgbClr val="64748B"/>
                </a:solidFill>
                <a:latin typeface="Aptos"/>
                <a:ea typeface="Malgun Gothic"/>
              </a:rPr>
              <a:t>llm_start/end/usage</a:t>
            </a:r>
          </a:p>
        </p:txBody>
      </p:sp>
      <p:sp>
        <p:nvSpPr>
          <p:cNvPr id="39" name="rect"/>
          <p:cNvSpPr/>
          <p:nvPr/>
        </p:nvSpPr>
        <p:spPr>
          <a:xfrm>
            <a:off x="9100000" y="2570000"/>
            <a:ext cx="2550000" cy="1180000"/>
          </a:xfrm>
          <a:prstGeom prst="roundRect"/>
          <a:solidFill>
            <a:srgbClr val="F3F6FA"/>
          </a:solidFill>
          <a:ln w="762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0" name="text"/>
          <p:cNvSpPr txBox="1"/>
          <p:nvPr/>
        </p:nvSpPr>
        <p:spPr>
          <a:xfrm>
            <a:off x="9190000" y="2660000"/>
            <a:ext cx="2370000" cy="2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80" b="1">
                <a:solidFill>
                  <a:srgbClr val="111827"/>
                </a:solidFill>
                <a:latin typeface="Aptos"/>
                <a:ea typeface="Malgun Gothic"/>
              </a:rPr>
              <a:t>Validation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9190000" y="2920000"/>
            <a:ext cx="237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 b="1">
                <a:solidFill>
                  <a:srgbClr val="111827"/>
                </a:solidFill>
                <a:latin typeface="Aptos"/>
                <a:ea typeface="Malgun Gothic"/>
              </a:rPr>
              <a:t>최종 품질은 통과했는가?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9190000" y="3270000"/>
            <a:ext cx="237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>
                <a:solidFill>
                  <a:srgbClr val="64748B"/>
                </a:solidFill>
                <a:latin typeface="Aptos"/>
                <a:ea typeface="Malgun Gothic"/>
              </a:rPr>
              <a:t>validation_result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Collector Payload: Trace를 운영 데이터로 만들기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JSONL 파일에서 중앙 관측 시스템으로 확장 가능한 이벤트 구조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21/30</a:t>
            </a:r>
          </a:p>
        </p:txBody>
      </p:sp>
      <p:sp>
        <p:nvSpPr>
          <p:cNvPr id="11" name="rect"/>
          <p:cNvSpPr/>
          <p:nvPr/>
        </p:nvSpPr>
        <p:spPr>
          <a:xfrm>
            <a:off x="850000" y="1200000"/>
            <a:ext cx="5600000" cy="4200000"/>
          </a:xfrm>
          <a:prstGeom prst="roundRect"/>
          <a:solidFill>
            <a:srgbClr val="F8FAFC"/>
          </a:solidFill>
          <a:ln w="762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980000" y="1300000"/>
            <a:ext cx="534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 b="1">
                <a:solidFill>
                  <a:srgbClr val="2563EB"/>
                </a:solidFill>
                <a:latin typeface="Aptos"/>
                <a:ea typeface="Malgun Gothic"/>
              </a:rPr>
              <a:t>권장 이벤트 스키마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980000" y="1590000"/>
            <a:ext cx="5340000" cy="37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{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type: "tool_end",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run_id: "run-123",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timestamp: "2026-05-15T00:00:00Z",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agent_name: "weblog-react-agent",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node: "react_agent",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tool: "compute_log_metrics",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input_summary: {...},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output_summary: {...},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raw_output_ref: "artifact://...",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redacted: true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}</a:t>
            </a:r>
          </a:p>
        </p:txBody>
      </p:sp>
      <p:sp>
        <p:nvSpPr>
          <p:cNvPr id="14" name="card"/>
          <p:cNvSpPr/>
          <p:nvPr/>
        </p:nvSpPr>
        <p:spPr>
          <a:xfrm>
            <a:off x="6800000" y="1250000"/>
            <a:ext cx="4300000" cy="18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5" name="accent"/>
          <p:cNvSpPr/>
          <p:nvPr/>
        </p:nvSpPr>
        <p:spPr>
          <a:xfrm>
            <a:off x="6800000" y="1250000"/>
            <a:ext cx="90000" cy="18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694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K</a:t>
            </a:r>
          </a:p>
        </p:txBody>
      </p:sp>
      <p:sp>
        <p:nvSpPr>
          <p:cNvPr id="17" name="card title"/>
          <p:cNvSpPr txBox="1"/>
          <p:nvPr/>
        </p:nvSpPr>
        <p:spPr>
          <a:xfrm>
            <a:off x="7360000" y="1375000"/>
            <a:ext cx="3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Correlation Keys</a:t>
            </a:r>
          </a:p>
        </p:txBody>
      </p:sp>
      <p:sp>
        <p:nvSpPr>
          <p:cNvPr id="18" name="card body"/>
          <p:cNvSpPr txBox="1"/>
          <p:nvPr/>
        </p:nvSpPr>
        <p:spPr>
          <a:xfrm>
            <a:off x="7360000" y="1680000"/>
            <a:ext cx="3640000" cy="12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run_id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thread_id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agent_version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graph_version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node / step</a:t>
            </a:r>
          </a:p>
        </p:txBody>
      </p:sp>
      <p:sp>
        <p:nvSpPr>
          <p:cNvPr id="19" name="card"/>
          <p:cNvSpPr/>
          <p:nvPr/>
        </p:nvSpPr>
        <p:spPr>
          <a:xfrm>
            <a:off x="6800000" y="3400000"/>
            <a:ext cx="4300000" cy="180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0" name="accent"/>
          <p:cNvSpPr/>
          <p:nvPr/>
        </p:nvSpPr>
        <p:spPr>
          <a:xfrm>
            <a:off x="6800000" y="3400000"/>
            <a:ext cx="90000" cy="180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6940000" y="35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S</a:t>
            </a:r>
          </a:p>
        </p:txBody>
      </p:sp>
      <p:sp>
        <p:nvSpPr>
          <p:cNvPr id="22" name="card title"/>
          <p:cNvSpPr txBox="1"/>
          <p:nvPr/>
        </p:nvSpPr>
        <p:spPr>
          <a:xfrm>
            <a:off x="7360000" y="3525000"/>
            <a:ext cx="3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Safety Fields</a:t>
            </a:r>
          </a:p>
        </p:txBody>
      </p:sp>
      <p:sp>
        <p:nvSpPr>
          <p:cNvPr id="23" name="card body"/>
          <p:cNvSpPr txBox="1"/>
          <p:nvPr/>
        </p:nvSpPr>
        <p:spPr>
          <a:xfrm>
            <a:off x="7360000" y="3830000"/>
            <a:ext cx="3640000" cy="12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redacted flag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raw_output_ref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sensitivity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retention policy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Telemetry 보안: 관측 가능성과 노출 최소화의 균형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Trace는 강력하지만 그 자체가 민감 데이터가 될 수 있다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22/30</a:t>
            </a:r>
          </a:p>
        </p:txBody>
      </p:sp>
      <p:sp>
        <p:nvSpPr>
          <p:cNvPr id="11" name="card"/>
          <p:cNvSpPr/>
          <p:nvPr/>
        </p:nvSpPr>
        <p:spPr>
          <a:xfrm>
            <a:off x="900000" y="1700000"/>
            <a:ext cx="1750000" cy="95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900000" y="1700000"/>
            <a:ext cx="90000" cy="95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 title"/>
          <p:cNvSpPr txBox="1"/>
          <p:nvPr/>
        </p:nvSpPr>
        <p:spPr>
          <a:xfrm>
            <a:off x="1070000" y="1825000"/>
            <a:ext cx="14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Raw Event</a:t>
            </a:r>
          </a:p>
        </p:txBody>
      </p:sp>
      <p:sp>
        <p:nvSpPr>
          <p:cNvPr id="14" name="card body"/>
          <p:cNvSpPr txBox="1"/>
          <p:nvPr/>
        </p:nvSpPr>
        <p:spPr>
          <a:xfrm>
            <a:off x="1070000" y="2130000"/>
            <a:ext cx="1490000" cy="4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tool/llm output</a:t>
            </a:r>
          </a:p>
        </p:txBody>
      </p:sp>
      <p:sp>
        <p:nvSpPr>
          <p:cNvPr id="15" name="line"/>
          <p:cNvSpPr/>
          <p:nvPr/>
        </p:nvSpPr>
        <p:spPr>
          <a:xfrm>
            <a:off x="2650000" y="2180000"/>
            <a:ext cx="180000" cy="3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arrowhead"/>
          <p:cNvSpPr txBox="1"/>
          <p:nvPr/>
        </p:nvSpPr>
        <p:spPr>
          <a:xfrm>
            <a:off x="2840000" y="209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C262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17" name="card"/>
          <p:cNvSpPr/>
          <p:nvPr/>
        </p:nvSpPr>
        <p:spPr>
          <a:xfrm>
            <a:off x="3000000" y="1700000"/>
            <a:ext cx="1750000" cy="950000"/>
          </a:xfrm>
          <a:prstGeom prst="roundRect"/>
          <a:solidFill>
            <a:srgbClr val="FFFBEB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8" name="accent"/>
          <p:cNvSpPr/>
          <p:nvPr/>
        </p:nvSpPr>
        <p:spPr>
          <a:xfrm>
            <a:off x="3000000" y="1700000"/>
            <a:ext cx="90000" cy="95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card title"/>
          <p:cNvSpPr txBox="1"/>
          <p:nvPr/>
        </p:nvSpPr>
        <p:spPr>
          <a:xfrm>
            <a:off x="3170000" y="1825000"/>
            <a:ext cx="14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Redact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3170000" y="2130000"/>
            <a:ext cx="1490000" cy="4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token/password/PII</a:t>
            </a:r>
          </a:p>
        </p:txBody>
      </p:sp>
      <p:sp>
        <p:nvSpPr>
          <p:cNvPr id="21" name="line"/>
          <p:cNvSpPr/>
          <p:nvPr/>
        </p:nvSpPr>
        <p:spPr>
          <a:xfrm>
            <a:off x="4750000" y="2180000"/>
            <a:ext cx="180000" cy="3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arrowhead"/>
          <p:cNvSpPr txBox="1"/>
          <p:nvPr/>
        </p:nvSpPr>
        <p:spPr>
          <a:xfrm>
            <a:off x="4940000" y="209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97706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3" name="card"/>
          <p:cNvSpPr/>
          <p:nvPr/>
        </p:nvSpPr>
        <p:spPr>
          <a:xfrm>
            <a:off x="5100000" y="1700000"/>
            <a:ext cx="1750000" cy="95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4" name="accent"/>
          <p:cNvSpPr/>
          <p:nvPr/>
        </p:nvSpPr>
        <p:spPr>
          <a:xfrm>
            <a:off x="5100000" y="1700000"/>
            <a:ext cx="90000" cy="95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card title"/>
          <p:cNvSpPr txBox="1"/>
          <p:nvPr/>
        </p:nvSpPr>
        <p:spPr>
          <a:xfrm>
            <a:off x="5270000" y="1825000"/>
            <a:ext cx="14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Summarize</a:t>
            </a:r>
          </a:p>
        </p:txBody>
      </p:sp>
      <p:sp>
        <p:nvSpPr>
          <p:cNvPr id="26" name="card body"/>
          <p:cNvSpPr txBox="1"/>
          <p:nvPr/>
        </p:nvSpPr>
        <p:spPr>
          <a:xfrm>
            <a:off x="5270000" y="2130000"/>
            <a:ext cx="1490000" cy="4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raw → summary</a:t>
            </a:r>
          </a:p>
        </p:txBody>
      </p:sp>
      <p:sp>
        <p:nvSpPr>
          <p:cNvPr id="27" name="line"/>
          <p:cNvSpPr/>
          <p:nvPr/>
        </p:nvSpPr>
        <p:spPr>
          <a:xfrm>
            <a:off x="6850000" y="2180000"/>
            <a:ext cx="180000" cy="3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arrowhead"/>
          <p:cNvSpPr txBox="1"/>
          <p:nvPr/>
        </p:nvSpPr>
        <p:spPr>
          <a:xfrm>
            <a:off x="7040000" y="209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9" name="card"/>
          <p:cNvSpPr/>
          <p:nvPr/>
        </p:nvSpPr>
        <p:spPr>
          <a:xfrm>
            <a:off x="7200000" y="1700000"/>
            <a:ext cx="1750000" cy="95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0" name="accent"/>
          <p:cNvSpPr/>
          <p:nvPr/>
        </p:nvSpPr>
        <p:spPr>
          <a:xfrm>
            <a:off x="7200000" y="1700000"/>
            <a:ext cx="90000" cy="95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card title"/>
          <p:cNvSpPr txBox="1"/>
          <p:nvPr/>
        </p:nvSpPr>
        <p:spPr>
          <a:xfrm>
            <a:off x="7370000" y="1825000"/>
            <a:ext cx="14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Reference</a:t>
            </a:r>
          </a:p>
        </p:txBody>
      </p:sp>
      <p:sp>
        <p:nvSpPr>
          <p:cNvPr id="32" name="card body"/>
          <p:cNvSpPr txBox="1"/>
          <p:nvPr/>
        </p:nvSpPr>
        <p:spPr>
          <a:xfrm>
            <a:off x="7370000" y="2130000"/>
            <a:ext cx="1490000" cy="4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artifact URI</a:t>
            </a:r>
          </a:p>
        </p:txBody>
      </p:sp>
      <p:sp>
        <p:nvSpPr>
          <p:cNvPr id="33" name="line"/>
          <p:cNvSpPr/>
          <p:nvPr/>
        </p:nvSpPr>
        <p:spPr>
          <a:xfrm>
            <a:off x="8950000" y="2180000"/>
            <a:ext cx="180000" cy="3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arrowhead"/>
          <p:cNvSpPr txBox="1"/>
          <p:nvPr/>
        </p:nvSpPr>
        <p:spPr>
          <a:xfrm>
            <a:off x="9140000" y="209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7C3AED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35" name="card"/>
          <p:cNvSpPr/>
          <p:nvPr/>
        </p:nvSpPr>
        <p:spPr>
          <a:xfrm>
            <a:off x="9300000" y="1700000"/>
            <a:ext cx="1750000" cy="95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6" name="accent"/>
          <p:cNvSpPr/>
          <p:nvPr/>
        </p:nvSpPr>
        <p:spPr>
          <a:xfrm>
            <a:off x="9300000" y="1700000"/>
            <a:ext cx="90000" cy="95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card title"/>
          <p:cNvSpPr txBox="1"/>
          <p:nvPr/>
        </p:nvSpPr>
        <p:spPr>
          <a:xfrm>
            <a:off x="9470000" y="1825000"/>
            <a:ext cx="149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Store</a:t>
            </a:r>
          </a:p>
        </p:txBody>
      </p:sp>
      <p:sp>
        <p:nvSpPr>
          <p:cNvPr id="38" name="card body"/>
          <p:cNvSpPr txBox="1"/>
          <p:nvPr/>
        </p:nvSpPr>
        <p:spPr>
          <a:xfrm>
            <a:off x="9470000" y="2130000"/>
            <a:ext cx="1490000" cy="4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JSONL/collector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1000000" y="3550000"/>
            <a:ext cx="9800000" cy="130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200" b="1">
                <a:solidFill>
                  <a:srgbClr val="111827"/>
                </a:solidFill>
                <a:latin typeface="Aptos"/>
                <a:ea typeface="Malgun Gothic"/>
              </a:rPr>
              <a:t>원칙</a:t>
            </a:r>
          </a:p>
          <a:p>
            <a:pPr>
              <a:buNone/>
            </a:pPr>
            <a:r>
              <a:rPr lang="ko-KR" sz="1600" b="1">
                <a:solidFill>
                  <a:srgbClr val="1F2937"/>
                </a:solidFill>
                <a:latin typeface="Aptos"/>
                <a:ea typeface="Malgun Gothic"/>
              </a:rPr>
              <a:t>Trace에는 “Judge가 판단하는 데 필요한 증거”만 남긴다. 원본은 보관 위치를 참조하고, 민감 필드는 redaction하며, 접근 권한과 retention을 분리한다.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Drift 유형별 필요한 증거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최종 답변이 아니라 실행 증거와 매핑해서 판단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23/30</a:t>
            </a:r>
          </a:p>
        </p:txBody>
      </p:sp>
      <p:sp>
        <p:nvSpPr>
          <p:cNvPr id="11" name="rect"/>
          <p:cNvSpPr/>
          <p:nvPr/>
        </p:nvSpPr>
        <p:spPr>
          <a:xfrm>
            <a:off x="850000" y="1200000"/>
            <a:ext cx="2500000" cy="620000"/>
          </a:xfrm>
          <a:prstGeom prst="roundRect"/>
          <a:solidFill>
            <a:srgbClr val="EFF6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920000" y="1390000"/>
            <a:ext cx="236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50" b="1">
                <a:solidFill>
                  <a:srgbClr val="2563EB"/>
                </a:solidFill>
                <a:latin typeface="Aptos"/>
                <a:ea typeface="Malgun Gothic"/>
              </a:rPr>
              <a:t>Drift</a:t>
            </a:r>
          </a:p>
        </p:txBody>
      </p:sp>
      <p:sp>
        <p:nvSpPr>
          <p:cNvPr id="13" name="rect"/>
          <p:cNvSpPr/>
          <p:nvPr/>
        </p:nvSpPr>
        <p:spPr>
          <a:xfrm>
            <a:off x="3350000" y="1200000"/>
            <a:ext cx="3300000" cy="620000"/>
          </a:xfrm>
          <a:prstGeom prst="roundRect"/>
          <a:solidFill>
            <a:srgbClr val="ECFDF5"/>
          </a:solidFill>
          <a:ln w="7620">
            <a:solidFill>
              <a:srgbClr val="0F766E"/>
            </a:solidFill>
          </a:ln>
        </p:spPr>
        <p:txBody>
          <a:bodyPr/>
          <a:lstStyle/>
          <a:p/>
        </p:txBody>
      </p:sp>
      <p:sp>
        <p:nvSpPr>
          <p:cNvPr id="14" name="text"/>
          <p:cNvSpPr txBox="1"/>
          <p:nvPr/>
        </p:nvSpPr>
        <p:spPr>
          <a:xfrm>
            <a:off x="3420000" y="1390000"/>
            <a:ext cx="316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50" b="1">
                <a:solidFill>
                  <a:srgbClr val="0F766E"/>
                </a:solidFill>
                <a:latin typeface="Aptos"/>
                <a:ea typeface="Malgun Gothic"/>
              </a:rPr>
              <a:t>필요한 Trace</a:t>
            </a:r>
          </a:p>
        </p:txBody>
      </p:sp>
      <p:sp>
        <p:nvSpPr>
          <p:cNvPr id="15" name="rect"/>
          <p:cNvSpPr/>
          <p:nvPr/>
        </p:nvSpPr>
        <p:spPr>
          <a:xfrm>
            <a:off x="6650000" y="1200000"/>
            <a:ext cx="5200000" cy="620000"/>
          </a:xfrm>
          <a:prstGeom prst="roundRect"/>
          <a:solidFill>
            <a:srgbClr val="F5F3FF"/>
          </a:solidFill>
          <a:ln w="762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6720000" y="1390000"/>
            <a:ext cx="506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50" b="1">
                <a:solidFill>
                  <a:srgbClr val="7C3AED"/>
                </a:solidFill>
                <a:latin typeface="Aptos"/>
                <a:ea typeface="Malgun Gothic"/>
              </a:rPr>
              <a:t>판단 기준</a:t>
            </a:r>
          </a:p>
        </p:txBody>
      </p:sp>
      <p:sp>
        <p:nvSpPr>
          <p:cNvPr id="17" name="rect"/>
          <p:cNvSpPr/>
          <p:nvPr/>
        </p:nvSpPr>
        <p:spPr>
          <a:xfrm>
            <a:off x="850000" y="1820000"/>
            <a:ext cx="2500000" cy="620000"/>
          </a:xfrm>
          <a:prstGeom prst="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920000" y="1970000"/>
            <a:ext cx="23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 b="1">
                <a:solidFill>
                  <a:srgbClr val="111827"/>
                </a:solidFill>
                <a:latin typeface="Aptos"/>
                <a:ea typeface="Malgun Gothic"/>
              </a:rPr>
              <a:t>Goal Drift</a:t>
            </a:r>
          </a:p>
        </p:txBody>
      </p:sp>
      <p:sp>
        <p:nvSpPr>
          <p:cNvPr id="19" name="rect"/>
          <p:cNvSpPr/>
          <p:nvPr/>
        </p:nvSpPr>
        <p:spPr>
          <a:xfrm>
            <a:off x="3350000" y="1820000"/>
            <a:ext cx="3300000" cy="620000"/>
          </a:xfrm>
          <a:prstGeom prst="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0" name="text"/>
          <p:cNvSpPr txBox="1"/>
          <p:nvPr/>
        </p:nvSpPr>
        <p:spPr>
          <a:xfrm>
            <a:off x="3420000" y="1970000"/>
            <a:ext cx="3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run_start ↔ final_output</a:t>
            </a:r>
          </a:p>
        </p:txBody>
      </p:sp>
      <p:sp>
        <p:nvSpPr>
          <p:cNvPr id="21" name="rect"/>
          <p:cNvSpPr/>
          <p:nvPr/>
        </p:nvSpPr>
        <p:spPr>
          <a:xfrm>
            <a:off x="6650000" y="1820000"/>
            <a:ext cx="5200000" cy="620000"/>
          </a:xfrm>
          <a:prstGeom prst="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6720000" y="1970000"/>
            <a:ext cx="50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요청 목표와 최종 산출물 불일치</a:t>
            </a:r>
          </a:p>
        </p:txBody>
      </p:sp>
      <p:sp>
        <p:nvSpPr>
          <p:cNvPr id="23" name="rect"/>
          <p:cNvSpPr/>
          <p:nvPr/>
        </p:nvSpPr>
        <p:spPr>
          <a:xfrm>
            <a:off x="850000" y="2440000"/>
            <a:ext cx="2500000" cy="620000"/>
          </a:xfrm>
          <a:prstGeom prst="rect"/>
          <a:solidFill>
            <a:srgbClr val="F8FAFC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920000" y="2590000"/>
            <a:ext cx="23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 b="1">
                <a:solidFill>
                  <a:srgbClr val="111827"/>
                </a:solidFill>
                <a:latin typeface="Aptos"/>
                <a:ea typeface="Malgun Gothic"/>
              </a:rPr>
              <a:t>Tool Drift</a:t>
            </a:r>
          </a:p>
        </p:txBody>
      </p:sp>
      <p:sp>
        <p:nvSpPr>
          <p:cNvPr id="25" name="rect"/>
          <p:cNvSpPr/>
          <p:nvPr/>
        </p:nvSpPr>
        <p:spPr>
          <a:xfrm>
            <a:off x="3350000" y="2440000"/>
            <a:ext cx="3300000" cy="620000"/>
          </a:xfrm>
          <a:prstGeom prst="rect"/>
          <a:solidFill>
            <a:srgbClr val="F8FAFC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3420000" y="2590000"/>
            <a:ext cx="3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react_step + tool events</a:t>
            </a:r>
          </a:p>
        </p:txBody>
      </p:sp>
      <p:sp>
        <p:nvSpPr>
          <p:cNvPr id="27" name="rect"/>
          <p:cNvSpPr/>
          <p:nvPr/>
        </p:nvSpPr>
        <p:spPr>
          <a:xfrm>
            <a:off x="6650000" y="2440000"/>
            <a:ext cx="5200000" cy="620000"/>
          </a:xfrm>
          <a:prstGeom prst="rect"/>
          <a:solidFill>
            <a:srgbClr val="F8FAFC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6720000" y="2590000"/>
            <a:ext cx="50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상태 대비 부적절한 tool 선택</a:t>
            </a:r>
          </a:p>
        </p:txBody>
      </p:sp>
      <p:sp>
        <p:nvSpPr>
          <p:cNvPr id="29" name="rect"/>
          <p:cNvSpPr/>
          <p:nvPr/>
        </p:nvSpPr>
        <p:spPr>
          <a:xfrm>
            <a:off x="850000" y="3060000"/>
            <a:ext cx="2500000" cy="620000"/>
          </a:xfrm>
          <a:prstGeom prst="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0" name="text"/>
          <p:cNvSpPr txBox="1"/>
          <p:nvPr/>
        </p:nvSpPr>
        <p:spPr>
          <a:xfrm>
            <a:off x="920000" y="3210000"/>
            <a:ext cx="23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 b="1">
                <a:solidFill>
                  <a:srgbClr val="111827"/>
                </a:solidFill>
                <a:latin typeface="Aptos"/>
                <a:ea typeface="Malgun Gothic"/>
              </a:rPr>
              <a:t>Evidence Drift</a:t>
            </a:r>
          </a:p>
        </p:txBody>
      </p:sp>
      <p:sp>
        <p:nvSpPr>
          <p:cNvPr id="31" name="rect"/>
          <p:cNvSpPr/>
          <p:nvPr/>
        </p:nvSpPr>
        <p:spPr>
          <a:xfrm>
            <a:off x="3350000" y="3060000"/>
            <a:ext cx="3300000" cy="620000"/>
          </a:xfrm>
          <a:prstGeom prst="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3420000" y="3210000"/>
            <a:ext cx="3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tool_end ↔ final claims</a:t>
            </a:r>
          </a:p>
        </p:txBody>
      </p:sp>
      <p:sp>
        <p:nvSpPr>
          <p:cNvPr id="33" name="rect"/>
          <p:cNvSpPr/>
          <p:nvPr/>
        </p:nvSpPr>
        <p:spPr>
          <a:xfrm>
            <a:off x="6650000" y="3060000"/>
            <a:ext cx="5200000" cy="620000"/>
          </a:xfrm>
          <a:prstGeom prst="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6720000" y="3210000"/>
            <a:ext cx="50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수치/원인 claim의 근거 부재</a:t>
            </a:r>
          </a:p>
        </p:txBody>
      </p:sp>
      <p:sp>
        <p:nvSpPr>
          <p:cNvPr id="35" name="rect"/>
          <p:cNvSpPr/>
          <p:nvPr/>
        </p:nvSpPr>
        <p:spPr>
          <a:xfrm>
            <a:off x="850000" y="3680000"/>
            <a:ext cx="2500000" cy="620000"/>
          </a:xfrm>
          <a:prstGeom prst="rect"/>
          <a:solidFill>
            <a:srgbClr val="F8FAFC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6" name="text"/>
          <p:cNvSpPr txBox="1"/>
          <p:nvPr/>
        </p:nvSpPr>
        <p:spPr>
          <a:xfrm>
            <a:off x="920000" y="3830000"/>
            <a:ext cx="23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 b="1">
                <a:solidFill>
                  <a:srgbClr val="111827"/>
                </a:solidFill>
                <a:latin typeface="Aptos"/>
                <a:ea typeface="Malgun Gothic"/>
              </a:rPr>
              <a:t>RAG Drift</a:t>
            </a:r>
          </a:p>
        </p:txBody>
      </p:sp>
      <p:sp>
        <p:nvSpPr>
          <p:cNvPr id="37" name="rect"/>
          <p:cNvSpPr/>
          <p:nvPr/>
        </p:nvSpPr>
        <p:spPr>
          <a:xfrm>
            <a:off x="3350000" y="3680000"/>
            <a:ext cx="3300000" cy="620000"/>
          </a:xfrm>
          <a:prstGeom prst="rect"/>
          <a:solidFill>
            <a:srgbClr val="F8FAFC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8" name="text"/>
          <p:cNvSpPr txBox="1"/>
          <p:nvPr/>
        </p:nvSpPr>
        <p:spPr>
          <a:xfrm>
            <a:off x="3420000" y="3830000"/>
            <a:ext cx="3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retrieval ↔ final claims</a:t>
            </a:r>
          </a:p>
        </p:txBody>
      </p:sp>
      <p:sp>
        <p:nvSpPr>
          <p:cNvPr id="39" name="rect"/>
          <p:cNvSpPr/>
          <p:nvPr/>
        </p:nvSpPr>
        <p:spPr>
          <a:xfrm>
            <a:off x="6650000" y="3680000"/>
            <a:ext cx="5200000" cy="620000"/>
          </a:xfrm>
          <a:prstGeom prst="rect"/>
          <a:solidFill>
            <a:srgbClr val="F8FAFC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40" name="text"/>
          <p:cNvSpPr txBox="1"/>
          <p:nvPr/>
        </p:nvSpPr>
        <p:spPr>
          <a:xfrm>
            <a:off x="6720000" y="3830000"/>
            <a:ext cx="50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검색 문서 오해·출처 누락</a:t>
            </a:r>
          </a:p>
        </p:txBody>
      </p:sp>
      <p:sp>
        <p:nvSpPr>
          <p:cNvPr id="41" name="rect"/>
          <p:cNvSpPr/>
          <p:nvPr/>
        </p:nvSpPr>
        <p:spPr>
          <a:xfrm>
            <a:off x="850000" y="4300000"/>
            <a:ext cx="2500000" cy="620000"/>
          </a:xfrm>
          <a:prstGeom prst="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42" name="text"/>
          <p:cNvSpPr txBox="1"/>
          <p:nvPr/>
        </p:nvSpPr>
        <p:spPr>
          <a:xfrm>
            <a:off x="920000" y="4450000"/>
            <a:ext cx="23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 b="1">
                <a:solidFill>
                  <a:srgbClr val="111827"/>
                </a:solidFill>
                <a:latin typeface="Aptos"/>
                <a:ea typeface="Malgun Gothic"/>
              </a:rPr>
              <a:t>Handoff Drift</a:t>
            </a:r>
          </a:p>
        </p:txBody>
      </p:sp>
      <p:sp>
        <p:nvSpPr>
          <p:cNvPr id="43" name="rect"/>
          <p:cNvSpPr/>
          <p:nvPr/>
        </p:nvSpPr>
        <p:spPr>
          <a:xfrm>
            <a:off x="3350000" y="4300000"/>
            <a:ext cx="3300000" cy="620000"/>
          </a:xfrm>
          <a:prstGeom prst="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44" name="text"/>
          <p:cNvSpPr txBox="1"/>
          <p:nvPr/>
        </p:nvSpPr>
        <p:spPr>
          <a:xfrm>
            <a:off x="3420000" y="4450000"/>
            <a:ext cx="3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node_start/end diff</a:t>
            </a:r>
          </a:p>
        </p:txBody>
      </p:sp>
      <p:sp>
        <p:nvSpPr>
          <p:cNvPr id="45" name="rect"/>
          <p:cNvSpPr/>
          <p:nvPr/>
        </p:nvSpPr>
        <p:spPr>
          <a:xfrm>
            <a:off x="6650000" y="4300000"/>
            <a:ext cx="5200000" cy="620000"/>
          </a:xfrm>
          <a:prstGeom prst="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46" name="text"/>
          <p:cNvSpPr txBox="1"/>
          <p:nvPr/>
        </p:nvSpPr>
        <p:spPr>
          <a:xfrm>
            <a:off x="6720000" y="4450000"/>
            <a:ext cx="50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노드 간 의미 변형</a:t>
            </a:r>
          </a:p>
        </p:txBody>
      </p:sp>
      <p:sp>
        <p:nvSpPr>
          <p:cNvPr id="47" name="rect"/>
          <p:cNvSpPr/>
          <p:nvPr/>
        </p:nvSpPr>
        <p:spPr>
          <a:xfrm>
            <a:off x="850000" y="4920000"/>
            <a:ext cx="2500000" cy="620000"/>
          </a:xfrm>
          <a:prstGeom prst="rect"/>
          <a:solidFill>
            <a:srgbClr val="F8FAFC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48" name="text"/>
          <p:cNvSpPr txBox="1"/>
          <p:nvPr/>
        </p:nvSpPr>
        <p:spPr>
          <a:xfrm>
            <a:off x="920000" y="5070000"/>
            <a:ext cx="23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 b="1">
                <a:solidFill>
                  <a:srgbClr val="111827"/>
                </a:solidFill>
                <a:latin typeface="Aptos"/>
                <a:ea typeface="Malgun Gothic"/>
              </a:rPr>
              <a:t>Context Bloat</a:t>
            </a:r>
          </a:p>
        </p:txBody>
      </p:sp>
      <p:sp>
        <p:nvSpPr>
          <p:cNvPr id="49" name="rect"/>
          <p:cNvSpPr/>
          <p:nvPr/>
        </p:nvSpPr>
        <p:spPr>
          <a:xfrm>
            <a:off x="3350000" y="4920000"/>
            <a:ext cx="3300000" cy="620000"/>
          </a:xfrm>
          <a:prstGeom prst="rect"/>
          <a:solidFill>
            <a:srgbClr val="F8FAFC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50" name="text"/>
          <p:cNvSpPr txBox="1"/>
          <p:nvPr/>
        </p:nvSpPr>
        <p:spPr>
          <a:xfrm>
            <a:off x="3420000" y="5070000"/>
            <a:ext cx="31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llm_start usage/state size</a:t>
            </a:r>
          </a:p>
        </p:txBody>
      </p:sp>
      <p:sp>
        <p:nvSpPr>
          <p:cNvPr id="51" name="rect"/>
          <p:cNvSpPr/>
          <p:nvPr/>
        </p:nvSpPr>
        <p:spPr>
          <a:xfrm>
            <a:off x="6650000" y="4920000"/>
            <a:ext cx="5200000" cy="620000"/>
          </a:xfrm>
          <a:prstGeom prst="rect"/>
          <a:solidFill>
            <a:srgbClr val="F8FAFC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52" name="text"/>
          <p:cNvSpPr txBox="1"/>
          <p:nvPr/>
        </p:nvSpPr>
        <p:spPr>
          <a:xfrm>
            <a:off x="6720000" y="5070000"/>
            <a:ext cx="5060000" cy="2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1F2937"/>
                </a:solidFill>
                <a:latin typeface="Aptos"/>
                <a:ea typeface="Malgun Gothic"/>
              </a:rPr>
              <a:t>불필요한 context 과다 주입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Judge Agent 평가 루프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Observe → Judge → Improve 폐루프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24/30</a:t>
            </a:r>
          </a:p>
        </p:txBody>
      </p:sp>
      <p:sp>
        <p:nvSpPr>
          <p:cNvPr id="11" name="card"/>
          <p:cNvSpPr/>
          <p:nvPr/>
        </p:nvSpPr>
        <p:spPr>
          <a:xfrm>
            <a:off x="900000" y="2300000"/>
            <a:ext cx="2500000" cy="105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900000" y="2300000"/>
            <a:ext cx="90000" cy="105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 title"/>
          <p:cNvSpPr txBox="1"/>
          <p:nvPr/>
        </p:nvSpPr>
        <p:spPr>
          <a:xfrm>
            <a:off x="1070000" y="2425000"/>
            <a:ext cx="22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Agent Run</a:t>
            </a:r>
          </a:p>
        </p:txBody>
      </p:sp>
      <p:sp>
        <p:nvSpPr>
          <p:cNvPr id="14" name="card body"/>
          <p:cNvSpPr txBox="1"/>
          <p:nvPr/>
        </p:nvSpPr>
        <p:spPr>
          <a:xfrm>
            <a:off x="1070000" y="2730000"/>
            <a:ext cx="2240000" cy="5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사용자 요청 처리</a:t>
            </a:r>
          </a:p>
        </p:txBody>
      </p:sp>
      <p:sp>
        <p:nvSpPr>
          <p:cNvPr id="15" name="card"/>
          <p:cNvSpPr/>
          <p:nvPr/>
        </p:nvSpPr>
        <p:spPr>
          <a:xfrm>
            <a:off x="3600000" y="1250000"/>
            <a:ext cx="2500000" cy="105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6" name="accent"/>
          <p:cNvSpPr/>
          <p:nvPr/>
        </p:nvSpPr>
        <p:spPr>
          <a:xfrm>
            <a:off x="3600000" y="1250000"/>
            <a:ext cx="90000" cy="105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card title"/>
          <p:cNvSpPr txBox="1"/>
          <p:nvPr/>
        </p:nvSpPr>
        <p:spPr>
          <a:xfrm>
            <a:off x="3770000" y="1375000"/>
            <a:ext cx="22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Trace JSONL</a:t>
            </a:r>
          </a:p>
        </p:txBody>
      </p:sp>
      <p:sp>
        <p:nvSpPr>
          <p:cNvPr id="18" name="card body"/>
          <p:cNvSpPr txBox="1"/>
          <p:nvPr/>
        </p:nvSpPr>
        <p:spPr>
          <a:xfrm>
            <a:off x="3770000" y="1680000"/>
            <a:ext cx="2240000" cy="5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실행 증거 저장</a:t>
            </a:r>
          </a:p>
        </p:txBody>
      </p:sp>
      <p:sp>
        <p:nvSpPr>
          <p:cNvPr id="19" name="card"/>
          <p:cNvSpPr/>
          <p:nvPr/>
        </p:nvSpPr>
        <p:spPr>
          <a:xfrm>
            <a:off x="7000000" y="2300000"/>
            <a:ext cx="2500000" cy="105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0" name="accent"/>
          <p:cNvSpPr/>
          <p:nvPr/>
        </p:nvSpPr>
        <p:spPr>
          <a:xfrm>
            <a:off x="7000000" y="2300000"/>
            <a:ext cx="90000" cy="105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card title"/>
          <p:cNvSpPr txBox="1"/>
          <p:nvPr/>
        </p:nvSpPr>
        <p:spPr>
          <a:xfrm>
            <a:off x="7170000" y="2425000"/>
            <a:ext cx="22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Judge Agent</a:t>
            </a:r>
          </a:p>
        </p:txBody>
      </p:sp>
      <p:sp>
        <p:nvSpPr>
          <p:cNvPr id="22" name="card body"/>
          <p:cNvSpPr txBox="1"/>
          <p:nvPr/>
        </p:nvSpPr>
        <p:spPr>
          <a:xfrm>
            <a:off x="7170000" y="2730000"/>
            <a:ext cx="2240000" cy="5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drift/evidence 평가</a:t>
            </a:r>
          </a:p>
        </p:txBody>
      </p:sp>
      <p:sp>
        <p:nvSpPr>
          <p:cNvPr id="23" name="card"/>
          <p:cNvSpPr/>
          <p:nvPr/>
        </p:nvSpPr>
        <p:spPr>
          <a:xfrm>
            <a:off x="3600000" y="4400000"/>
            <a:ext cx="2500000" cy="1050000"/>
          </a:xfrm>
          <a:prstGeom prst="roundRect"/>
          <a:solidFill>
            <a:srgbClr val="FFFBEB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4" name="accent"/>
          <p:cNvSpPr/>
          <p:nvPr/>
        </p:nvSpPr>
        <p:spPr>
          <a:xfrm>
            <a:off x="3600000" y="4400000"/>
            <a:ext cx="90000" cy="105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card title"/>
          <p:cNvSpPr txBox="1"/>
          <p:nvPr/>
        </p:nvSpPr>
        <p:spPr>
          <a:xfrm>
            <a:off x="3770000" y="4525000"/>
            <a:ext cx="22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Feedback</a:t>
            </a:r>
          </a:p>
        </p:txBody>
      </p:sp>
      <p:sp>
        <p:nvSpPr>
          <p:cNvPr id="26" name="card body"/>
          <p:cNvSpPr txBox="1"/>
          <p:nvPr/>
        </p:nvSpPr>
        <p:spPr>
          <a:xfrm>
            <a:off x="3770000" y="4830000"/>
            <a:ext cx="2240000" cy="5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prompt/graph/tool 개선</a:t>
            </a:r>
          </a:p>
        </p:txBody>
      </p:sp>
      <p:sp>
        <p:nvSpPr>
          <p:cNvPr id="27" name="line"/>
          <p:cNvSpPr/>
          <p:nvPr/>
        </p:nvSpPr>
        <p:spPr>
          <a:xfrm>
            <a:off x="3400000" y="1770000"/>
            <a:ext cx="30000" cy="95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arrowhead"/>
          <p:cNvSpPr txBox="1"/>
          <p:nvPr/>
        </p:nvSpPr>
        <p:spPr>
          <a:xfrm>
            <a:off x="3315000" y="168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▼</a:t>
            </a:r>
          </a:p>
        </p:txBody>
      </p:sp>
      <p:sp>
        <p:nvSpPr>
          <p:cNvPr id="29" name="line"/>
          <p:cNvSpPr/>
          <p:nvPr/>
        </p:nvSpPr>
        <p:spPr>
          <a:xfrm>
            <a:off x="6100000" y="1770000"/>
            <a:ext cx="30000" cy="95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arrowhead"/>
          <p:cNvSpPr txBox="1"/>
          <p:nvPr/>
        </p:nvSpPr>
        <p:spPr>
          <a:xfrm>
            <a:off x="6015000" y="273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▼</a:t>
            </a:r>
          </a:p>
        </p:txBody>
      </p:sp>
      <p:sp>
        <p:nvSpPr>
          <p:cNvPr id="31" name="line"/>
          <p:cNvSpPr/>
          <p:nvPr/>
        </p:nvSpPr>
        <p:spPr>
          <a:xfrm>
            <a:off x="7000000" y="3350000"/>
            <a:ext cx="30000" cy="147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arrowhead"/>
          <p:cNvSpPr txBox="1"/>
          <p:nvPr/>
        </p:nvSpPr>
        <p:spPr>
          <a:xfrm>
            <a:off x="6915000" y="483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7C3AED"/>
                </a:solidFill>
                <a:latin typeface="Aptos"/>
                <a:ea typeface="Malgun Gothic"/>
              </a:rPr>
              <a:t>▼</a:t>
            </a:r>
          </a:p>
        </p:txBody>
      </p:sp>
      <p:sp>
        <p:nvSpPr>
          <p:cNvPr id="33" name="line"/>
          <p:cNvSpPr/>
          <p:nvPr/>
        </p:nvSpPr>
        <p:spPr>
          <a:xfrm>
            <a:off x="3600000" y="3350000"/>
            <a:ext cx="30000" cy="147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arrowhead"/>
          <p:cNvSpPr txBox="1"/>
          <p:nvPr/>
        </p:nvSpPr>
        <p:spPr>
          <a:xfrm>
            <a:off x="3515000" y="32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D97706"/>
                </a:solidFill>
                <a:latin typeface="Aptos"/>
                <a:ea typeface="Malgun Gothic"/>
              </a:rPr>
              <a:t>▼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250000" y="2900000"/>
            <a:ext cx="2600000" cy="7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 algn="ctr">
              <a:buNone/>
            </a:pPr>
            <a:r>
              <a:rPr lang="ko-KR" sz="1050" b="1">
                <a:solidFill>
                  <a:srgbClr val="111827"/>
                </a:solidFill>
                <a:latin typeface="Aptos"/>
                <a:ea typeface="Malgun Gothic"/>
              </a:rPr>
              <a:t>평가 기준</a:t>
            </a:r>
          </a:p>
          <a:p>
            <a:pPr algn="ctr">
              <a:buNone/>
            </a:pPr>
            <a:r>
              <a:rPr lang="ko-KR" sz="850">
                <a:solidFill>
                  <a:srgbClr val="64748B"/>
                </a:solidFill>
                <a:latin typeface="Aptos"/>
                <a:ea typeface="Malgun Gothic"/>
              </a:rPr>
              <a:t>goal · tool · evidence · rag · handoff · bloat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Validation Gate: Prompt보다 강한 안전장치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모델이 finish를 선택해도 조건이 부족하면 막는다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25/30</a:t>
            </a:r>
          </a:p>
        </p:txBody>
      </p:sp>
      <p:sp>
        <p:nvSpPr>
          <p:cNvPr id="11" name="rect"/>
          <p:cNvSpPr/>
          <p:nvPr/>
        </p:nvSpPr>
        <p:spPr>
          <a:xfrm>
            <a:off x="850000" y="1350000"/>
            <a:ext cx="4700000" cy="3600000"/>
          </a:xfrm>
          <a:prstGeom prst="roundRect"/>
          <a:solidFill>
            <a:srgbClr val="F8FAFC"/>
          </a:solidFill>
          <a:ln w="762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980000" y="1450000"/>
            <a:ext cx="4440000" cy="2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 b="1">
                <a:solidFill>
                  <a:srgbClr val="DC2626"/>
                </a:solidFill>
                <a:latin typeface="Aptos"/>
                <a:ea typeface="Malgun Gothic"/>
              </a:rPr>
              <a:t>Finish Gate 예시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980000" y="1740000"/>
            <a:ext cx="4440000" cy="313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can_finish(state):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require targetPath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require metrics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require evidence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require rag_context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require mcp_context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require output_contract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/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if missing: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block finish</a:t>
            </a:r>
          </a:p>
          <a:p>
            <a:pPr>
              <a:buNone/>
            </a:pPr>
            <a:r>
              <a:rPr lang="ko-KR" sz="820">
                <a:solidFill>
                  <a:srgbClr val="334155"/>
                </a:solidFill>
                <a:latin typeface="Menlo"/>
                <a:ea typeface="Malgun Gothic"/>
              </a:rPr>
              <a:t>  route to next required node</a:t>
            </a:r>
          </a:p>
        </p:txBody>
      </p:sp>
      <p:sp>
        <p:nvSpPr>
          <p:cNvPr id="14" name="card"/>
          <p:cNvSpPr/>
          <p:nvPr/>
        </p:nvSpPr>
        <p:spPr>
          <a:xfrm>
            <a:off x="5900000" y="1420000"/>
            <a:ext cx="5200000" cy="620000"/>
          </a:xfrm>
          <a:prstGeom prst="roundRect"/>
          <a:solidFill>
            <a:srgbClr val="F0FDF4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5" name="accent"/>
          <p:cNvSpPr/>
          <p:nvPr/>
        </p:nvSpPr>
        <p:spPr>
          <a:xfrm>
            <a:off x="5900000" y="1420000"/>
            <a:ext cx="90000" cy="620000"/>
          </a:xfrm>
          <a:prstGeom prst="rect"/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6040000" y="155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16A34A"/>
                </a:solidFill>
                <a:latin typeface="Aptos"/>
                <a:ea typeface="Malgun Gothic"/>
              </a:rPr>
              <a:t>✓</a:t>
            </a:r>
          </a:p>
        </p:txBody>
      </p:sp>
      <p:sp>
        <p:nvSpPr>
          <p:cNvPr id="17" name="card title"/>
          <p:cNvSpPr txBox="1"/>
          <p:nvPr/>
        </p:nvSpPr>
        <p:spPr>
          <a:xfrm>
            <a:off x="6460000" y="1545000"/>
            <a:ext cx="45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metrics_present</a:t>
            </a:r>
          </a:p>
        </p:txBody>
      </p:sp>
      <p:sp>
        <p:nvSpPr>
          <p:cNvPr id="18" name="card body"/>
          <p:cNvSpPr txBox="1"/>
          <p:nvPr/>
        </p:nvSpPr>
        <p:spPr>
          <a:xfrm>
            <a:off x="6460000" y="1850000"/>
            <a:ext cx="4540000" cy="1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수치 claim 근거</a:t>
            </a:r>
          </a:p>
        </p:txBody>
      </p:sp>
      <p:sp>
        <p:nvSpPr>
          <p:cNvPr id="19" name="card"/>
          <p:cNvSpPr/>
          <p:nvPr/>
        </p:nvSpPr>
        <p:spPr>
          <a:xfrm>
            <a:off x="5900000" y="2180000"/>
            <a:ext cx="5200000" cy="620000"/>
          </a:xfrm>
          <a:prstGeom prst="roundRect"/>
          <a:solidFill>
            <a:srgbClr val="F0FDF4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0" name="accent"/>
          <p:cNvSpPr/>
          <p:nvPr/>
        </p:nvSpPr>
        <p:spPr>
          <a:xfrm>
            <a:off x="5900000" y="2180000"/>
            <a:ext cx="90000" cy="620000"/>
          </a:xfrm>
          <a:prstGeom prst="rect"/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6040000" y="231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16A34A"/>
                </a:solidFill>
                <a:latin typeface="Aptos"/>
                <a:ea typeface="Malgun Gothic"/>
              </a:rPr>
              <a:t>✓</a:t>
            </a:r>
          </a:p>
        </p:txBody>
      </p:sp>
      <p:sp>
        <p:nvSpPr>
          <p:cNvPr id="22" name="card title"/>
          <p:cNvSpPr txBox="1"/>
          <p:nvPr/>
        </p:nvSpPr>
        <p:spPr>
          <a:xfrm>
            <a:off x="6460000" y="2305000"/>
            <a:ext cx="45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anomalies_have_evidence</a:t>
            </a:r>
          </a:p>
        </p:txBody>
      </p:sp>
      <p:sp>
        <p:nvSpPr>
          <p:cNvPr id="23" name="card body"/>
          <p:cNvSpPr txBox="1"/>
          <p:nvPr/>
        </p:nvSpPr>
        <p:spPr>
          <a:xfrm>
            <a:off x="6460000" y="2610000"/>
            <a:ext cx="4540000" cy="1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이상 탐지 근거</a:t>
            </a:r>
          </a:p>
        </p:txBody>
      </p:sp>
      <p:sp>
        <p:nvSpPr>
          <p:cNvPr id="24" name="card"/>
          <p:cNvSpPr/>
          <p:nvPr/>
        </p:nvSpPr>
        <p:spPr>
          <a:xfrm>
            <a:off x="5900000" y="2940000"/>
            <a:ext cx="5200000" cy="620000"/>
          </a:xfrm>
          <a:prstGeom prst="roundRect"/>
          <a:solidFill>
            <a:srgbClr val="F0FDF4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5" name="accent"/>
          <p:cNvSpPr/>
          <p:nvPr/>
        </p:nvSpPr>
        <p:spPr>
          <a:xfrm>
            <a:off x="5900000" y="2940000"/>
            <a:ext cx="90000" cy="620000"/>
          </a:xfrm>
          <a:prstGeom prst="rect"/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6040000" y="307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16A34A"/>
                </a:solidFill>
                <a:latin typeface="Aptos"/>
                <a:ea typeface="Malgun Gothic"/>
              </a:rPr>
              <a:t>✓</a:t>
            </a:r>
          </a:p>
        </p:txBody>
      </p:sp>
      <p:sp>
        <p:nvSpPr>
          <p:cNvPr id="27" name="card title"/>
          <p:cNvSpPr txBox="1"/>
          <p:nvPr/>
        </p:nvSpPr>
        <p:spPr>
          <a:xfrm>
            <a:off x="6460000" y="3065000"/>
            <a:ext cx="45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rag_context_present</a:t>
            </a:r>
          </a:p>
        </p:txBody>
      </p:sp>
      <p:sp>
        <p:nvSpPr>
          <p:cNvPr id="28" name="card body"/>
          <p:cNvSpPr txBox="1"/>
          <p:nvPr/>
        </p:nvSpPr>
        <p:spPr>
          <a:xfrm>
            <a:off x="6460000" y="3370000"/>
            <a:ext cx="4540000" cy="1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runbook 맥락</a:t>
            </a:r>
          </a:p>
        </p:txBody>
      </p:sp>
      <p:sp>
        <p:nvSpPr>
          <p:cNvPr id="29" name="card"/>
          <p:cNvSpPr/>
          <p:nvPr/>
        </p:nvSpPr>
        <p:spPr>
          <a:xfrm>
            <a:off x="5900000" y="3700000"/>
            <a:ext cx="5200000" cy="620000"/>
          </a:xfrm>
          <a:prstGeom prst="roundRect"/>
          <a:solidFill>
            <a:srgbClr val="F0FDF4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0" name="accent"/>
          <p:cNvSpPr/>
          <p:nvPr/>
        </p:nvSpPr>
        <p:spPr>
          <a:xfrm>
            <a:off x="5900000" y="3700000"/>
            <a:ext cx="90000" cy="620000"/>
          </a:xfrm>
          <a:prstGeom prst="rect"/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6040000" y="38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16A34A"/>
                </a:solidFill>
                <a:latin typeface="Aptos"/>
                <a:ea typeface="Malgun Gothic"/>
              </a:rPr>
              <a:t>✓</a:t>
            </a:r>
          </a:p>
        </p:txBody>
      </p:sp>
      <p:sp>
        <p:nvSpPr>
          <p:cNvPr id="32" name="card title"/>
          <p:cNvSpPr txBox="1"/>
          <p:nvPr/>
        </p:nvSpPr>
        <p:spPr>
          <a:xfrm>
            <a:off x="6460000" y="3825000"/>
            <a:ext cx="45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mcp_context_present</a:t>
            </a:r>
          </a:p>
        </p:txBody>
      </p:sp>
      <p:sp>
        <p:nvSpPr>
          <p:cNvPr id="33" name="card body"/>
          <p:cNvSpPr txBox="1"/>
          <p:nvPr/>
        </p:nvSpPr>
        <p:spPr>
          <a:xfrm>
            <a:off x="6460000" y="4130000"/>
            <a:ext cx="4540000" cy="1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owner/SLO 메타</a:t>
            </a:r>
          </a:p>
        </p:txBody>
      </p:sp>
      <p:sp>
        <p:nvSpPr>
          <p:cNvPr id="34" name="card"/>
          <p:cNvSpPr/>
          <p:nvPr/>
        </p:nvSpPr>
        <p:spPr>
          <a:xfrm>
            <a:off x="5900000" y="4460000"/>
            <a:ext cx="5200000" cy="620000"/>
          </a:xfrm>
          <a:prstGeom prst="roundRect"/>
          <a:solidFill>
            <a:srgbClr val="F0FDF4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5" name="accent"/>
          <p:cNvSpPr/>
          <p:nvPr/>
        </p:nvSpPr>
        <p:spPr>
          <a:xfrm>
            <a:off x="5900000" y="4460000"/>
            <a:ext cx="90000" cy="620000"/>
          </a:xfrm>
          <a:prstGeom prst="rect"/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"/>
          <p:cNvSpPr txBox="1"/>
          <p:nvPr/>
        </p:nvSpPr>
        <p:spPr>
          <a:xfrm>
            <a:off x="6040000" y="459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16A34A"/>
                </a:solidFill>
                <a:latin typeface="Aptos"/>
                <a:ea typeface="Malgun Gothic"/>
              </a:rPr>
              <a:t>✓</a:t>
            </a:r>
          </a:p>
        </p:txBody>
      </p:sp>
      <p:sp>
        <p:nvSpPr>
          <p:cNvPr id="37" name="card title"/>
          <p:cNvSpPr txBox="1"/>
          <p:nvPr/>
        </p:nvSpPr>
        <p:spPr>
          <a:xfrm>
            <a:off x="6460000" y="4585000"/>
            <a:ext cx="45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output_contract</a:t>
            </a:r>
          </a:p>
        </p:txBody>
      </p:sp>
      <p:sp>
        <p:nvSpPr>
          <p:cNvPr id="38" name="card body"/>
          <p:cNvSpPr txBox="1"/>
          <p:nvPr/>
        </p:nvSpPr>
        <p:spPr>
          <a:xfrm>
            <a:off x="6460000" y="4890000"/>
            <a:ext cx="4540000" cy="11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보고서 구조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Anti-patterns: 이렇게 만들면 Drift가 빨라진다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문제는 모델이 아니라 context flow와 관측 부재에서 시작되는 경우가 많다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26/30</a:t>
            </a:r>
          </a:p>
        </p:txBody>
      </p:sp>
      <p:sp>
        <p:nvSpPr>
          <p:cNvPr id="11" name="card"/>
          <p:cNvSpPr/>
          <p:nvPr/>
        </p:nvSpPr>
        <p:spPr>
          <a:xfrm>
            <a:off x="820000" y="1200000"/>
            <a:ext cx="3300000" cy="115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20000" y="1200000"/>
            <a:ext cx="90000" cy="115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60000" y="13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380000" y="132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전체 state 주입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380000" y="1630000"/>
            <a:ext cx="2640000" cy="6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context bloat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구조화/격리/trace</a:t>
            </a:r>
          </a:p>
        </p:txBody>
      </p:sp>
      <p:sp>
        <p:nvSpPr>
          <p:cNvPr id="16" name="card"/>
          <p:cNvSpPr/>
          <p:nvPr/>
        </p:nvSpPr>
        <p:spPr>
          <a:xfrm>
            <a:off x="4480000" y="1200000"/>
            <a:ext cx="3300000" cy="115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4480000" y="1200000"/>
            <a:ext cx="90000" cy="115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4620000" y="13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5040000" y="132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모든 tool 노출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5040000" y="1630000"/>
            <a:ext cx="2640000" cy="6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tool confusion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구조화/격리/trace</a:t>
            </a:r>
          </a:p>
        </p:txBody>
      </p:sp>
      <p:sp>
        <p:nvSpPr>
          <p:cNvPr id="21" name="card"/>
          <p:cNvSpPr/>
          <p:nvPr/>
        </p:nvSpPr>
        <p:spPr>
          <a:xfrm>
            <a:off x="8140000" y="1200000"/>
            <a:ext cx="3300000" cy="115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8140000" y="1200000"/>
            <a:ext cx="90000" cy="115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280000" y="13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8700000" y="132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RAG를 측정 근거로 사용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8700000" y="1630000"/>
            <a:ext cx="2640000" cy="6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evidence drift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구조화/격리/trace</a:t>
            </a:r>
          </a:p>
        </p:txBody>
      </p:sp>
      <p:sp>
        <p:nvSpPr>
          <p:cNvPr id="26" name="card"/>
          <p:cNvSpPr/>
          <p:nvPr/>
        </p:nvSpPr>
        <p:spPr>
          <a:xfrm>
            <a:off x="820000" y="2610000"/>
            <a:ext cx="3300000" cy="115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7" name="accent"/>
          <p:cNvSpPr/>
          <p:nvPr/>
        </p:nvSpPr>
        <p:spPr>
          <a:xfrm>
            <a:off x="820000" y="2610000"/>
            <a:ext cx="90000" cy="115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960000" y="274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29" name="card title"/>
          <p:cNvSpPr txBox="1"/>
          <p:nvPr/>
        </p:nvSpPr>
        <p:spPr>
          <a:xfrm>
            <a:off x="1380000" y="273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prompt만으로 validation</a:t>
            </a:r>
          </a:p>
        </p:txBody>
      </p:sp>
      <p:sp>
        <p:nvSpPr>
          <p:cNvPr id="30" name="card body"/>
          <p:cNvSpPr txBox="1"/>
          <p:nvPr/>
        </p:nvSpPr>
        <p:spPr>
          <a:xfrm>
            <a:off x="1380000" y="3040000"/>
            <a:ext cx="2640000" cy="6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gate 부재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구조화/격리/trace</a:t>
            </a:r>
          </a:p>
        </p:txBody>
      </p:sp>
      <p:sp>
        <p:nvSpPr>
          <p:cNvPr id="31" name="card"/>
          <p:cNvSpPr/>
          <p:nvPr/>
        </p:nvSpPr>
        <p:spPr>
          <a:xfrm>
            <a:off x="4480000" y="2610000"/>
            <a:ext cx="3300000" cy="115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2" name="accent"/>
          <p:cNvSpPr/>
          <p:nvPr/>
        </p:nvSpPr>
        <p:spPr>
          <a:xfrm>
            <a:off x="4480000" y="2610000"/>
            <a:ext cx="90000" cy="115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4620000" y="274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34" name="card title"/>
          <p:cNvSpPr txBox="1"/>
          <p:nvPr/>
        </p:nvSpPr>
        <p:spPr>
          <a:xfrm>
            <a:off x="5040000" y="273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checkpoint 없음</a:t>
            </a:r>
          </a:p>
        </p:txBody>
      </p:sp>
      <p:sp>
        <p:nvSpPr>
          <p:cNvPr id="35" name="card body"/>
          <p:cNvSpPr txBox="1"/>
          <p:nvPr/>
        </p:nvSpPr>
        <p:spPr>
          <a:xfrm>
            <a:off x="5040000" y="3040000"/>
            <a:ext cx="2640000" cy="6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복구/추적 불가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구조화/격리/trace</a:t>
            </a:r>
          </a:p>
        </p:txBody>
      </p:sp>
      <p:sp>
        <p:nvSpPr>
          <p:cNvPr id="36" name="card"/>
          <p:cNvSpPr/>
          <p:nvPr/>
        </p:nvSpPr>
        <p:spPr>
          <a:xfrm>
            <a:off x="8140000" y="2610000"/>
            <a:ext cx="3300000" cy="1150000"/>
          </a:xfrm>
          <a:prstGeom prst="roundRect"/>
          <a:solidFill>
            <a:srgbClr val="FEF2F2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37" name="accent"/>
          <p:cNvSpPr/>
          <p:nvPr/>
        </p:nvSpPr>
        <p:spPr>
          <a:xfrm>
            <a:off x="8140000" y="2610000"/>
            <a:ext cx="90000" cy="1150000"/>
          </a:xfrm>
          <a:prstGeom prst="rect"/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ext"/>
          <p:cNvSpPr txBox="1"/>
          <p:nvPr/>
        </p:nvSpPr>
        <p:spPr>
          <a:xfrm>
            <a:off x="8280000" y="274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C2626"/>
                </a:solidFill>
                <a:latin typeface="Aptos"/>
                <a:ea typeface="Malgun Gothic"/>
              </a:rPr>
              <a:t>!</a:t>
            </a:r>
          </a:p>
        </p:txBody>
      </p:sp>
      <p:sp>
        <p:nvSpPr>
          <p:cNvPr id="39" name="card title"/>
          <p:cNvSpPr txBox="1"/>
          <p:nvPr/>
        </p:nvSpPr>
        <p:spPr>
          <a:xfrm>
            <a:off x="8700000" y="273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final만 저장</a:t>
            </a:r>
          </a:p>
        </p:txBody>
      </p:sp>
      <p:sp>
        <p:nvSpPr>
          <p:cNvPr id="40" name="card body"/>
          <p:cNvSpPr txBox="1"/>
          <p:nvPr/>
        </p:nvSpPr>
        <p:spPr>
          <a:xfrm>
            <a:off x="8700000" y="3040000"/>
            <a:ext cx="2640000" cy="6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원인 분석 불가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대응: 구조화/격리/trace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발표자료를 위한 내용 모델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텍스트 슬라이드가 아니라 “설명 가능한 구조”로 재구성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27/30</a:t>
            </a:r>
          </a:p>
        </p:txBody>
      </p:sp>
      <p:sp>
        <p:nvSpPr>
          <p:cNvPr id="11" name="card"/>
          <p:cNvSpPr/>
          <p:nvPr/>
        </p:nvSpPr>
        <p:spPr>
          <a:xfrm>
            <a:off x="800000" y="1300000"/>
            <a:ext cx="3200000" cy="30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00000" y="1300000"/>
            <a:ext cx="90000" cy="30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40000" y="14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S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360000" y="1425000"/>
            <a:ext cx="25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1. 구조화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360000" y="1730000"/>
            <a:ext cx="2540000" cy="24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개념은 stack/layer로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흐름은 pipeline으로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위험은 matrix로</a:t>
            </a:r>
          </a:p>
        </p:txBody>
      </p:sp>
      <p:sp>
        <p:nvSpPr>
          <p:cNvPr id="16" name="card"/>
          <p:cNvSpPr/>
          <p:nvPr/>
        </p:nvSpPr>
        <p:spPr>
          <a:xfrm>
            <a:off x="4450000" y="1300000"/>
            <a:ext cx="3200000" cy="30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4450000" y="1300000"/>
            <a:ext cx="90000" cy="30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4590000" y="14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E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5010000" y="1425000"/>
            <a:ext cx="25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2. 증거화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5010000" y="1730000"/>
            <a:ext cx="2540000" cy="24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claim ↔ evidence 연결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trace event로 재현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validation issue로 판단</a:t>
            </a:r>
          </a:p>
        </p:txBody>
      </p:sp>
      <p:sp>
        <p:nvSpPr>
          <p:cNvPr id="21" name="card"/>
          <p:cNvSpPr/>
          <p:nvPr/>
        </p:nvSpPr>
        <p:spPr>
          <a:xfrm>
            <a:off x="8100000" y="1300000"/>
            <a:ext cx="3200000" cy="30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8100000" y="1300000"/>
            <a:ext cx="90000" cy="30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240000" y="14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O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8660000" y="1425000"/>
            <a:ext cx="25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3. 운영화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8660000" y="1730000"/>
            <a:ext cx="2540000" cy="24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checkpoint로 복구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dashboard로 관측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Judge loop로 개선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050000" y="4950000"/>
            <a:ext cx="9950000" cy="62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>
              <a:buNone/>
            </a:pPr>
            <a:r>
              <a:rPr lang="ko-KR" sz="1350" b="1">
                <a:solidFill>
                  <a:srgbClr val="111827"/>
                </a:solidFill>
                <a:latin typeface="Aptos"/>
                <a:ea typeface="Malgun Gothic"/>
              </a:rPr>
              <a:t>디자인 원칙 · 제목은 작게, 본문은 카드/도표/흐름 중심, 한 장에서 기술 구조를 바로 설명할 수 있게 구성한다.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구현 로드맵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문서 내용을 실제 개선 작업으로 연결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28/30</a:t>
            </a:r>
          </a:p>
        </p:txBody>
      </p:sp>
      <p:sp>
        <p:nvSpPr>
          <p:cNvPr id="11" name="rect"/>
          <p:cNvSpPr/>
          <p:nvPr/>
        </p:nvSpPr>
        <p:spPr>
          <a:xfrm>
            <a:off x="900000" y="1700000"/>
            <a:ext cx="2450000" cy="2300000"/>
          </a:xfrm>
          <a:prstGeom prst="roundRect"/>
          <a:solidFill>
            <a:srgbClr val="EFF6FF"/>
          </a:solidFill>
          <a:ln w="762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1060000" y="1880000"/>
            <a:ext cx="800000" cy="260000"/>
          </a:xfrm>
          <a:prstGeom prst="roundRect"/>
          <a:solidFill>
            <a:srgbClr val="EFF6FF"/>
          </a:solidFill>
          <a:ln w="7620">
            <a:solidFill>
              <a:srgbClr val="EFF6FF"/>
            </a:solidFill>
          </a:ln>
        </p:spPr>
        <p:txBody>
          <a:bodyPr wrap="square" lIns="25000" tIns="25000" rIns="25000" bIns="25000"/>
          <a:lstStyle/>
          <a:p>
            <a:pPr algn="ctr">
              <a:buNone/>
            </a:pPr>
            <a:r>
              <a:rPr lang="ko-KR" sz="900" b="1">
                <a:solidFill>
                  <a:srgbClr val="2563EB"/>
                </a:solidFill>
                <a:latin typeface="Aptos"/>
                <a:ea typeface="Malgun Gothic"/>
              </a:rPr>
              <a:t>Phase 1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1080000" y="2350000"/>
            <a:ext cx="2090000" cy="3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350" b="1">
                <a:solidFill>
                  <a:srgbClr val="2563EB"/>
                </a:solidFill>
                <a:latin typeface="Aptos"/>
                <a:ea typeface="Malgun Gothic"/>
              </a:rPr>
              <a:t>Trace 표준화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1080000" y="2800000"/>
            <a:ext cx="2090000" cy="6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event schema, redaction, JSONL/collector</a:t>
            </a:r>
          </a:p>
        </p:txBody>
      </p:sp>
      <p:sp>
        <p:nvSpPr>
          <p:cNvPr id="15" name="line"/>
          <p:cNvSpPr/>
          <p:nvPr/>
        </p:nvSpPr>
        <p:spPr>
          <a:xfrm>
            <a:off x="3350000" y="2850000"/>
            <a:ext cx="130000" cy="3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arrowhead"/>
          <p:cNvSpPr txBox="1"/>
          <p:nvPr/>
        </p:nvSpPr>
        <p:spPr>
          <a:xfrm>
            <a:off x="3490000" y="27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2563EB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17" name="rect"/>
          <p:cNvSpPr/>
          <p:nvPr/>
        </p:nvSpPr>
        <p:spPr>
          <a:xfrm>
            <a:off x="3650000" y="1700000"/>
            <a:ext cx="2450000" cy="2300000"/>
          </a:xfrm>
          <a:prstGeom prst="roundRect"/>
          <a:solidFill>
            <a:srgbClr val="ECFDF5"/>
          </a:solidFill>
          <a:ln w="7620">
            <a:solidFill>
              <a:srgbClr val="0F766E"/>
            </a:solidFill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3810000" y="1880000"/>
            <a:ext cx="800000" cy="260000"/>
          </a:xfrm>
          <a:prstGeom prst="roundRect"/>
          <a:solidFill>
            <a:srgbClr val="ECFDF5"/>
          </a:solidFill>
          <a:ln w="7620">
            <a:solidFill>
              <a:srgbClr val="ECFDF5"/>
            </a:solidFill>
          </a:ln>
        </p:spPr>
        <p:txBody>
          <a:bodyPr wrap="square" lIns="25000" tIns="25000" rIns="25000" bIns="25000"/>
          <a:lstStyle/>
          <a:p>
            <a:pPr algn="ctr">
              <a:buNone/>
            </a:pPr>
            <a:r>
              <a:rPr lang="ko-KR" sz="900" b="1">
                <a:solidFill>
                  <a:srgbClr val="0F766E"/>
                </a:solidFill>
                <a:latin typeface="Aptos"/>
                <a:ea typeface="Malgun Gothic"/>
              </a:rPr>
              <a:t>Phase 2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3830000" y="2350000"/>
            <a:ext cx="2090000" cy="3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350" b="1">
                <a:solidFill>
                  <a:srgbClr val="0F766E"/>
                </a:solidFill>
                <a:latin typeface="Aptos"/>
                <a:ea typeface="Malgun Gothic"/>
              </a:rPr>
              <a:t>Context 구조화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3830000" y="2800000"/>
            <a:ext cx="2090000" cy="6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state projection, raw/summary 분리</a:t>
            </a:r>
          </a:p>
        </p:txBody>
      </p:sp>
      <p:sp>
        <p:nvSpPr>
          <p:cNvPr id="21" name="line"/>
          <p:cNvSpPr/>
          <p:nvPr/>
        </p:nvSpPr>
        <p:spPr>
          <a:xfrm>
            <a:off x="6100000" y="2850000"/>
            <a:ext cx="130000" cy="3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arrowhead"/>
          <p:cNvSpPr txBox="1"/>
          <p:nvPr/>
        </p:nvSpPr>
        <p:spPr>
          <a:xfrm>
            <a:off x="6240000" y="27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0F766E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3" name="rect"/>
          <p:cNvSpPr/>
          <p:nvPr/>
        </p:nvSpPr>
        <p:spPr>
          <a:xfrm>
            <a:off x="6400000" y="1700000"/>
            <a:ext cx="2450000" cy="2300000"/>
          </a:xfrm>
          <a:prstGeom prst="roundRect"/>
          <a:solidFill>
            <a:srgbClr val="F5F3FF"/>
          </a:solidFill>
          <a:ln w="762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6560000" y="1880000"/>
            <a:ext cx="800000" cy="260000"/>
          </a:xfrm>
          <a:prstGeom prst="roundRect"/>
          <a:solidFill>
            <a:srgbClr val="F5F3FF"/>
          </a:solidFill>
          <a:ln w="7620">
            <a:solidFill>
              <a:srgbClr val="F5F3FF"/>
            </a:solidFill>
          </a:ln>
        </p:spPr>
        <p:txBody>
          <a:bodyPr wrap="square" lIns="25000" tIns="25000" rIns="25000" bIns="25000"/>
          <a:lstStyle/>
          <a:p>
            <a:pPr algn="ctr">
              <a:buNone/>
            </a:pPr>
            <a:r>
              <a:rPr lang="ko-KR" sz="900" b="1">
                <a:solidFill>
                  <a:srgbClr val="7C3AED"/>
                </a:solidFill>
                <a:latin typeface="Aptos"/>
                <a:ea typeface="Malgun Gothic"/>
              </a:rPr>
              <a:t>Phase 3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580000" y="2350000"/>
            <a:ext cx="2090000" cy="3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350" b="1">
                <a:solidFill>
                  <a:srgbClr val="7C3AED"/>
                </a:solidFill>
                <a:latin typeface="Aptos"/>
                <a:ea typeface="Malgun Gothic"/>
              </a:rPr>
              <a:t>Judge 강화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580000" y="2800000"/>
            <a:ext cx="2090000" cy="6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drift rules, LLM-as-a-Judge, fixtures</a:t>
            </a:r>
          </a:p>
        </p:txBody>
      </p:sp>
      <p:sp>
        <p:nvSpPr>
          <p:cNvPr id="27" name="line"/>
          <p:cNvSpPr/>
          <p:nvPr/>
        </p:nvSpPr>
        <p:spPr>
          <a:xfrm>
            <a:off x="8850000" y="2850000"/>
            <a:ext cx="130000" cy="3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arrowhead"/>
          <p:cNvSpPr txBox="1"/>
          <p:nvPr/>
        </p:nvSpPr>
        <p:spPr>
          <a:xfrm>
            <a:off x="8990000" y="2760000"/>
            <a:ext cx="190000" cy="1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300" b="1">
                <a:solidFill>
                  <a:srgbClr val="7C3AED"/>
                </a:solidFill>
                <a:latin typeface="Aptos"/>
                <a:ea typeface="Malgun Gothic"/>
              </a:rPr>
              <a:t>▶</a:t>
            </a:r>
          </a:p>
        </p:txBody>
      </p:sp>
      <p:sp>
        <p:nvSpPr>
          <p:cNvPr id="29" name="rect"/>
          <p:cNvSpPr/>
          <p:nvPr/>
        </p:nvSpPr>
        <p:spPr>
          <a:xfrm>
            <a:off x="9150000" y="1700000"/>
            <a:ext cx="2450000" cy="2300000"/>
          </a:xfrm>
          <a:prstGeom prst="roundRect"/>
          <a:solidFill>
            <a:srgbClr val="FFFBEB"/>
          </a:solidFill>
          <a:ln w="7620">
            <a:solidFill>
              <a:srgbClr val="D97706"/>
            </a:solidFill>
          </a:ln>
        </p:spPr>
        <p:txBody>
          <a:bodyPr/>
          <a:lstStyle/>
          <a:p/>
        </p:txBody>
      </p:sp>
      <p:sp>
        <p:nvSpPr>
          <p:cNvPr id="30" name="text"/>
          <p:cNvSpPr txBox="1"/>
          <p:nvPr/>
        </p:nvSpPr>
        <p:spPr>
          <a:xfrm>
            <a:off x="9310000" y="1880000"/>
            <a:ext cx="800000" cy="260000"/>
          </a:xfrm>
          <a:prstGeom prst="roundRect"/>
          <a:solidFill>
            <a:srgbClr val="FFFBEB"/>
          </a:solidFill>
          <a:ln w="7620">
            <a:solidFill>
              <a:srgbClr val="FFFBEB"/>
            </a:solidFill>
          </a:ln>
        </p:spPr>
        <p:txBody>
          <a:bodyPr wrap="square" lIns="25000" tIns="25000" rIns="25000" bIns="25000"/>
          <a:lstStyle/>
          <a:p>
            <a:pPr algn="ctr">
              <a:buNone/>
            </a:pPr>
            <a:r>
              <a:rPr lang="ko-KR" sz="900" b="1">
                <a:solidFill>
                  <a:srgbClr val="D97706"/>
                </a:solidFill>
                <a:latin typeface="Aptos"/>
                <a:ea typeface="Malgun Gothic"/>
              </a:rPr>
              <a:t>Phase 4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9330000" y="2350000"/>
            <a:ext cx="2090000" cy="3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350" b="1">
                <a:solidFill>
                  <a:srgbClr val="D97706"/>
                </a:solidFill>
                <a:latin typeface="Aptos"/>
                <a:ea typeface="Malgun Gothic"/>
              </a:rPr>
              <a:t>운영화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9330000" y="2800000"/>
            <a:ext cx="2090000" cy="60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050">
                <a:solidFill>
                  <a:srgbClr val="1F2937"/>
                </a:solidFill>
                <a:latin typeface="Aptos"/>
                <a:ea typeface="Malgun Gothic"/>
              </a:rPr>
              <a:t>dashboard, alerts, regression tracking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JUDGE AGENT · CONTEXT ENGINEERING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실무 체크리스트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이 세 가지가 모두 있어야 운영 가능한 Agent가 된다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29/30</a:t>
            </a:r>
          </a:p>
        </p:txBody>
      </p:sp>
      <p:sp>
        <p:nvSpPr>
          <p:cNvPr id="11" name="card"/>
          <p:cNvSpPr/>
          <p:nvPr/>
        </p:nvSpPr>
        <p:spPr>
          <a:xfrm>
            <a:off x="850000" y="1250000"/>
            <a:ext cx="3300000" cy="380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50000" y="1250000"/>
            <a:ext cx="90000" cy="380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9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C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410000" y="13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Context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410000" y="1680000"/>
            <a:ext cx="2640000" cy="32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context inventory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node별 projection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raw/summary 분리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RAG source 보존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compression trigger</a:t>
            </a:r>
          </a:p>
        </p:txBody>
      </p:sp>
      <p:sp>
        <p:nvSpPr>
          <p:cNvPr id="16" name="card"/>
          <p:cNvSpPr/>
          <p:nvPr/>
        </p:nvSpPr>
        <p:spPr>
          <a:xfrm>
            <a:off x="4450000" y="1250000"/>
            <a:ext cx="3300000" cy="380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4450000" y="1250000"/>
            <a:ext cx="90000" cy="380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459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G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5010000" y="13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Graph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5010000" y="1680000"/>
            <a:ext cx="2640000" cy="32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state schema 분리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deterministic node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conditional edge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finish gate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checkpoint/thread_id</a:t>
            </a:r>
          </a:p>
        </p:txBody>
      </p:sp>
      <p:sp>
        <p:nvSpPr>
          <p:cNvPr id="21" name="card"/>
          <p:cNvSpPr/>
          <p:nvPr/>
        </p:nvSpPr>
        <p:spPr>
          <a:xfrm>
            <a:off x="8050000" y="1250000"/>
            <a:ext cx="3300000" cy="380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8050000" y="1250000"/>
            <a:ext cx="90000" cy="380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190000" y="13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T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8610000" y="1375000"/>
            <a:ext cx="26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Telemetry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8610000" y="1680000"/>
            <a:ext cx="2640000" cy="329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run/prompt snapshot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node/edge trace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tool/LLM/RAG/MCP events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validation result</a:t>
            </a:r>
          </a:p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redaction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2000" cy="6858000"/>
          </a:xfrm>
          <a:prstGeom prst="rect"/>
          <a:solidFill>
            <a:srgbClr val="FBFCFE"/>
          </a:solidFill>
          <a:ln w="7620">
            <a:solidFill>
              <a:srgbClr val="FBFCFE"/>
            </a:solidFill>
          </a:ln>
        </p:spPr>
        <p:txBody>
          <a:bodyPr/>
          <a:lstStyle/>
          <a:p/>
        </p:txBody>
      </p:sp>
      <p:sp>
        <p:nvSpPr>
          <p:cNvPr id="12" name="line"/>
          <p:cNvSpPr/>
          <p:nvPr/>
        </p:nvSpPr>
        <p:spPr>
          <a:xfrm>
            <a:off x="0" y="0"/>
            <a:ext cx="12192000" cy="45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520000" y="205000"/>
            <a:ext cx="8500000" cy="17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760" b="1">
                <a:solidFill>
                  <a:srgbClr val="64748B"/>
                </a:solidFill>
                <a:latin typeface="Aptos"/>
                <a:ea typeface="Malgun Gothic"/>
              </a:rPr>
              <a:t>KEY TAKEAWAYS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520000" y="390000"/>
            <a:ext cx="9200000" cy="3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680" b="1">
                <a:solidFill>
                  <a:srgbClr val="111827"/>
                </a:solidFill>
                <a:latin typeface="Aptos"/>
                <a:ea typeface="Malgun Gothic"/>
              </a:rPr>
              <a:t>결론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520000" y="705000"/>
            <a:ext cx="9000000" cy="22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900">
                <a:solidFill>
                  <a:srgbClr val="64748B"/>
                </a:solidFill>
                <a:latin typeface="Aptos"/>
                <a:ea typeface="Malgun Gothic"/>
              </a:rPr>
              <a:t>좋은 Agent는 답변 생성기가 아니라 검증 가능한 실행 시스템이다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10870000" y="6400000"/>
            <a:ext cx="780000" cy="18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ko-KR" sz="800">
                <a:solidFill>
                  <a:srgbClr val="94A3B8"/>
                </a:solidFill>
                <a:latin typeface="Aptos"/>
                <a:ea typeface="Malgun Gothic"/>
              </a:rPr>
              <a:t>30/30</a:t>
            </a:r>
          </a:p>
        </p:txBody>
      </p:sp>
      <p:sp>
        <p:nvSpPr>
          <p:cNvPr id="11" name="card"/>
          <p:cNvSpPr/>
          <p:nvPr/>
        </p:nvSpPr>
        <p:spPr>
          <a:xfrm>
            <a:off x="850000" y="1300000"/>
            <a:ext cx="5000000" cy="1350000"/>
          </a:xfrm>
          <a:prstGeom prst="roundRect"/>
          <a:solidFill>
            <a:srgbClr val="EFF6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2" name="accent"/>
          <p:cNvSpPr/>
          <p:nvPr/>
        </p:nvSpPr>
        <p:spPr>
          <a:xfrm>
            <a:off x="850000" y="1300000"/>
            <a:ext cx="90000" cy="1350000"/>
          </a:xfrm>
          <a:prstGeom prst="rect"/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990000" y="14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2563EB"/>
                </a:solidFill>
                <a:latin typeface="Aptos"/>
                <a:ea typeface="Malgun Gothic"/>
              </a:rPr>
              <a:t>1</a:t>
            </a:r>
          </a:p>
        </p:txBody>
      </p:sp>
      <p:sp>
        <p:nvSpPr>
          <p:cNvPr id="14" name="card title"/>
          <p:cNvSpPr txBox="1"/>
          <p:nvPr/>
        </p:nvSpPr>
        <p:spPr>
          <a:xfrm>
            <a:off x="1410000" y="1425000"/>
            <a:ext cx="4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Context Engineering</a:t>
            </a:r>
          </a:p>
        </p:txBody>
      </p:sp>
      <p:sp>
        <p:nvSpPr>
          <p:cNvPr id="15" name="card body"/>
          <p:cNvSpPr txBox="1"/>
          <p:nvPr/>
        </p:nvSpPr>
        <p:spPr>
          <a:xfrm>
            <a:off x="1410000" y="1730000"/>
            <a:ext cx="4340000" cy="8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모델이 무엇을 볼지, 무엇을 보지 않을지 설계한다.</a:t>
            </a:r>
          </a:p>
        </p:txBody>
      </p:sp>
      <p:sp>
        <p:nvSpPr>
          <p:cNvPr id="16" name="card"/>
          <p:cNvSpPr/>
          <p:nvPr/>
        </p:nvSpPr>
        <p:spPr>
          <a:xfrm>
            <a:off x="6350000" y="1300000"/>
            <a:ext cx="5000000" cy="1350000"/>
          </a:xfrm>
          <a:prstGeom prst="roundRect"/>
          <a:solidFill>
            <a:srgbClr val="ECFDF5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17" name="accent"/>
          <p:cNvSpPr/>
          <p:nvPr/>
        </p:nvSpPr>
        <p:spPr>
          <a:xfrm>
            <a:off x="6350000" y="1300000"/>
            <a:ext cx="90000" cy="1350000"/>
          </a:xfrm>
          <a:prstGeom prst="rect"/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6490000" y="143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0F766E"/>
                </a:solidFill>
                <a:latin typeface="Aptos"/>
                <a:ea typeface="Malgun Gothic"/>
              </a:rPr>
              <a:t>2</a:t>
            </a:r>
          </a:p>
        </p:txBody>
      </p:sp>
      <p:sp>
        <p:nvSpPr>
          <p:cNvPr id="19" name="card title"/>
          <p:cNvSpPr txBox="1"/>
          <p:nvPr/>
        </p:nvSpPr>
        <p:spPr>
          <a:xfrm>
            <a:off x="6910000" y="1425000"/>
            <a:ext cx="4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LangGraph Architecture</a:t>
            </a:r>
          </a:p>
        </p:txBody>
      </p:sp>
      <p:sp>
        <p:nvSpPr>
          <p:cNvPr id="20" name="card body"/>
          <p:cNvSpPr txBox="1"/>
          <p:nvPr/>
        </p:nvSpPr>
        <p:spPr>
          <a:xfrm>
            <a:off x="6910000" y="1730000"/>
            <a:ext cx="4340000" cy="8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State/Node/Edge/Checkpoint로 context flow를 통제한다.</a:t>
            </a:r>
          </a:p>
        </p:txBody>
      </p:sp>
      <p:sp>
        <p:nvSpPr>
          <p:cNvPr id="21" name="card"/>
          <p:cNvSpPr/>
          <p:nvPr/>
        </p:nvSpPr>
        <p:spPr>
          <a:xfrm>
            <a:off x="850000" y="3150000"/>
            <a:ext cx="5000000" cy="1350000"/>
          </a:xfrm>
          <a:prstGeom prst="roundRect"/>
          <a:solidFill>
            <a:srgbClr val="F5F3FF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2" name="accent"/>
          <p:cNvSpPr/>
          <p:nvPr/>
        </p:nvSpPr>
        <p:spPr>
          <a:xfrm>
            <a:off x="850000" y="3150000"/>
            <a:ext cx="90000" cy="1350000"/>
          </a:xfrm>
          <a:prstGeom prst="rect"/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90000" y="32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7C3AED"/>
                </a:solidFill>
                <a:latin typeface="Aptos"/>
                <a:ea typeface="Malgun Gothic"/>
              </a:rPr>
              <a:t>3</a:t>
            </a:r>
          </a:p>
        </p:txBody>
      </p:sp>
      <p:sp>
        <p:nvSpPr>
          <p:cNvPr id="24" name="card title"/>
          <p:cNvSpPr txBox="1"/>
          <p:nvPr/>
        </p:nvSpPr>
        <p:spPr>
          <a:xfrm>
            <a:off x="1410000" y="3275000"/>
            <a:ext cx="4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Drift Telemetry</a:t>
            </a:r>
          </a:p>
        </p:txBody>
      </p:sp>
      <p:sp>
        <p:nvSpPr>
          <p:cNvPr id="25" name="card body"/>
          <p:cNvSpPr txBox="1"/>
          <p:nvPr/>
        </p:nvSpPr>
        <p:spPr>
          <a:xfrm>
            <a:off x="1410000" y="3580000"/>
            <a:ext cx="4340000" cy="8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실행 경로와 근거를 trace로 남겨 Judge가 평가한다.</a:t>
            </a:r>
          </a:p>
        </p:txBody>
      </p:sp>
      <p:sp>
        <p:nvSpPr>
          <p:cNvPr id="26" name="card"/>
          <p:cNvSpPr/>
          <p:nvPr/>
        </p:nvSpPr>
        <p:spPr>
          <a:xfrm>
            <a:off x="6350000" y="3150000"/>
            <a:ext cx="5000000" cy="1350000"/>
          </a:xfrm>
          <a:prstGeom prst="roundRect"/>
          <a:solidFill>
            <a:srgbClr val="FFFBEB"/>
          </a:solidFill>
          <a:ln w="7620">
            <a:solidFill>
              <a:srgbClr val="D8DEE8"/>
            </a:solidFill>
          </a:ln>
        </p:spPr>
        <p:txBody>
          <a:bodyPr/>
          <a:lstStyle/>
          <a:p/>
        </p:txBody>
      </p:sp>
      <p:sp>
        <p:nvSpPr>
          <p:cNvPr id="27" name="accent"/>
          <p:cNvSpPr/>
          <p:nvPr/>
        </p:nvSpPr>
        <p:spPr>
          <a:xfrm>
            <a:off x="6350000" y="3150000"/>
            <a:ext cx="90000" cy="1350000"/>
          </a:xfrm>
          <a:prstGeom prst="rect"/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6490000" y="3280000"/>
            <a:ext cx="360000" cy="36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2200" b="1">
                <a:solidFill>
                  <a:srgbClr val="D97706"/>
                </a:solidFill>
                <a:latin typeface="Aptos"/>
                <a:ea typeface="Malgun Gothic"/>
              </a:rPr>
              <a:t>4</a:t>
            </a:r>
          </a:p>
        </p:txBody>
      </p:sp>
      <p:sp>
        <p:nvSpPr>
          <p:cNvPr id="29" name="card title"/>
          <p:cNvSpPr txBox="1"/>
          <p:nvPr/>
        </p:nvSpPr>
        <p:spPr>
          <a:xfrm>
            <a:off x="6910000" y="3275000"/>
            <a:ext cx="4340000" cy="26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Feedback Loop</a:t>
            </a:r>
          </a:p>
        </p:txBody>
      </p:sp>
      <p:sp>
        <p:nvSpPr>
          <p:cNvPr id="30" name="card body"/>
          <p:cNvSpPr txBox="1"/>
          <p:nvPr/>
        </p:nvSpPr>
        <p:spPr>
          <a:xfrm>
            <a:off x="6910000" y="3580000"/>
            <a:ext cx="4340000" cy="840000"/>
          </a:xfrm>
          <a:prstGeom prst="rect"/>
          <a:noFill/>
          <a:ln>
            <a:noFill/>
          </a:ln>
        </p:spPr>
        <p:txBody>
          <a:bodyPr wrap="square" lIns="0" tIns="0" rIns="0" bIns="0"/>
          <a:lstStyle/>
          <a:p>
            <a:pPr marL="220000" indent="-120000">
              <a:buChar char="•"/>
            </a:pPr>
            <a:r>
              <a:rPr lang="ko-KR" sz="980">
                <a:solidFill>
                  <a:srgbClr val="1F2937"/>
                </a:solidFill>
                <a:latin typeface="Aptos"/>
                <a:ea typeface="Malgun Gothic"/>
              </a:rPr>
              <a:t>평가 결과를 prompt, graph, tool, memory 정책 개선으로 연결한다.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1050000" y="5450000"/>
            <a:ext cx="9900000" cy="520000"/>
          </a:xfrm>
          <a:prstGeom prst="roundRect"/>
          <a:solidFill>
            <a:srgbClr val="FFFFFF"/>
          </a:solidFill>
          <a:ln w="7620">
            <a:solidFill>
              <a:srgbClr val="D8DEE8"/>
            </a:solidFill>
          </a:ln>
        </p:spPr>
        <p:txBody>
          <a:bodyPr wrap="square" lIns="65000" tIns="65000" rIns="65000" bIns="65000"/>
          <a:lstStyle/>
          <a:p>
            <a:pPr algn="ctr">
              <a:buNone/>
            </a:pPr>
            <a:r>
              <a:rPr lang="ko-KR" sz="1250" b="1">
                <a:solidFill>
                  <a:srgbClr val="111827"/>
                </a:solidFill>
                <a:latin typeface="Aptos"/>
                <a:ea typeface="Malgun Gothic"/>
              </a:rPr>
              <a:t>최종 메시지 · 운영 가능한 AI Agent는 “왜 이 답을 했는가?”에 대해 trace, state, evidence로 답할 수 있어야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iteTechnicalSeminar">
  <a:themeElements>
    <a:clrScheme name="WhiteTechnicalSeminar">
      <a:dk1>
        <a:srgbClr val="111827"/>
      </a:dk1>
      <a:lt1>
        <a:srgbClr val="FBFCFE"/>
      </a:lt1>
      <a:dk2>
        <a:srgbClr val="1F2937"/>
      </a:dk2>
      <a:lt2>
        <a:srgbClr val="F3F6FA"/>
      </a:lt2>
      <a:accent1>
        <a:srgbClr val="2563EB"/>
      </a:accent1>
      <a:accent2>
        <a:srgbClr val="0F766E"/>
      </a:accent2>
      <a:accent3>
        <a:srgbClr val="D97706"/>
      </a:accent3>
      <a:accent4>
        <a:srgbClr val="DC262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WhiteTechnicalSeminar">
      <a:majorFont>
        <a:latin typeface="Aptos"/>
        <a:ea typeface="Malgun Gothic"/>
      </a:majorFont>
      <a:minorFont>
        <a:latin typeface="Aptos"/>
        <a:ea typeface="Malgun Gothic"/>
      </a:minorFont>
    </a:fontScheme>
    <a:fmtScheme name="WhiteTechnicalSeminar">
      <a:fillStyleLst>
        <a:solidFill>
          <a:schemeClr val="phClr"/>
        </a:solidFill>
      </a:fillStyleLst>
      <a:lnStyleLst>
        <a:ln w="7620">
          <a:solidFill>
            <a:schemeClr val="phClr"/>
          </a:solidFill>
        </a:ln>
      </a:lnStyleLst>
      <a:effectStyleLst>
        <a:effectStyle/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OpenClaw Visual PPTX Generator</Application>
  <PresentationFormat>On-screen Show (16:9)</PresentationFormat>
  <Slides>30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Judge Agent Context Engineering Technical Seminar</dc:title>
  <dc:creator>OpenClaw</dc:creator>
  <cp:lastModifiedBy>OpenClaw</cp:lastModifiedBy>
  <dcterms:created xsi:type="dcterms:W3CDTF">2026-05-15T00:49:49Z</dcterms:created>
  <dcterms:modified xsi:type="dcterms:W3CDTF">2026-05-15T00:49:49Z</dcterms:modified>
</cp:coreProperties>
</file>