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Techn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WHITE TECHNICAL ARCHITECTURE DECK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Judge Agent를 위한 Context Engineering &amp; Drift Telemetry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기술 세미나용: 컨텍스트 설계 · LangGraph 구조 · Drift 관측/평가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01/29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400000"/>
            <a:ext cx="3200000" cy="15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400000"/>
            <a:ext cx="70000" cy="15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5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C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52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Engineering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1805000"/>
            <a:ext cx="2540000" cy="10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모델이 보는 정보의 설계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선택·압축·격리 정책</a:t>
            </a:r>
          </a:p>
        </p:txBody>
      </p:sp>
      <p:sp>
        <p:nvSpPr>
          <p:cNvPr id="7" name="card"/>
          <p:cNvSpPr/>
          <p:nvPr/>
        </p:nvSpPr>
        <p:spPr>
          <a:xfrm>
            <a:off x="4450000" y="1400000"/>
            <a:ext cx="3200000" cy="15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450000" y="1400000"/>
            <a:ext cx="70000" cy="15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580000" y="15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G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990000" y="152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LangGraph Runtime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990000" y="1805000"/>
            <a:ext cx="2540000" cy="10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State/Node/Edge 흐름 통제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Checkpoint와 validation</a:t>
            </a:r>
          </a:p>
        </p:txBody>
      </p:sp>
      <p:sp>
        <p:nvSpPr>
          <p:cNvPr id="12" name="card"/>
          <p:cNvSpPr/>
          <p:nvPr/>
        </p:nvSpPr>
        <p:spPr>
          <a:xfrm>
            <a:off x="8050000" y="1400000"/>
            <a:ext cx="3200000" cy="15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050000" y="1400000"/>
            <a:ext cx="70000" cy="15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180000" y="15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590000" y="152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Drift Telemetry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590000" y="1805000"/>
            <a:ext cx="2540000" cy="10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실행 경로를 trace로 기록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Judge Agent가 검증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100000" y="4050000"/>
            <a:ext cx="9900000" cy="76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050" b="1">
                <a:solidFill>
                  <a:srgbClr val="2563EB"/>
                </a:solidFill>
                <a:latin typeface="Aptos"/>
                <a:ea typeface="Malgun Gothic"/>
              </a:rPr>
              <a:t>핵심 메시지</a:t>
            </a:r>
          </a:p>
          <a:p>
            <a:pPr>
              <a:buNone/>
            </a:pPr>
            <a:r>
              <a:rPr lang="ko-KR" sz="1640" b="1">
                <a:solidFill>
                  <a:srgbClr val="111827"/>
                </a:solidFill>
                <a:latin typeface="Aptos"/>
                <a:ea typeface="Malgun Gothic"/>
              </a:rPr>
              <a:t>운영 가능한 AI Agent는 “왜 이 답이 나왔는가?”를 state, evidence, trace로 설명할 수 있어야 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운영 Agent가 실패하는 지점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최종 답변만 봐서는 원인을 알 수 없다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02/29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250000"/>
            <a:ext cx="5000000" cy="17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250000"/>
            <a:ext cx="70000" cy="17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Goal Drift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사용자 목표에서 벗어난 작업 수행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필요 증거: run_start ↔ final_output</a:t>
            </a:r>
          </a:p>
        </p:txBody>
      </p:sp>
      <p:sp>
        <p:nvSpPr>
          <p:cNvPr id="7" name="card"/>
          <p:cNvSpPr/>
          <p:nvPr/>
        </p:nvSpPr>
        <p:spPr>
          <a:xfrm>
            <a:off x="6210000" y="1250000"/>
            <a:ext cx="5000000" cy="17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6210000" y="1250000"/>
            <a:ext cx="70000" cy="17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634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75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Tool Drift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75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상태와 맞지 않는 tool 선택 또는 반복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필요 증거: react_step + tool events</a:t>
            </a:r>
          </a:p>
        </p:txBody>
      </p:sp>
      <p:sp>
        <p:nvSpPr>
          <p:cNvPr id="12" name="card"/>
          <p:cNvSpPr/>
          <p:nvPr/>
        </p:nvSpPr>
        <p:spPr>
          <a:xfrm>
            <a:off x="850000" y="3310000"/>
            <a:ext cx="5000000" cy="170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50000" y="3310000"/>
            <a:ext cx="70000" cy="170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98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C262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9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Evidence Drift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9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수치·원인 claim이 도구 근거 없이 생성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필요 증거: tool output ↔ final claim</a:t>
            </a:r>
          </a:p>
        </p:txBody>
      </p:sp>
      <p:sp>
        <p:nvSpPr>
          <p:cNvPr id="17" name="card"/>
          <p:cNvSpPr/>
          <p:nvPr/>
        </p:nvSpPr>
        <p:spPr>
          <a:xfrm>
            <a:off x="6210000" y="3310000"/>
            <a:ext cx="5000000" cy="170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line"/>
          <p:cNvSpPr/>
          <p:nvPr/>
        </p:nvSpPr>
        <p:spPr>
          <a:xfrm>
            <a:off x="6210000" y="3310000"/>
            <a:ext cx="70000" cy="170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34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9770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75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Bloat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75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 logs·대화·observation이 과도하게 누적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필요 증거: llm_start token/context size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세 문서가 만드는 하나의 운영 루프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설계 → 구현 → 관측 → 평가 → 개선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03/29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700000"/>
            <a:ext cx="2700000" cy="15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700000"/>
            <a:ext cx="70000" cy="15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8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820000"/>
            <a:ext cx="20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Engineering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2105000"/>
            <a:ext cx="2040000" cy="10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컨텍스트 계층·정책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실패 모드와 대응</a:t>
            </a:r>
          </a:p>
        </p:txBody>
      </p:sp>
      <p:sp>
        <p:nvSpPr>
          <p:cNvPr id="7" name="card"/>
          <p:cNvSpPr/>
          <p:nvPr/>
        </p:nvSpPr>
        <p:spPr>
          <a:xfrm>
            <a:off x="4650000" y="1700000"/>
            <a:ext cx="2700000" cy="15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650000" y="1700000"/>
            <a:ext cx="70000" cy="15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780000" y="18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2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190000" y="1820000"/>
            <a:ext cx="20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LangGraph 설계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190000" y="2105000"/>
            <a:ext cx="2040000" cy="10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State/Node/Edge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Tool/RAG/Memory 분리</a:t>
            </a:r>
          </a:p>
        </p:txBody>
      </p:sp>
      <p:sp>
        <p:nvSpPr>
          <p:cNvPr id="12" name="card"/>
          <p:cNvSpPr/>
          <p:nvPr/>
        </p:nvSpPr>
        <p:spPr>
          <a:xfrm>
            <a:off x="8450000" y="1700000"/>
            <a:ext cx="2700000" cy="15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450000" y="1700000"/>
            <a:ext cx="70000" cy="15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580000" y="18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3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990000" y="1820000"/>
            <a:ext cx="20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Drift Telemetry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990000" y="2105000"/>
            <a:ext cx="2040000" cy="10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TraceLogger events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Judge 평가 입력</a:t>
            </a:r>
          </a:p>
        </p:txBody>
      </p:sp>
      <p:sp>
        <p:nvSpPr>
          <p:cNvPr id="17" name="line"/>
          <p:cNvSpPr/>
          <p:nvPr/>
        </p:nvSpPr>
        <p:spPr>
          <a:xfrm>
            <a:off x="3550000" y="2450000"/>
            <a:ext cx="98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530000" y="236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3760000" y="2205000"/>
            <a:ext cx="68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730">
                <a:solidFill>
                  <a:srgbClr val="667085"/>
                </a:solidFill>
                <a:latin typeface="Aptos"/>
                <a:ea typeface="Malgun Gothic"/>
              </a:rPr>
              <a:t>policy</a:t>
            </a:r>
          </a:p>
        </p:txBody>
      </p:sp>
      <p:sp>
        <p:nvSpPr>
          <p:cNvPr id="20" name="line"/>
          <p:cNvSpPr/>
          <p:nvPr/>
        </p:nvSpPr>
        <p:spPr>
          <a:xfrm>
            <a:off x="7350000" y="2450000"/>
            <a:ext cx="98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330000" y="236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560000" y="2205000"/>
            <a:ext cx="68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730">
                <a:solidFill>
                  <a:srgbClr val="667085"/>
                </a:solidFill>
                <a:latin typeface="Aptos"/>
                <a:ea typeface="Malgun Gothic"/>
              </a:rPr>
              <a:t>trace</a:t>
            </a:r>
          </a:p>
        </p:txBody>
      </p:sp>
      <p:sp>
        <p:nvSpPr>
          <p:cNvPr id="23" name="card"/>
          <p:cNvSpPr/>
          <p:nvPr/>
        </p:nvSpPr>
        <p:spPr>
          <a:xfrm>
            <a:off x="720000" y="5480000"/>
            <a:ext cx="3400000" cy="6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4" name="line"/>
          <p:cNvSpPr/>
          <p:nvPr/>
        </p:nvSpPr>
        <p:spPr>
          <a:xfrm>
            <a:off x="720000" y="5480000"/>
            <a:ext cx="70000" cy="6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890000" y="5600000"/>
            <a:ext cx="3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Feedback Loop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90000" y="5885000"/>
            <a:ext cx="3100000" cy="1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평가 결과를 prompt, graph, tool, memory 정책 개선으로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Context는 하나가 아니라 계층이다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LLM에게 직접 넣는 정보와 시스템이 보관하는 정보를 분리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04/29</a:t>
            </a:r>
          </a:p>
        </p:txBody>
      </p:sp>
      <p:sp>
        <p:nvSpPr>
          <p:cNvPr id="2" name="layer"/>
          <p:cNvSpPr/>
          <p:nvPr/>
        </p:nvSpPr>
        <p:spPr>
          <a:xfrm>
            <a:off x="1050000" y="1120000"/>
            <a:ext cx="10150000" cy="520000"/>
          </a:xfrm>
          <a:prstGeom prst="roundRect"/>
          <a:solidFill>
            <a:srgbClr val="EFF6FF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1230000" y="124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2563EB"/>
                </a:solidFill>
                <a:latin typeface="Aptos"/>
                <a:ea typeface="Malgun Gothic"/>
              </a:rPr>
              <a:t>Instruction Context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50000" y="125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역할, 정책, 금지사항, output contract</a:t>
            </a:r>
          </a:p>
        </p:txBody>
      </p:sp>
      <p:sp>
        <p:nvSpPr>
          <p:cNvPr id="5" name="layer"/>
          <p:cNvSpPr/>
          <p:nvPr/>
        </p:nvSpPr>
        <p:spPr>
          <a:xfrm>
            <a:off x="1050000" y="1735000"/>
            <a:ext cx="10150000" cy="520000"/>
          </a:xfrm>
          <a:prstGeom prst="roundRect"/>
          <a:solidFill>
            <a:srgbClr val="ECFDF5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1230000" y="186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F766E"/>
                </a:solidFill>
                <a:latin typeface="Aptos"/>
                <a:ea typeface="Malgun Gothic"/>
              </a:rPr>
              <a:t>Task Context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50000" y="186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현재 요청, 목표, 제약, 성공 기준</a:t>
            </a:r>
          </a:p>
        </p:txBody>
      </p:sp>
      <p:sp>
        <p:nvSpPr>
          <p:cNvPr id="8" name="layer"/>
          <p:cNvSpPr/>
          <p:nvPr/>
        </p:nvSpPr>
        <p:spPr>
          <a:xfrm>
            <a:off x="1050000" y="2350000"/>
            <a:ext cx="10150000" cy="520000"/>
          </a:xfrm>
          <a:prstGeom prst="roundRect"/>
          <a:solidFill>
            <a:srgbClr val="F5F3FF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230000" y="247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7C3AED"/>
                </a:solidFill>
                <a:latin typeface="Aptos"/>
                <a:ea typeface="Malgun Gothic"/>
              </a:rPr>
              <a:t>Knowledge / RAG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550000" y="248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문서, 코드, 정책, runbook, 검색 결과</a:t>
            </a:r>
          </a:p>
        </p:txBody>
      </p:sp>
      <p:sp>
        <p:nvSpPr>
          <p:cNvPr id="11" name="layer"/>
          <p:cNvSpPr/>
          <p:nvPr/>
        </p:nvSpPr>
        <p:spPr>
          <a:xfrm>
            <a:off x="1050000" y="2965000"/>
            <a:ext cx="10150000" cy="520000"/>
          </a:xfrm>
          <a:prstGeom prst="roundRect"/>
          <a:solidFill>
            <a:srgbClr val="FFFBEB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230000" y="309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97706"/>
                </a:solidFill>
                <a:latin typeface="Aptos"/>
                <a:ea typeface="Malgun Gothic"/>
              </a:rPr>
              <a:t>Memory Context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50000" y="309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사용자 선호, 과거 결정, 절차</a:t>
            </a:r>
          </a:p>
        </p:txBody>
      </p:sp>
      <p:sp>
        <p:nvSpPr>
          <p:cNvPr id="14" name="layer"/>
          <p:cNvSpPr/>
          <p:nvPr/>
        </p:nvSpPr>
        <p:spPr>
          <a:xfrm>
            <a:off x="1050000" y="3580000"/>
            <a:ext cx="10150000" cy="520000"/>
          </a:xfrm>
          <a:prstGeom prst="roundRect"/>
          <a:solidFill>
            <a:srgbClr val="ECFEFF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30000" y="370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891B2"/>
                </a:solidFill>
                <a:latin typeface="Aptos"/>
                <a:ea typeface="Malgun Gothic"/>
              </a:rPr>
              <a:t>Tool Observation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50000" y="371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도구 호출 결과, MCP 응답, 로그 분석 결과</a:t>
            </a:r>
          </a:p>
        </p:txBody>
      </p:sp>
      <p:sp>
        <p:nvSpPr>
          <p:cNvPr id="17" name="layer"/>
          <p:cNvSpPr/>
          <p:nvPr/>
        </p:nvSpPr>
        <p:spPr>
          <a:xfrm>
            <a:off x="1050000" y="4195000"/>
            <a:ext cx="10150000" cy="520000"/>
          </a:xfrm>
          <a:prstGeom prst="roundRect"/>
          <a:solidFill>
            <a:srgbClr val="FEF2F2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230000" y="432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C2626"/>
                </a:solidFill>
                <a:latin typeface="Aptos"/>
                <a:ea typeface="Malgun Gothic"/>
              </a:rPr>
              <a:t>State / Validation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550000" y="432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진행 상태, evidence, errors, validation gate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100000" y="5700000"/>
            <a:ext cx="10000000" cy="36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45000" tIns="45000" rIns="45000" bIns="45000"/>
          <a:lstStyle/>
          <a:p>
            <a:pPr algn="ctr">
              <a:buNone/>
            </a:pPr>
            <a:r>
              <a:rPr lang="ko-KR" sz="1050" b="1">
                <a:solidFill>
                  <a:srgbClr val="111827"/>
                </a:solidFill>
                <a:latin typeface="Aptos"/>
                <a:ea typeface="Malgun Gothic"/>
              </a:rPr>
              <a:t>원칙: 전체 계층을 매번 넣지 말고, 현재 Node와 목표에 필요한 계층만 projection한다.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Context Inventory: 무엇을 보여줄 수 있는가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항상 포함 / 관련 시 포함 / 절대 제외를 먼저 분류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05/29</a:t>
            </a:r>
          </a:p>
        </p:txBody>
      </p:sp>
      <p:sp>
        <p:nvSpPr>
          <p:cNvPr id="2" name="layer"/>
          <p:cNvSpPr/>
          <p:nvPr/>
        </p:nvSpPr>
        <p:spPr>
          <a:xfrm>
            <a:off x="1050000" y="1120000"/>
            <a:ext cx="10150000" cy="520000"/>
          </a:xfrm>
          <a:prstGeom prst="roundRect"/>
          <a:solidFill>
            <a:srgbClr val="EFF6FF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1230000" y="124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2563EB"/>
                </a:solidFill>
                <a:latin typeface="Aptos"/>
                <a:ea typeface="Malgun Gothic"/>
              </a:rPr>
              <a:t>Always Include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50000" y="125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core instruction, safety priority, output schema</a:t>
            </a:r>
          </a:p>
        </p:txBody>
      </p:sp>
      <p:sp>
        <p:nvSpPr>
          <p:cNvPr id="5" name="layer"/>
          <p:cNvSpPr/>
          <p:nvPr/>
        </p:nvSpPr>
        <p:spPr>
          <a:xfrm>
            <a:off x="1050000" y="1735000"/>
            <a:ext cx="10150000" cy="520000"/>
          </a:xfrm>
          <a:prstGeom prst="roundRect"/>
          <a:solidFill>
            <a:srgbClr val="ECFDF5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1230000" y="186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F766E"/>
                </a:solidFill>
                <a:latin typeface="Aptos"/>
                <a:ea typeface="Malgun Gothic"/>
              </a:rPr>
              <a:t>Relevant Only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50000" y="186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retrieved docs, selected memory, current tool set</a:t>
            </a:r>
          </a:p>
        </p:txBody>
      </p:sp>
      <p:sp>
        <p:nvSpPr>
          <p:cNvPr id="8" name="layer"/>
          <p:cNvSpPr/>
          <p:nvPr/>
        </p:nvSpPr>
        <p:spPr>
          <a:xfrm>
            <a:off x="1050000" y="2350000"/>
            <a:ext cx="10150000" cy="520000"/>
          </a:xfrm>
          <a:prstGeom prst="roundRect"/>
          <a:solidFill>
            <a:srgbClr val="FEF2F2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230000" y="247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C2626"/>
                </a:solidFill>
                <a:latin typeface="Aptos"/>
                <a:ea typeface="Malgun Gothic"/>
              </a:rPr>
              <a:t>Never Include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550000" y="248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secrets, raw PII, obsolete policy, unverified assumptions</a:t>
            </a:r>
          </a:p>
        </p:txBody>
      </p:sp>
      <p:sp>
        <p:nvSpPr>
          <p:cNvPr id="11" name="layer"/>
          <p:cNvSpPr/>
          <p:nvPr/>
        </p:nvSpPr>
        <p:spPr>
          <a:xfrm>
            <a:off x="1050000" y="2965000"/>
            <a:ext cx="10150000" cy="520000"/>
          </a:xfrm>
          <a:prstGeom prst="roundRect"/>
          <a:solidFill>
            <a:srgbClr val="F5F3FF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230000" y="309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7C3AED"/>
                </a:solidFill>
                <a:latin typeface="Aptos"/>
                <a:ea typeface="Malgun Gothic"/>
              </a:rPr>
              <a:t>Evidence Sources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50000" y="309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tool metrics, log samples, source ids, MCP metadata</a:t>
            </a:r>
          </a:p>
        </p:txBody>
      </p:sp>
      <p:sp>
        <p:nvSpPr>
          <p:cNvPr id="14" name="layer"/>
          <p:cNvSpPr/>
          <p:nvPr/>
        </p:nvSpPr>
        <p:spPr>
          <a:xfrm>
            <a:off x="1050000" y="3580000"/>
            <a:ext cx="10150000" cy="520000"/>
          </a:xfrm>
          <a:prstGeom prst="roundRect"/>
          <a:solidFill>
            <a:srgbClr val="FFFBEB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30000" y="370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97706"/>
                </a:solidFill>
                <a:latin typeface="Aptos"/>
                <a:ea typeface="Malgun Gothic"/>
              </a:rPr>
              <a:t>Compression Targets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50000" y="371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raw logs, long observations, old messages, errors</a:t>
            </a:r>
          </a:p>
        </p:txBody>
      </p:sp>
      <p:sp>
        <p:nvSpPr>
          <p:cNvPr id="17" name="layer"/>
          <p:cNvSpPr/>
          <p:nvPr/>
        </p:nvSpPr>
        <p:spPr>
          <a:xfrm>
            <a:off x="1050000" y="4195000"/>
            <a:ext cx="10150000" cy="520000"/>
          </a:xfrm>
          <a:prstGeom prst="roundRect"/>
          <a:solidFill>
            <a:srgbClr val="ECFEFF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230000" y="432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891B2"/>
                </a:solidFill>
                <a:latin typeface="Aptos"/>
                <a:ea typeface="Malgun Gothic"/>
              </a:rPr>
              <a:t>Audit Fields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550000" y="432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run_id, thread_id, prompt version, graph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Context Packing: 넣는 순서도 설계다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중요한 지시와 근거가 노이즈에 묻히지 않게 배치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06/29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Role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core instruction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Rules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safety priority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C262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Goal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task objective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Schema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output contract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ECFE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State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projection only</a:t>
            </a:r>
          </a:p>
        </p:txBody>
      </p:sp>
      <p:sp>
        <p:nvSpPr>
          <p:cNvPr id="30" name="line"/>
          <p:cNvSpPr/>
          <p:nvPr/>
        </p:nvSpPr>
        <p:spPr>
          <a:xfrm>
            <a:off x="9700000" y="2220000"/>
            <a:ext cx="70000" cy="26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977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891B2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2" name="card"/>
          <p:cNvSpPr/>
          <p:nvPr/>
        </p:nvSpPr>
        <p:spPr>
          <a:xfrm>
            <a:off x="996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line"/>
          <p:cNvSpPr/>
          <p:nvPr/>
        </p:nvSpPr>
        <p:spPr>
          <a:xfrm>
            <a:off x="996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101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1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RAG/memory/tools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핵심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출처·최신성·충돌 여부를 함께 전달하고, raw data는 artifact reference로 대체한다.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Write / Select / Compress / Isolate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Context Engineering의 4대 전략을 Graph 구조에 매핑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07/29</a:t>
            </a:r>
          </a:p>
        </p:txBody>
      </p:sp>
      <p:sp>
        <p:nvSpPr>
          <p:cNvPr id="2" name="card"/>
          <p:cNvSpPr/>
          <p:nvPr/>
        </p:nvSpPr>
        <p:spPr>
          <a:xfrm>
            <a:off x="950000" y="1450000"/>
            <a:ext cx="3000000" cy="13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950000" y="1450000"/>
            <a:ext cx="70000" cy="13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10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W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490000" y="157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Write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90000" y="1855000"/>
            <a:ext cx="2340000" cy="8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 / Memory / Checkpoint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Artifact에 raw data 저장</a:t>
            </a:r>
          </a:p>
        </p:txBody>
      </p:sp>
      <p:sp>
        <p:nvSpPr>
          <p:cNvPr id="7" name="card"/>
          <p:cNvSpPr/>
          <p:nvPr/>
        </p:nvSpPr>
        <p:spPr>
          <a:xfrm>
            <a:off x="8250000" y="1450000"/>
            <a:ext cx="3000000" cy="13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8250000" y="1450000"/>
            <a:ext cx="70000" cy="13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83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790000" y="157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Select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790000" y="1855000"/>
            <a:ext cx="2340000" cy="8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rerank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 allowlist / Memory retrieval</a:t>
            </a:r>
          </a:p>
        </p:txBody>
      </p:sp>
      <p:sp>
        <p:nvSpPr>
          <p:cNvPr id="12" name="card"/>
          <p:cNvSpPr/>
          <p:nvPr/>
        </p:nvSpPr>
        <p:spPr>
          <a:xfrm>
            <a:off x="8250000" y="4000000"/>
            <a:ext cx="3000000" cy="13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250000" y="4000000"/>
            <a:ext cx="70000" cy="13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380000" y="41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97706"/>
                </a:solidFill>
                <a:latin typeface="Aptos"/>
                <a:ea typeface="Malgun Gothic"/>
              </a:rPr>
              <a:t>C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790000" y="412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Compress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790000" y="4405000"/>
            <a:ext cx="2340000" cy="8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Observation summary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Error compaction</a:t>
            </a:r>
          </a:p>
        </p:txBody>
      </p:sp>
      <p:sp>
        <p:nvSpPr>
          <p:cNvPr id="17" name="card"/>
          <p:cNvSpPr/>
          <p:nvPr/>
        </p:nvSpPr>
        <p:spPr>
          <a:xfrm>
            <a:off x="950000" y="4000000"/>
            <a:ext cx="3000000" cy="13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line"/>
          <p:cNvSpPr/>
          <p:nvPr/>
        </p:nvSpPr>
        <p:spPr>
          <a:xfrm>
            <a:off x="950000" y="4000000"/>
            <a:ext cx="70000" cy="13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080000" y="41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I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90000" y="412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Isolate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490000" y="4405000"/>
            <a:ext cx="2340000" cy="8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Subgraph / Subagent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 permission scope</a:t>
            </a:r>
          </a:p>
        </p:txBody>
      </p:sp>
      <p:sp>
        <p:nvSpPr>
          <p:cNvPr id="22" name="card"/>
          <p:cNvSpPr/>
          <p:nvPr/>
        </p:nvSpPr>
        <p:spPr>
          <a:xfrm>
            <a:off x="4650000" y="2820000"/>
            <a:ext cx="2700000" cy="11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line"/>
          <p:cNvSpPr/>
          <p:nvPr/>
        </p:nvSpPr>
        <p:spPr>
          <a:xfrm>
            <a:off x="4650000" y="2820000"/>
            <a:ext cx="70000" cy="1150000"/>
          </a:xfrm>
          <a:prstGeom prst="rect"/>
          <a:solidFill>
            <a:srgbClr val="475569"/>
          </a:solidFill>
          <a:ln w="7620">
            <a:solidFill>
              <a:srgbClr val="475569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4780000" y="295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475569"/>
                </a:solidFill>
                <a:latin typeface="Aptos"/>
                <a:ea typeface="Malgun Gothic"/>
              </a:rPr>
              <a:t>G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190000" y="2940000"/>
            <a:ext cx="20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Graph State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190000" y="3225000"/>
            <a:ext cx="2040000" cy="6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컨텍스트 후보 저장소</a:t>
            </a:r>
          </a:p>
        </p:txBody>
      </p:sp>
      <p:sp>
        <p:nvSpPr>
          <p:cNvPr id="27" name="line"/>
          <p:cNvSpPr/>
          <p:nvPr/>
        </p:nvSpPr>
        <p:spPr>
          <a:xfrm>
            <a:off x="3950000" y="2120000"/>
            <a:ext cx="418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130000" y="20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9" name="line"/>
          <p:cNvSpPr/>
          <p:nvPr/>
        </p:nvSpPr>
        <p:spPr>
          <a:xfrm>
            <a:off x="9750000" y="2800000"/>
            <a:ext cx="26000" cy="108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9665000" y="388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▼</a:t>
            </a:r>
          </a:p>
        </p:txBody>
      </p:sp>
      <p:sp>
        <p:nvSpPr>
          <p:cNvPr id="31" name="line"/>
          <p:cNvSpPr/>
          <p:nvPr/>
        </p:nvSpPr>
        <p:spPr>
          <a:xfrm>
            <a:off x="8250000" y="4680000"/>
            <a:ext cx="1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3830000" y="459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3" name="line"/>
          <p:cNvSpPr/>
          <p:nvPr/>
        </p:nvSpPr>
        <p:spPr>
          <a:xfrm>
            <a:off x="2450000" y="4000000"/>
            <a:ext cx="26000" cy="1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2365000" y="268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Long Context Failure Modes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긴 컨텍스트는 성능 향상이 아니라 오염과 혼란을 만들 수 있다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08/29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250000"/>
            <a:ext cx="5000000" cy="170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250000"/>
            <a:ext cx="70000" cy="170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C262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Poisoning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잘못된 정보가 state/memory에 들어가 이후 판단을 오염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source, confidence, hypothesis label</a:t>
            </a:r>
          </a:p>
        </p:txBody>
      </p:sp>
      <p:sp>
        <p:nvSpPr>
          <p:cNvPr id="7" name="card"/>
          <p:cNvSpPr/>
          <p:nvPr/>
        </p:nvSpPr>
        <p:spPr>
          <a:xfrm>
            <a:off x="6210000" y="1250000"/>
            <a:ext cx="5000000" cy="170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6210000" y="1250000"/>
            <a:ext cx="70000" cy="170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634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9770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75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Distraction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75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긴 과거 정보가 현재 목표 판단을 방해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stale context trimming</a:t>
            </a:r>
          </a:p>
        </p:txBody>
      </p:sp>
      <p:sp>
        <p:nvSpPr>
          <p:cNvPr id="12" name="card"/>
          <p:cNvSpPr/>
          <p:nvPr/>
        </p:nvSpPr>
        <p:spPr>
          <a:xfrm>
            <a:off x="850000" y="3310000"/>
            <a:ext cx="5000000" cy="17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50000" y="3310000"/>
            <a:ext cx="70000" cy="17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98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9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Confusion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9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불필요한 tool/doc이 모델 선택을 흔듦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dynamic tool selection</a:t>
            </a:r>
          </a:p>
        </p:txBody>
      </p:sp>
      <p:sp>
        <p:nvSpPr>
          <p:cNvPr id="17" name="card"/>
          <p:cNvSpPr/>
          <p:nvPr/>
        </p:nvSpPr>
        <p:spPr>
          <a:xfrm>
            <a:off x="6210000" y="3310000"/>
            <a:ext cx="5000000" cy="17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line"/>
          <p:cNvSpPr/>
          <p:nvPr/>
        </p:nvSpPr>
        <p:spPr>
          <a:xfrm>
            <a:off x="6210000" y="3310000"/>
            <a:ext cx="70000" cy="17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34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75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 Clash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75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문서·메모리·도구 결과가 서로 충돌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priority, validation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LangGraph는 Context Flow를 명시화한다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State, Node, Edge는 각각 저장소, 경계, 흐름 제어다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09/29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800000"/>
            <a:ext cx="2500000" cy="12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800000"/>
            <a:ext cx="70000" cy="12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9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I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920000"/>
            <a:ext cx="18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Input State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2205000"/>
            <a:ext cx="1840000" cy="7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user_input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access_log_path</a:t>
            </a:r>
          </a:p>
        </p:txBody>
      </p:sp>
      <p:sp>
        <p:nvSpPr>
          <p:cNvPr id="7" name="card"/>
          <p:cNvSpPr/>
          <p:nvPr/>
        </p:nvSpPr>
        <p:spPr>
          <a:xfrm>
            <a:off x="4250000" y="1250000"/>
            <a:ext cx="3000000" cy="98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250000" y="1250000"/>
            <a:ext cx="70000" cy="98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38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N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790000" y="137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Node A: Parse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790000" y="1655000"/>
            <a:ext cx="2340000" cy="4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request 추출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 update</a:t>
            </a:r>
          </a:p>
        </p:txBody>
      </p:sp>
      <p:sp>
        <p:nvSpPr>
          <p:cNvPr id="12" name="card"/>
          <p:cNvSpPr/>
          <p:nvPr/>
        </p:nvSpPr>
        <p:spPr>
          <a:xfrm>
            <a:off x="4250000" y="2750000"/>
            <a:ext cx="3000000" cy="98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4250000" y="2750000"/>
            <a:ext cx="70000" cy="98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4380000" y="28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790000" y="287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Node B: Tools/RAG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790000" y="3155000"/>
            <a:ext cx="2340000" cy="4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evidence 수집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context 압축</a:t>
            </a:r>
          </a:p>
        </p:txBody>
      </p:sp>
      <p:sp>
        <p:nvSpPr>
          <p:cNvPr id="17" name="card"/>
          <p:cNvSpPr/>
          <p:nvPr/>
        </p:nvSpPr>
        <p:spPr>
          <a:xfrm>
            <a:off x="4250000" y="4250000"/>
            <a:ext cx="3000000" cy="98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line"/>
          <p:cNvSpPr/>
          <p:nvPr/>
        </p:nvSpPr>
        <p:spPr>
          <a:xfrm>
            <a:off x="4250000" y="4250000"/>
            <a:ext cx="70000" cy="98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4380000" y="4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C2626"/>
                </a:solidFill>
                <a:latin typeface="Aptos"/>
                <a:ea typeface="Malgun Gothic"/>
              </a:rPr>
              <a:t>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790000" y="4370000"/>
            <a:ext cx="2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Node C: Validate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790000" y="4655000"/>
            <a:ext cx="2340000" cy="4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claim 검사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finish gate</a:t>
            </a:r>
          </a:p>
        </p:txBody>
      </p:sp>
      <p:sp>
        <p:nvSpPr>
          <p:cNvPr id="22" name="card"/>
          <p:cNvSpPr/>
          <p:nvPr/>
        </p:nvSpPr>
        <p:spPr>
          <a:xfrm>
            <a:off x="8150000" y="2750000"/>
            <a:ext cx="2850000" cy="120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line"/>
          <p:cNvSpPr/>
          <p:nvPr/>
        </p:nvSpPr>
        <p:spPr>
          <a:xfrm>
            <a:off x="8150000" y="2750000"/>
            <a:ext cx="70000" cy="120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8280000" y="28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97706"/>
                </a:solidFill>
                <a:latin typeface="Aptos"/>
                <a:ea typeface="Malgun Gothic"/>
              </a:rPr>
              <a:t>O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690000" y="2870000"/>
            <a:ext cx="219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Output State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690000" y="3155000"/>
            <a:ext cx="2190000" cy="7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final_report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validation</a:t>
            </a:r>
          </a:p>
        </p:txBody>
      </p:sp>
      <p:sp>
        <p:nvSpPr>
          <p:cNvPr id="27" name="line"/>
          <p:cNvSpPr/>
          <p:nvPr/>
        </p:nvSpPr>
        <p:spPr>
          <a:xfrm>
            <a:off x="3350000" y="2400000"/>
            <a:ext cx="78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4130000" y="231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9" name="line"/>
          <p:cNvSpPr/>
          <p:nvPr/>
        </p:nvSpPr>
        <p:spPr>
          <a:xfrm>
            <a:off x="5750000" y="2230000"/>
            <a:ext cx="26000" cy="4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5665000" y="26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▼</a:t>
            </a:r>
          </a:p>
        </p:txBody>
      </p:sp>
      <p:sp>
        <p:nvSpPr>
          <p:cNvPr id="31" name="line"/>
          <p:cNvSpPr/>
          <p:nvPr/>
        </p:nvSpPr>
        <p:spPr>
          <a:xfrm>
            <a:off x="5750000" y="3730000"/>
            <a:ext cx="26000" cy="4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5665000" y="4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▼</a:t>
            </a:r>
          </a:p>
        </p:txBody>
      </p:sp>
      <p:sp>
        <p:nvSpPr>
          <p:cNvPr id="33" name="line"/>
          <p:cNvSpPr/>
          <p:nvPr/>
        </p:nvSpPr>
        <p:spPr>
          <a:xfrm>
            <a:off x="7250000" y="4800000"/>
            <a:ext cx="1530000" cy="26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8780000" y="471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C262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5" name="card"/>
          <p:cNvSpPr/>
          <p:nvPr/>
        </p:nvSpPr>
        <p:spPr>
          <a:xfrm>
            <a:off x="720000" y="5480000"/>
            <a:ext cx="3400000" cy="650000"/>
          </a:xfrm>
          <a:prstGeom prst="roundRect"/>
          <a:solidFill>
            <a:srgbClr val="F0FDF4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6" name="line"/>
          <p:cNvSpPr/>
          <p:nvPr/>
        </p:nvSpPr>
        <p:spPr>
          <a:xfrm>
            <a:off x="720000" y="5480000"/>
            <a:ext cx="70000" cy="650000"/>
          </a:xfrm>
          <a:prstGeom prst="rect"/>
          <a:solidFill>
            <a:srgbClr val="16A34A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890000" y="5600000"/>
            <a:ext cx="3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Checkpointer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90000" y="5885000"/>
            <a:ext cx="3100000" cy="1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각 step의 state snapshot으로 resume/time travel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State 설계: raw, summary, evidence 분리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State는 LLM prompt가 아니라 컨텍스트 후보 저장소다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10/29</a:t>
            </a:r>
          </a:p>
        </p:txBody>
      </p:sp>
      <p:sp>
        <p:nvSpPr>
          <p:cNvPr id="2" name="code"/>
          <p:cNvSpPr/>
          <p:nvPr/>
        </p:nvSpPr>
        <p:spPr>
          <a:xfrm>
            <a:off x="850000" y="1250000"/>
            <a:ext cx="5200000" cy="4200000"/>
          </a:xfrm>
          <a:prstGeom prst="round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980000" y="1360000"/>
            <a:ext cx="494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50" b="1">
                <a:solidFill>
                  <a:srgbClr val="7C3AED"/>
                </a:solidFill>
                <a:latin typeface="Aptos"/>
                <a:ea typeface="Malgun Gothic"/>
              </a:rPr>
              <a:t>권장 State 구조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80000" y="1630000"/>
            <a:ext cx="4940000" cy="37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request          # 사용자 목표/제약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raw_log_ref      # 원본 artifact 참조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metrics          # deterministic evidence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rag_context      # retrieved guidance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mcp_context      # service metadata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evidence         # final claim 근거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validation       # gate 결과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errors           # compacted errors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final_report     # output contract</a:t>
            </a:r>
          </a:p>
        </p:txBody>
      </p:sp>
      <p:sp>
        <p:nvSpPr>
          <p:cNvPr id="5" name="card"/>
          <p:cNvSpPr/>
          <p:nvPr/>
        </p:nvSpPr>
        <p:spPr>
          <a:xfrm>
            <a:off x="6600000" y="1260000"/>
            <a:ext cx="4550000" cy="122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" name="line"/>
          <p:cNvSpPr/>
          <p:nvPr/>
        </p:nvSpPr>
        <p:spPr>
          <a:xfrm>
            <a:off x="6600000" y="1260000"/>
            <a:ext cx="70000" cy="122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770000" y="13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분리 원칙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770000" y="16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 data와 summary 분리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evidence와 hypothesis 분리</a:t>
            </a:r>
          </a:p>
        </p:txBody>
      </p:sp>
      <p:sp>
        <p:nvSpPr>
          <p:cNvPr id="9" name="card"/>
          <p:cNvSpPr/>
          <p:nvPr/>
        </p:nvSpPr>
        <p:spPr>
          <a:xfrm>
            <a:off x="6600000" y="2710000"/>
            <a:ext cx="4550000" cy="122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" name="line"/>
          <p:cNvSpPr/>
          <p:nvPr/>
        </p:nvSpPr>
        <p:spPr>
          <a:xfrm>
            <a:off x="6600000" y="2710000"/>
            <a:ext cx="70000" cy="122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770000" y="283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LLM Projection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70000" y="311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node별 필요한 필드만 전달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전체 state 주입 금지</a:t>
            </a:r>
          </a:p>
        </p:txBody>
      </p:sp>
      <p:sp>
        <p:nvSpPr>
          <p:cNvPr id="13" name="card"/>
          <p:cNvSpPr/>
          <p:nvPr/>
        </p:nvSpPr>
        <p:spPr>
          <a:xfrm>
            <a:off x="6600000" y="4160000"/>
            <a:ext cx="4550000" cy="122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line"/>
          <p:cNvSpPr/>
          <p:nvPr/>
        </p:nvSpPr>
        <p:spPr>
          <a:xfrm>
            <a:off x="6600000" y="4160000"/>
            <a:ext cx="70000" cy="122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770000" y="42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Judge 관점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770000" y="45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claim ↔ evidence 추적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 diff로 drift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Node는 Context Boundary다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각 Node는 read/write/visible/hidden context contract를 가져야 한다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11/29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800000"/>
            <a:ext cx="2800000" cy="22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800000"/>
            <a:ext cx="70000" cy="22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9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C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920000"/>
            <a:ext cx="21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Node Contract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2205000"/>
            <a:ext cx="2140000" cy="17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Reads: filteredRecords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Writes: metrics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Visible: count/rate/p95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Hidden: raw records</a:t>
            </a:r>
          </a:p>
        </p:txBody>
      </p:sp>
      <p:sp>
        <p:nvSpPr>
          <p:cNvPr id="7" name="card"/>
          <p:cNvSpPr/>
          <p:nvPr/>
        </p:nvSpPr>
        <p:spPr>
          <a:xfrm>
            <a:off x="4550000" y="1800000"/>
            <a:ext cx="2800000" cy="22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550000" y="1800000"/>
            <a:ext cx="70000" cy="22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80000" y="19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090000" y="1920000"/>
            <a:ext cx="21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Deterministic Work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090000" y="2205000"/>
            <a:ext cx="2140000" cy="17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parse / filter / compute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숫자는 code로 계산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schema validation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redaction</a:t>
            </a:r>
          </a:p>
        </p:txBody>
      </p:sp>
      <p:sp>
        <p:nvSpPr>
          <p:cNvPr id="12" name="card"/>
          <p:cNvSpPr/>
          <p:nvPr/>
        </p:nvSpPr>
        <p:spPr>
          <a:xfrm>
            <a:off x="8250000" y="1800000"/>
            <a:ext cx="2800000" cy="22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250000" y="1800000"/>
            <a:ext cx="70000" cy="22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380000" y="193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790000" y="1920000"/>
            <a:ext cx="21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LLM View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790000" y="2205000"/>
            <a:ext cx="2140000" cy="17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요약 evidence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source id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limitations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next action only</a:t>
            </a:r>
          </a:p>
        </p:txBody>
      </p:sp>
      <p:sp>
        <p:nvSpPr>
          <p:cNvPr id="17" name="line"/>
          <p:cNvSpPr/>
          <p:nvPr/>
        </p:nvSpPr>
        <p:spPr>
          <a:xfrm>
            <a:off x="3650000" y="2900000"/>
            <a:ext cx="78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430000" y="281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9" name="line"/>
          <p:cNvSpPr/>
          <p:nvPr/>
        </p:nvSpPr>
        <p:spPr>
          <a:xfrm>
            <a:off x="7350000" y="2900000"/>
            <a:ext cx="78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8130000" y="281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Tool Drift 방지: Dynamic Tool Selection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현재 state에서 필요한 도구만 LLM에게 노출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12/29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Parse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parse_user_request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Load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read_log_file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Filter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filter_records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Metrics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compute_metrics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ECFE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/ MCP</a:t>
            </a:r>
          </a:p>
        </p:txBody>
      </p:sp>
      <p:sp>
        <p:nvSpPr>
          <p:cNvPr id="30" name="line"/>
          <p:cNvSpPr/>
          <p:nvPr/>
        </p:nvSpPr>
        <p:spPr>
          <a:xfrm>
            <a:off x="9700000" y="2220000"/>
            <a:ext cx="70000" cy="26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977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891B2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2" name="card"/>
          <p:cNvSpPr/>
          <p:nvPr/>
        </p:nvSpPr>
        <p:spPr>
          <a:xfrm>
            <a:off x="9960000" y="1750000"/>
            <a:ext cx="1580000" cy="950000"/>
          </a:xfrm>
          <a:prstGeom prst="roundRect"/>
          <a:solidFill>
            <a:srgbClr val="F0FDF4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line"/>
          <p:cNvSpPr/>
          <p:nvPr/>
        </p:nvSpPr>
        <p:spPr>
          <a:xfrm>
            <a:off x="9960000" y="1750000"/>
            <a:ext cx="70000" cy="950000"/>
          </a:xfrm>
          <a:prstGeom prst="rect"/>
          <a:solidFill>
            <a:srgbClr val="16A34A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101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Finish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1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finalize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핵심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모든 도구를 항상 보여주면 모델은 “쓸 수 있는 것”을 “써야 하는 것”으로 오해한다.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ReAct Step은 최소 Context로 충분하다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전체 state 대신 progress flags와 last observation 중심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13/29</a:t>
            </a:r>
          </a:p>
        </p:txBody>
      </p:sp>
      <p:sp>
        <p:nvSpPr>
          <p:cNvPr id="2" name="code"/>
          <p:cNvSpPr/>
          <p:nvPr/>
        </p:nvSpPr>
        <p:spPr>
          <a:xfrm>
            <a:off x="850000" y="1250000"/>
            <a:ext cx="5200000" cy="4200000"/>
          </a:xfrm>
          <a:prstGeom prst="round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980000" y="1360000"/>
            <a:ext cx="494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50" b="1">
                <a:solidFill>
                  <a:srgbClr val="7C3AED"/>
                </a:solidFill>
                <a:latin typeface="Aptos"/>
                <a:ea typeface="Malgun Gothic"/>
              </a:rPr>
              <a:t>LLM-facing ReAct Context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80000" y="1630000"/>
            <a:ext cx="4940000" cy="37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{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step: 4,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goal: "Analyze /api/login 5xx spike",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progress: {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  logs_loaded: true,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  records_filtered: false,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  metrics_computed: false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},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last_observation: {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  tool: "parse_access_log",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  record_count: 10000</a:t>
            </a:r>
          </a:p>
        </p:txBody>
      </p:sp>
      <p:sp>
        <p:nvSpPr>
          <p:cNvPr id="5" name="card"/>
          <p:cNvSpPr/>
          <p:nvPr/>
        </p:nvSpPr>
        <p:spPr>
          <a:xfrm>
            <a:off x="6600000" y="1260000"/>
            <a:ext cx="4550000" cy="122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" name="line"/>
          <p:cNvSpPr/>
          <p:nvPr/>
        </p:nvSpPr>
        <p:spPr>
          <a:xfrm>
            <a:off x="6600000" y="1260000"/>
            <a:ext cx="70000" cy="122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770000" y="13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줄이는 것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770000" y="16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 logs 전체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records 배열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오래된 thought</a:t>
            </a:r>
          </a:p>
        </p:txBody>
      </p:sp>
      <p:sp>
        <p:nvSpPr>
          <p:cNvPr id="9" name="card"/>
          <p:cNvSpPr/>
          <p:nvPr/>
        </p:nvSpPr>
        <p:spPr>
          <a:xfrm>
            <a:off x="6600000" y="2710000"/>
            <a:ext cx="4550000" cy="1220000"/>
          </a:xfrm>
          <a:prstGeom prst="roundRect"/>
          <a:solidFill>
            <a:srgbClr val="F0FDF4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" name="line"/>
          <p:cNvSpPr/>
          <p:nvPr/>
        </p:nvSpPr>
        <p:spPr>
          <a:xfrm>
            <a:off x="6600000" y="2710000"/>
            <a:ext cx="70000" cy="1220000"/>
          </a:xfrm>
          <a:prstGeom prst="rect"/>
          <a:solidFill>
            <a:srgbClr val="16A34A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770000" y="283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남기는 것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70000" y="311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현재 목표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진행 상태 flag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최근 observation 요약</a:t>
            </a:r>
          </a:p>
        </p:txBody>
      </p:sp>
      <p:sp>
        <p:nvSpPr>
          <p:cNvPr id="13" name="card"/>
          <p:cNvSpPr/>
          <p:nvPr/>
        </p:nvSpPr>
        <p:spPr>
          <a:xfrm>
            <a:off x="6600000" y="4160000"/>
            <a:ext cx="4550000" cy="122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line"/>
          <p:cNvSpPr/>
          <p:nvPr/>
        </p:nvSpPr>
        <p:spPr>
          <a:xfrm>
            <a:off x="6600000" y="4160000"/>
            <a:ext cx="70000" cy="122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770000" y="42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Finish 제약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770000" y="45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evidence 전 finish 금지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필요 context 누락 시 route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RAG는 단일 호출이 아니라 Context Pipeline이다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검색 결과가 claim으로 가기 전 검증·압축·역할 구분 필요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14/29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Rewrite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intent/query 보정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Retrieve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candidate 검색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Rerank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관련성/권한/최신성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Compress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excerpt/source id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Validate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충돌/근거 검사</a:t>
            </a:r>
          </a:p>
        </p:txBody>
      </p:sp>
      <p:sp>
        <p:nvSpPr>
          <p:cNvPr id="30" name="line"/>
          <p:cNvSpPr/>
          <p:nvPr/>
        </p:nvSpPr>
        <p:spPr>
          <a:xfrm>
            <a:off x="9700000" y="2220000"/>
            <a:ext cx="70000" cy="26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977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C262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2" name="card"/>
          <p:cNvSpPr/>
          <p:nvPr/>
        </p:nvSpPr>
        <p:spPr>
          <a:xfrm>
            <a:off x="9960000" y="1750000"/>
            <a:ext cx="1580000" cy="950000"/>
          </a:xfrm>
          <a:prstGeom prst="roundRect"/>
          <a:solidFill>
            <a:srgbClr val="ECFE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line"/>
          <p:cNvSpPr/>
          <p:nvPr/>
        </p:nvSpPr>
        <p:spPr>
          <a:xfrm>
            <a:off x="9960000" y="1750000"/>
            <a:ext cx="70000" cy="950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101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Pack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1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LLM context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역할 구분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정책 문서는 authoritative source, runbook은 operational guidance, 과거 incident는 episodic reference로 취급한다.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Memory와 Checkpoint는 다르다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기억해야 할 것과 되돌릴 수 있어야 할 것을 분리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15/29</a:t>
            </a:r>
          </a:p>
        </p:txBody>
      </p:sp>
      <p:sp>
        <p:nvSpPr>
          <p:cNvPr id="2" name="layer"/>
          <p:cNvSpPr/>
          <p:nvPr/>
        </p:nvSpPr>
        <p:spPr>
          <a:xfrm>
            <a:off x="1050000" y="1120000"/>
            <a:ext cx="10150000" cy="520000"/>
          </a:xfrm>
          <a:prstGeom prst="roundRect"/>
          <a:solidFill>
            <a:srgbClr val="EFF6FF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1230000" y="124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2563EB"/>
                </a:solidFill>
                <a:latin typeface="Aptos"/>
                <a:ea typeface="Malgun Gothic"/>
              </a:rPr>
              <a:t>Short-term Memory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50000" y="125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thread-scoped state, 현재 대화/작업의 진행 상태</a:t>
            </a:r>
          </a:p>
        </p:txBody>
      </p:sp>
      <p:sp>
        <p:nvSpPr>
          <p:cNvPr id="5" name="layer"/>
          <p:cNvSpPr/>
          <p:nvPr/>
        </p:nvSpPr>
        <p:spPr>
          <a:xfrm>
            <a:off x="1050000" y="1735000"/>
            <a:ext cx="10150000" cy="520000"/>
          </a:xfrm>
          <a:prstGeom prst="roundRect"/>
          <a:solidFill>
            <a:srgbClr val="ECFDF5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1230000" y="186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F766E"/>
                </a:solidFill>
                <a:latin typeface="Aptos"/>
                <a:ea typeface="Malgun Gothic"/>
              </a:rPr>
              <a:t>Long-term Memory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50000" y="186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namespace store, 사용자 선호·프로젝트 규칙</a:t>
            </a:r>
          </a:p>
        </p:txBody>
      </p:sp>
      <p:sp>
        <p:nvSpPr>
          <p:cNvPr id="8" name="layer"/>
          <p:cNvSpPr/>
          <p:nvPr/>
        </p:nvSpPr>
        <p:spPr>
          <a:xfrm>
            <a:off x="1050000" y="2350000"/>
            <a:ext cx="10150000" cy="520000"/>
          </a:xfrm>
          <a:prstGeom prst="roundRect"/>
          <a:solidFill>
            <a:srgbClr val="F5F3FF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230000" y="247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7C3AED"/>
                </a:solidFill>
                <a:latin typeface="Aptos"/>
                <a:ea typeface="Malgun Gothic"/>
              </a:rPr>
              <a:t>Checkpoint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550000" y="248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각 step의 state snapshot, resume/time travel</a:t>
            </a:r>
          </a:p>
        </p:txBody>
      </p:sp>
      <p:sp>
        <p:nvSpPr>
          <p:cNvPr id="11" name="layer"/>
          <p:cNvSpPr/>
          <p:nvPr/>
        </p:nvSpPr>
        <p:spPr>
          <a:xfrm>
            <a:off x="1050000" y="2965000"/>
            <a:ext cx="10150000" cy="520000"/>
          </a:xfrm>
          <a:prstGeom prst="roundRect"/>
          <a:solidFill>
            <a:srgbClr val="FFFBEB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230000" y="309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97706"/>
                </a:solidFill>
                <a:latin typeface="Aptos"/>
                <a:ea typeface="Malgun Gothic"/>
              </a:rPr>
              <a:t>Memory Retrieval Policy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50000" y="309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relevance, recency, permission, sensitivity로 선택</a:t>
            </a:r>
          </a:p>
        </p:txBody>
      </p:sp>
      <p:sp>
        <p:nvSpPr>
          <p:cNvPr id="14" name="layer"/>
          <p:cNvSpPr/>
          <p:nvPr/>
        </p:nvSpPr>
        <p:spPr>
          <a:xfrm>
            <a:off x="1050000" y="3580000"/>
            <a:ext cx="10150000" cy="520000"/>
          </a:xfrm>
          <a:prstGeom prst="roundRect"/>
          <a:solidFill>
            <a:srgbClr val="F0FDF4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30000" y="370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16A34A"/>
                </a:solidFill>
                <a:latin typeface="Aptos"/>
                <a:ea typeface="Malgun Gothic"/>
              </a:rPr>
              <a:t>Memory Write Policy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50000" y="371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명시적 결정과 검증된 사실만 저장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Human-in-the-loop: Side Effect는 승인 Gate로 격리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외부 발송·삭제·결제·재시작 같은 행동은 checkpoint 이후 승인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16/29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Draft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action 제안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Pack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근거/위험/rollback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Review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human approval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Execute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승인 후 tool 실행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C262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F0FDF4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16A34A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Resume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checkpoint에서 재개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Approval Context Pack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proposed_action, reason, evidence, risk, rollback, source_refs만 보여준다.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Reference Agent 아키텍처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WebLog Analysis Agent의 context, tool, telemetry 흐름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17/29</a:t>
            </a:r>
          </a:p>
        </p:txBody>
      </p:sp>
      <p:sp>
        <p:nvSpPr>
          <p:cNvPr id="2" name="card"/>
          <p:cNvSpPr/>
          <p:nvPr/>
        </p:nvSpPr>
        <p:spPr>
          <a:xfrm>
            <a:off x="750000" y="1450000"/>
            <a:ext cx="2850000" cy="30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50000" y="1450000"/>
            <a:ext cx="70000" cy="30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8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290000" y="1570000"/>
            <a:ext cx="219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Input &amp; Context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290000" y="1855000"/>
            <a:ext cx="2190000" cy="25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User input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Access log path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Prompt / policy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Output contract</a:t>
            </a:r>
          </a:p>
        </p:txBody>
      </p:sp>
      <p:sp>
        <p:nvSpPr>
          <p:cNvPr id="7" name="card"/>
          <p:cNvSpPr/>
          <p:nvPr/>
        </p:nvSpPr>
        <p:spPr>
          <a:xfrm>
            <a:off x="4500000" y="1450000"/>
            <a:ext cx="3200000" cy="30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500000" y="1450000"/>
            <a:ext cx="70000" cy="30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3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2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040000" y="157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LangGraph-style Core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040000" y="1855000"/>
            <a:ext cx="2540000" cy="25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initialize_agent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react_agent loop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deterministic tools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+ MCP</a:t>
            </a:r>
          </a:p>
        </p:txBody>
      </p:sp>
      <p:sp>
        <p:nvSpPr>
          <p:cNvPr id="12" name="card"/>
          <p:cNvSpPr/>
          <p:nvPr/>
        </p:nvSpPr>
        <p:spPr>
          <a:xfrm>
            <a:off x="8600000" y="1450000"/>
            <a:ext cx="2850000" cy="30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600000" y="1450000"/>
            <a:ext cx="70000" cy="30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73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3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0000" y="1570000"/>
            <a:ext cx="219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Output &amp; Telemetry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140000" y="1855000"/>
            <a:ext cx="2190000" cy="25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finalReport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validation_result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TraceLogger JSONL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Judge Agent input</a:t>
            </a:r>
          </a:p>
        </p:txBody>
      </p:sp>
      <p:sp>
        <p:nvSpPr>
          <p:cNvPr id="17" name="line"/>
          <p:cNvSpPr/>
          <p:nvPr/>
        </p:nvSpPr>
        <p:spPr>
          <a:xfrm>
            <a:off x="3600000" y="2950000"/>
            <a:ext cx="78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380000" y="286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9" name="line"/>
          <p:cNvSpPr/>
          <p:nvPr/>
        </p:nvSpPr>
        <p:spPr>
          <a:xfrm>
            <a:off x="7700000" y="2950000"/>
            <a:ext cx="78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8480000" y="286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Reference Agent 실행 흐름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최종 보고서가 만들어지는 경로를 단계별로 관측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18/29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Start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run_start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Prompt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instruction snapshot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ReAct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action/observation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Tools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metrics/evidence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ECFE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RAG/MCP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external context</a:t>
            </a:r>
          </a:p>
        </p:txBody>
      </p:sp>
      <p:sp>
        <p:nvSpPr>
          <p:cNvPr id="30" name="line"/>
          <p:cNvSpPr/>
          <p:nvPr/>
        </p:nvSpPr>
        <p:spPr>
          <a:xfrm>
            <a:off x="9700000" y="2220000"/>
            <a:ext cx="70000" cy="26000"/>
          </a:xfrm>
          <a:prstGeom prst="rect"/>
          <a:solidFill>
            <a:srgbClr val="0891B2"/>
          </a:solidFill>
          <a:ln w="7620">
            <a:solidFill>
              <a:srgbClr val="0891B2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977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891B2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32" name="card"/>
          <p:cNvSpPr/>
          <p:nvPr/>
        </p:nvSpPr>
        <p:spPr>
          <a:xfrm>
            <a:off x="9960000" y="1750000"/>
            <a:ext cx="1580000" cy="95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line"/>
          <p:cNvSpPr/>
          <p:nvPr/>
        </p:nvSpPr>
        <p:spPr>
          <a:xfrm>
            <a:off x="9960000" y="1750000"/>
            <a:ext cx="70000" cy="95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101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Validate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1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claim gate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Judge 관점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최종 답변만 평가하지 않고 실행 경로, state 변화, tool evidence, RAG/MCP 출처를 함께 본다.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TraceLogger: Drift Telemetry의 단일 Sink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모든 관측 이벤트를 run_id 기준으로 연결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19/29</a:t>
            </a:r>
          </a:p>
        </p:txBody>
      </p:sp>
      <p:sp>
        <p:nvSpPr>
          <p:cNvPr id="2" name="code"/>
          <p:cNvSpPr/>
          <p:nvPr/>
        </p:nvSpPr>
        <p:spPr>
          <a:xfrm>
            <a:off x="850000" y="1250000"/>
            <a:ext cx="5200000" cy="4200000"/>
          </a:xfrm>
          <a:prstGeom prst="round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980000" y="1360000"/>
            <a:ext cx="494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50" b="1">
                <a:solidFill>
                  <a:srgbClr val="7C3AED"/>
                </a:solidFill>
                <a:latin typeface="Aptos"/>
                <a:ea typeface="Malgun Gothic"/>
              </a:rPr>
              <a:t>TraceLogger 흐름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80000" y="1630000"/>
            <a:ext cx="4940000" cy="37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trace.emit(event_type, **payload)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→ add run_id / timestamp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→ redact secrets / PII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→ write JSONL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→ optional collector export</a:t>
            </a:r>
          </a:p>
        </p:txBody>
      </p:sp>
      <p:sp>
        <p:nvSpPr>
          <p:cNvPr id="5" name="card"/>
          <p:cNvSpPr/>
          <p:nvPr/>
        </p:nvSpPr>
        <p:spPr>
          <a:xfrm>
            <a:off x="6600000" y="1260000"/>
            <a:ext cx="4550000" cy="122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" name="line"/>
          <p:cNvSpPr/>
          <p:nvPr/>
        </p:nvSpPr>
        <p:spPr>
          <a:xfrm>
            <a:off x="6600000" y="1260000"/>
            <a:ext cx="70000" cy="122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770000" y="13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필수 이벤트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770000" y="16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run_start / run_end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instruction_snapshot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llm_start / end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tool_start / end</a:t>
            </a:r>
          </a:p>
        </p:txBody>
      </p:sp>
      <p:sp>
        <p:nvSpPr>
          <p:cNvPr id="9" name="card"/>
          <p:cNvSpPr/>
          <p:nvPr/>
        </p:nvSpPr>
        <p:spPr>
          <a:xfrm>
            <a:off x="6600000" y="2710000"/>
            <a:ext cx="4550000" cy="122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" name="line"/>
          <p:cNvSpPr/>
          <p:nvPr/>
        </p:nvSpPr>
        <p:spPr>
          <a:xfrm>
            <a:off x="6600000" y="2710000"/>
            <a:ext cx="70000" cy="122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770000" y="283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권장 이벤트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70000" y="311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node_start / end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edge_selected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react_step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/ mcp events</a:t>
            </a:r>
          </a:p>
        </p:txBody>
      </p:sp>
      <p:sp>
        <p:nvSpPr>
          <p:cNvPr id="13" name="card"/>
          <p:cNvSpPr/>
          <p:nvPr/>
        </p:nvSpPr>
        <p:spPr>
          <a:xfrm>
            <a:off x="6600000" y="4160000"/>
            <a:ext cx="4550000" cy="122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line"/>
          <p:cNvSpPr/>
          <p:nvPr/>
        </p:nvSpPr>
        <p:spPr>
          <a:xfrm>
            <a:off x="6600000" y="4160000"/>
            <a:ext cx="70000" cy="122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770000" y="42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운영 원칙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770000" y="45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Agent 생성 시점부터 주입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동일 run_id로 상관관계 유지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Telemetry Event Taxonomy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어떤 이벤트가 어떤 질문에 답하는가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20/29</a:t>
            </a:r>
          </a:p>
        </p:txBody>
      </p:sp>
      <p:sp>
        <p:nvSpPr>
          <p:cNvPr id="2" name="layer"/>
          <p:cNvSpPr/>
          <p:nvPr/>
        </p:nvSpPr>
        <p:spPr>
          <a:xfrm>
            <a:off x="1050000" y="1120000"/>
            <a:ext cx="10150000" cy="520000"/>
          </a:xfrm>
          <a:prstGeom prst="roundRect"/>
          <a:solidFill>
            <a:srgbClr val="EFF6FF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1230000" y="124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2563EB"/>
                </a:solidFill>
                <a:latin typeface="Aptos"/>
                <a:ea typeface="Malgun Gothic"/>
              </a:rPr>
              <a:t>Lifecycle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50000" y="125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어떤 agent/version/model인가?  → run_start/run_end</a:t>
            </a:r>
          </a:p>
        </p:txBody>
      </p:sp>
      <p:sp>
        <p:nvSpPr>
          <p:cNvPr id="5" name="layer"/>
          <p:cNvSpPr/>
          <p:nvPr/>
        </p:nvSpPr>
        <p:spPr>
          <a:xfrm>
            <a:off x="1050000" y="1735000"/>
            <a:ext cx="10150000" cy="520000"/>
          </a:xfrm>
          <a:prstGeom prst="roundRect"/>
          <a:solidFill>
            <a:srgbClr val="ECFDF5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1230000" y="186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0F766E"/>
                </a:solidFill>
                <a:latin typeface="Aptos"/>
                <a:ea typeface="Malgun Gothic"/>
              </a:rPr>
              <a:t>Prompt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550000" y="186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어떤 지시로 실행됐는가?  → instruction_snapshot</a:t>
            </a:r>
          </a:p>
        </p:txBody>
      </p:sp>
      <p:sp>
        <p:nvSpPr>
          <p:cNvPr id="8" name="layer"/>
          <p:cNvSpPr/>
          <p:nvPr/>
        </p:nvSpPr>
        <p:spPr>
          <a:xfrm>
            <a:off x="1050000" y="2350000"/>
            <a:ext cx="10150000" cy="520000"/>
          </a:xfrm>
          <a:prstGeom prst="roundRect"/>
          <a:solidFill>
            <a:srgbClr val="F5F3FF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230000" y="247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7C3AED"/>
                </a:solidFill>
                <a:latin typeface="Aptos"/>
                <a:ea typeface="Malgun Gothic"/>
              </a:rPr>
              <a:t>Graph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550000" y="248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어떤 경로로 실행됐는가?  → node/edge events</a:t>
            </a:r>
          </a:p>
        </p:txBody>
      </p:sp>
      <p:sp>
        <p:nvSpPr>
          <p:cNvPr id="11" name="layer"/>
          <p:cNvSpPr/>
          <p:nvPr/>
        </p:nvSpPr>
        <p:spPr>
          <a:xfrm>
            <a:off x="1050000" y="2965000"/>
            <a:ext cx="10150000" cy="520000"/>
          </a:xfrm>
          <a:prstGeom prst="roundRect"/>
          <a:solidFill>
            <a:srgbClr val="FFFBEB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230000" y="309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97706"/>
                </a:solidFill>
                <a:latin typeface="Aptos"/>
                <a:ea typeface="Malgun Gothic"/>
              </a:rPr>
              <a:t>ReAct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50000" y="309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왜 이 action을 골랐는가?  → react_step/observation</a:t>
            </a:r>
          </a:p>
        </p:txBody>
      </p:sp>
      <p:sp>
        <p:nvSpPr>
          <p:cNvPr id="14" name="layer"/>
          <p:cNvSpPr/>
          <p:nvPr/>
        </p:nvSpPr>
        <p:spPr>
          <a:xfrm>
            <a:off x="1050000" y="3580000"/>
            <a:ext cx="10150000" cy="520000"/>
          </a:xfrm>
          <a:prstGeom prst="roundRect"/>
          <a:solidFill>
            <a:srgbClr val="FEF2F2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230000" y="3705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DC2626"/>
                </a:solidFill>
                <a:latin typeface="Aptos"/>
                <a:ea typeface="Malgun Gothic"/>
              </a:rPr>
              <a:t>Evidence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50000" y="3710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주장의 근거가 있는가?  → tool/RAG/MCP events</a:t>
            </a:r>
          </a:p>
        </p:txBody>
      </p:sp>
      <p:sp>
        <p:nvSpPr>
          <p:cNvPr id="17" name="layer"/>
          <p:cNvSpPr/>
          <p:nvPr/>
        </p:nvSpPr>
        <p:spPr>
          <a:xfrm>
            <a:off x="1050000" y="4195000"/>
            <a:ext cx="10150000" cy="520000"/>
          </a:xfrm>
          <a:prstGeom prst="roundRect"/>
          <a:solidFill>
            <a:srgbClr val="F0FDF4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230000" y="4320000"/>
            <a:ext cx="3000000" cy="17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040" b="1">
                <a:solidFill>
                  <a:srgbClr val="16A34A"/>
                </a:solidFill>
                <a:latin typeface="Aptos"/>
                <a:ea typeface="Malgun Gothic"/>
              </a:rPr>
              <a:t>Validation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550000" y="4325000"/>
            <a:ext cx="62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273244"/>
                </a:solidFill>
                <a:latin typeface="Aptos"/>
                <a:ea typeface="Malgun Gothic"/>
              </a:rPr>
              <a:t>최종 품질은 통과했는가?  → validation_result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Collector Payload: Trace를 운영 데이터로 만들기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JSONL 파일에서 중앙 관측 시스템으로 확장 가능한 이벤트 구조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21/29</a:t>
            </a:r>
          </a:p>
        </p:txBody>
      </p:sp>
      <p:sp>
        <p:nvSpPr>
          <p:cNvPr id="2" name="code"/>
          <p:cNvSpPr/>
          <p:nvPr/>
        </p:nvSpPr>
        <p:spPr>
          <a:xfrm>
            <a:off x="850000" y="1250000"/>
            <a:ext cx="5200000" cy="4200000"/>
          </a:xfrm>
          <a:prstGeom prst="round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980000" y="1360000"/>
            <a:ext cx="494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50" b="1">
                <a:solidFill>
                  <a:srgbClr val="7C3AED"/>
                </a:solidFill>
                <a:latin typeface="Aptos"/>
                <a:ea typeface="Malgun Gothic"/>
              </a:rPr>
              <a:t>권장 이벤트 스키마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80000" y="1630000"/>
            <a:ext cx="4940000" cy="37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{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type: "tool_end",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run_id: "run-123",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agent_name: "weblog-react-agent",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node: "react_agent",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tool: "compute_log_metrics",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input_summary: {...},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output_summary: {...},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raw_output_ref: "artifact://...",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redacted: true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}</a:t>
            </a:r>
          </a:p>
        </p:txBody>
      </p:sp>
      <p:sp>
        <p:nvSpPr>
          <p:cNvPr id="5" name="card"/>
          <p:cNvSpPr/>
          <p:nvPr/>
        </p:nvSpPr>
        <p:spPr>
          <a:xfrm>
            <a:off x="6600000" y="1260000"/>
            <a:ext cx="4550000" cy="122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" name="line"/>
          <p:cNvSpPr/>
          <p:nvPr/>
        </p:nvSpPr>
        <p:spPr>
          <a:xfrm>
            <a:off x="6600000" y="1260000"/>
            <a:ext cx="70000" cy="122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770000" y="13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Correlation Keys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770000" y="16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run_id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thread_id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agent_version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graph_version</a:t>
            </a:r>
          </a:p>
        </p:txBody>
      </p:sp>
      <p:sp>
        <p:nvSpPr>
          <p:cNvPr id="9" name="card"/>
          <p:cNvSpPr/>
          <p:nvPr/>
        </p:nvSpPr>
        <p:spPr>
          <a:xfrm>
            <a:off x="6600000" y="2710000"/>
            <a:ext cx="4550000" cy="122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" name="line"/>
          <p:cNvSpPr/>
          <p:nvPr/>
        </p:nvSpPr>
        <p:spPr>
          <a:xfrm>
            <a:off x="6600000" y="2710000"/>
            <a:ext cx="70000" cy="122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770000" y="283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Safety Fields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70000" y="311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redacted flag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raw_output_ref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sensitivity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retention policy</a:t>
            </a:r>
          </a:p>
        </p:txBody>
      </p:sp>
      <p:sp>
        <p:nvSpPr>
          <p:cNvPr id="13" name="card"/>
          <p:cNvSpPr/>
          <p:nvPr/>
        </p:nvSpPr>
        <p:spPr>
          <a:xfrm>
            <a:off x="6600000" y="4160000"/>
            <a:ext cx="4550000" cy="122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line"/>
          <p:cNvSpPr/>
          <p:nvPr/>
        </p:nvSpPr>
        <p:spPr>
          <a:xfrm>
            <a:off x="6600000" y="4160000"/>
            <a:ext cx="70000" cy="122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770000" y="42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Judge Input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770000" y="45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claim 근거 추적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tool/RAG/MCP alignment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Telemetry 보안: 관측 가능성과 노출 최소화의 균형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Trace는 강력하지만 그 자체가 민감 데이터가 될 수 있다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22/29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Raw Event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tool/llm output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C262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Redact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token/password/PII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Summarize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 → summary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Reference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artifact URI</a:t>
            </a:r>
          </a:p>
        </p:txBody>
      </p:sp>
      <p:sp>
        <p:nvSpPr>
          <p:cNvPr id="24" name="line"/>
          <p:cNvSpPr/>
          <p:nvPr/>
        </p:nvSpPr>
        <p:spPr>
          <a:xfrm>
            <a:off x="786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93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card"/>
          <p:cNvSpPr/>
          <p:nvPr/>
        </p:nvSpPr>
        <p:spPr>
          <a:xfrm>
            <a:off x="812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line"/>
          <p:cNvSpPr/>
          <p:nvPr/>
        </p:nvSpPr>
        <p:spPr>
          <a:xfrm>
            <a:off x="812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829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Store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9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JSONL/collector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원칙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Judge가 판단하는 데 필요한 증거만 남기고, 원본은 보관 위치를 참조한다.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EVALUATION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Drift 유형별 필요한 증거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최종 답변이 아니라 실행 증거와 매핑해서 판단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23/29</a:t>
            </a:r>
          </a:p>
        </p:txBody>
      </p:sp>
      <p:sp>
        <p:nvSpPr>
          <p:cNvPr id="2" name="th"/>
          <p:cNvSpPr/>
          <p:nvPr/>
        </p:nvSpPr>
        <p:spPr>
          <a:xfrm>
            <a:off x="820000" y="1220000"/>
            <a:ext cx="2100000" cy="610000"/>
          </a:xfrm>
          <a:prstGeom prst="rect"/>
          <a:solidFill>
            <a:srgbClr val="EFF6FF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890000" y="1370000"/>
            <a:ext cx="1960000" cy="39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860" b="1">
                <a:solidFill>
                  <a:srgbClr val="2563EB"/>
                </a:solidFill>
                <a:latin typeface="Aptos"/>
                <a:ea typeface="Malgun Gothic"/>
              </a:rPr>
              <a:t>Drift</a:t>
            </a:r>
          </a:p>
        </p:txBody>
      </p:sp>
      <p:sp>
        <p:nvSpPr>
          <p:cNvPr id="4" name="th"/>
          <p:cNvSpPr/>
          <p:nvPr/>
        </p:nvSpPr>
        <p:spPr>
          <a:xfrm>
            <a:off x="2920000" y="1220000"/>
            <a:ext cx="3200000" cy="610000"/>
          </a:xfrm>
          <a:prstGeom prst="rect"/>
          <a:solidFill>
            <a:srgbClr val="ECFDF5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5" name="text"/>
          <p:cNvSpPr txBox="1"/>
          <p:nvPr/>
        </p:nvSpPr>
        <p:spPr>
          <a:xfrm>
            <a:off x="2990000" y="1370000"/>
            <a:ext cx="3060000" cy="39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860" b="1">
                <a:solidFill>
                  <a:srgbClr val="0F766E"/>
                </a:solidFill>
                <a:latin typeface="Aptos"/>
                <a:ea typeface="Malgun Gothic"/>
              </a:rPr>
              <a:t>필요한 Trace</a:t>
            </a:r>
          </a:p>
        </p:txBody>
      </p:sp>
      <p:sp>
        <p:nvSpPr>
          <p:cNvPr id="6" name="th"/>
          <p:cNvSpPr/>
          <p:nvPr/>
        </p:nvSpPr>
        <p:spPr>
          <a:xfrm>
            <a:off x="6120000" y="1220000"/>
            <a:ext cx="5250000" cy="610000"/>
          </a:xfrm>
          <a:prstGeom prst="rect"/>
          <a:solidFill>
            <a:srgbClr val="F5F3FF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190000" y="1370000"/>
            <a:ext cx="5110000" cy="39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860" b="1">
                <a:solidFill>
                  <a:srgbClr val="7C3AED"/>
                </a:solidFill>
                <a:latin typeface="Aptos"/>
                <a:ea typeface="Malgun Gothic"/>
              </a:rPr>
              <a:t>판단 기준</a:t>
            </a:r>
          </a:p>
        </p:txBody>
      </p:sp>
      <p:sp>
        <p:nvSpPr>
          <p:cNvPr id="8" name="td"/>
          <p:cNvSpPr/>
          <p:nvPr/>
        </p:nvSpPr>
        <p:spPr>
          <a:xfrm>
            <a:off x="820000" y="1830000"/>
            <a:ext cx="21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890000" y="195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Goal Drift</a:t>
            </a:r>
          </a:p>
        </p:txBody>
      </p:sp>
      <p:sp>
        <p:nvSpPr>
          <p:cNvPr id="10" name="td"/>
          <p:cNvSpPr/>
          <p:nvPr/>
        </p:nvSpPr>
        <p:spPr>
          <a:xfrm>
            <a:off x="2920000" y="1830000"/>
            <a:ext cx="32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2990000" y="195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run_start ↔ final_output</a:t>
            </a:r>
          </a:p>
        </p:txBody>
      </p:sp>
      <p:sp>
        <p:nvSpPr>
          <p:cNvPr id="12" name="td"/>
          <p:cNvSpPr/>
          <p:nvPr/>
        </p:nvSpPr>
        <p:spPr>
          <a:xfrm>
            <a:off x="6120000" y="1830000"/>
            <a:ext cx="525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6190000" y="195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요청 목표와 최종 산출물 불일치</a:t>
            </a:r>
          </a:p>
        </p:txBody>
      </p:sp>
      <p:sp>
        <p:nvSpPr>
          <p:cNvPr id="14" name="td"/>
          <p:cNvSpPr/>
          <p:nvPr/>
        </p:nvSpPr>
        <p:spPr>
          <a:xfrm>
            <a:off x="820000" y="2440000"/>
            <a:ext cx="21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890000" y="256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Tool Drift</a:t>
            </a:r>
          </a:p>
        </p:txBody>
      </p:sp>
      <p:sp>
        <p:nvSpPr>
          <p:cNvPr id="16" name="td"/>
          <p:cNvSpPr/>
          <p:nvPr/>
        </p:nvSpPr>
        <p:spPr>
          <a:xfrm>
            <a:off x="2920000" y="2440000"/>
            <a:ext cx="32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2990000" y="256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react_step + tool events</a:t>
            </a:r>
          </a:p>
        </p:txBody>
      </p:sp>
      <p:sp>
        <p:nvSpPr>
          <p:cNvPr id="18" name="td"/>
          <p:cNvSpPr/>
          <p:nvPr/>
        </p:nvSpPr>
        <p:spPr>
          <a:xfrm>
            <a:off x="6120000" y="2440000"/>
            <a:ext cx="525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190000" y="256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상태 대비 부적절한 tool 선택</a:t>
            </a:r>
          </a:p>
        </p:txBody>
      </p:sp>
      <p:sp>
        <p:nvSpPr>
          <p:cNvPr id="20" name="td"/>
          <p:cNvSpPr/>
          <p:nvPr/>
        </p:nvSpPr>
        <p:spPr>
          <a:xfrm>
            <a:off x="820000" y="3050000"/>
            <a:ext cx="21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90000" y="317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Evidence Drift</a:t>
            </a:r>
          </a:p>
        </p:txBody>
      </p:sp>
      <p:sp>
        <p:nvSpPr>
          <p:cNvPr id="22" name="td"/>
          <p:cNvSpPr/>
          <p:nvPr/>
        </p:nvSpPr>
        <p:spPr>
          <a:xfrm>
            <a:off x="2920000" y="3050000"/>
            <a:ext cx="32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2990000" y="317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tool_end ↔ final claims</a:t>
            </a:r>
          </a:p>
        </p:txBody>
      </p:sp>
      <p:sp>
        <p:nvSpPr>
          <p:cNvPr id="24" name="td"/>
          <p:cNvSpPr/>
          <p:nvPr/>
        </p:nvSpPr>
        <p:spPr>
          <a:xfrm>
            <a:off x="6120000" y="3050000"/>
            <a:ext cx="525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6190000" y="317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수치/원인 claim의 근거 부재</a:t>
            </a:r>
          </a:p>
        </p:txBody>
      </p:sp>
      <p:sp>
        <p:nvSpPr>
          <p:cNvPr id="26" name="td"/>
          <p:cNvSpPr/>
          <p:nvPr/>
        </p:nvSpPr>
        <p:spPr>
          <a:xfrm>
            <a:off x="820000" y="3660000"/>
            <a:ext cx="21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890000" y="378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RAG Drift</a:t>
            </a:r>
          </a:p>
        </p:txBody>
      </p:sp>
      <p:sp>
        <p:nvSpPr>
          <p:cNvPr id="28" name="td"/>
          <p:cNvSpPr/>
          <p:nvPr/>
        </p:nvSpPr>
        <p:spPr>
          <a:xfrm>
            <a:off x="2920000" y="3660000"/>
            <a:ext cx="32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2990000" y="378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retrieval ↔ final claims</a:t>
            </a:r>
          </a:p>
        </p:txBody>
      </p:sp>
      <p:sp>
        <p:nvSpPr>
          <p:cNvPr id="30" name="td"/>
          <p:cNvSpPr/>
          <p:nvPr/>
        </p:nvSpPr>
        <p:spPr>
          <a:xfrm>
            <a:off x="6120000" y="3660000"/>
            <a:ext cx="525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6190000" y="378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검색 문서 오해·출처 누락</a:t>
            </a:r>
          </a:p>
        </p:txBody>
      </p:sp>
      <p:sp>
        <p:nvSpPr>
          <p:cNvPr id="32" name="td"/>
          <p:cNvSpPr/>
          <p:nvPr/>
        </p:nvSpPr>
        <p:spPr>
          <a:xfrm>
            <a:off x="820000" y="4270000"/>
            <a:ext cx="21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890000" y="439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Handoff Drift</a:t>
            </a:r>
          </a:p>
        </p:txBody>
      </p:sp>
      <p:sp>
        <p:nvSpPr>
          <p:cNvPr id="34" name="td"/>
          <p:cNvSpPr/>
          <p:nvPr/>
        </p:nvSpPr>
        <p:spPr>
          <a:xfrm>
            <a:off x="2920000" y="4270000"/>
            <a:ext cx="320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2990000" y="439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node_start/end diff</a:t>
            </a:r>
          </a:p>
        </p:txBody>
      </p:sp>
      <p:sp>
        <p:nvSpPr>
          <p:cNvPr id="36" name="td"/>
          <p:cNvSpPr/>
          <p:nvPr/>
        </p:nvSpPr>
        <p:spPr>
          <a:xfrm>
            <a:off x="6120000" y="4270000"/>
            <a:ext cx="5250000" cy="610000"/>
          </a:xfrm>
          <a:prstGeom prst="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6190000" y="439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노드 간 의미 변형</a:t>
            </a:r>
          </a:p>
        </p:txBody>
      </p:sp>
      <p:sp>
        <p:nvSpPr>
          <p:cNvPr id="38" name="td"/>
          <p:cNvSpPr/>
          <p:nvPr/>
        </p:nvSpPr>
        <p:spPr>
          <a:xfrm>
            <a:off x="820000" y="4880000"/>
            <a:ext cx="21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890000" y="5000000"/>
            <a:ext cx="19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 b="1">
                <a:solidFill>
                  <a:srgbClr val="111827"/>
                </a:solidFill>
                <a:latin typeface="Aptos"/>
                <a:ea typeface="Malgun Gothic"/>
              </a:rPr>
              <a:t>Context Bloat</a:t>
            </a:r>
          </a:p>
        </p:txBody>
      </p:sp>
      <p:sp>
        <p:nvSpPr>
          <p:cNvPr id="40" name="td"/>
          <p:cNvSpPr/>
          <p:nvPr/>
        </p:nvSpPr>
        <p:spPr>
          <a:xfrm>
            <a:off x="2920000" y="4880000"/>
            <a:ext cx="320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1" name="text"/>
          <p:cNvSpPr txBox="1"/>
          <p:nvPr/>
        </p:nvSpPr>
        <p:spPr>
          <a:xfrm>
            <a:off x="2990000" y="5000000"/>
            <a:ext cx="306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llm_start usage/state size</a:t>
            </a:r>
          </a:p>
        </p:txBody>
      </p:sp>
      <p:sp>
        <p:nvSpPr>
          <p:cNvPr id="42" name="td"/>
          <p:cNvSpPr/>
          <p:nvPr/>
        </p:nvSpPr>
        <p:spPr>
          <a:xfrm>
            <a:off x="6120000" y="4880000"/>
            <a:ext cx="5250000" cy="610000"/>
          </a:xfrm>
          <a:prstGeom prst="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43" name="text"/>
          <p:cNvSpPr txBox="1"/>
          <p:nvPr/>
        </p:nvSpPr>
        <p:spPr>
          <a:xfrm>
            <a:off x="6190000" y="5000000"/>
            <a:ext cx="5110000" cy="4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80">
                <a:solidFill>
                  <a:srgbClr val="273244"/>
                </a:solidFill>
                <a:latin typeface="Aptos"/>
                <a:ea typeface="Malgun Gothic"/>
              </a:rPr>
              <a:t>불필요한 context 과다 주입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Judge Agent 평가 루프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Observe → Judge → Improve 폐루프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24/29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2400000"/>
            <a:ext cx="2400000" cy="10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2400000"/>
            <a:ext cx="70000" cy="10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1020000" y="2520000"/>
            <a:ext cx="2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Agent Run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20000" y="2805000"/>
            <a:ext cx="2100000" cy="5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사용자 요청 처리</a:t>
            </a:r>
          </a:p>
        </p:txBody>
      </p:sp>
      <p:sp>
        <p:nvSpPr>
          <p:cNvPr id="6" name="card"/>
          <p:cNvSpPr/>
          <p:nvPr/>
        </p:nvSpPr>
        <p:spPr>
          <a:xfrm>
            <a:off x="3600000" y="1350000"/>
            <a:ext cx="2400000" cy="10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line"/>
          <p:cNvSpPr/>
          <p:nvPr/>
        </p:nvSpPr>
        <p:spPr>
          <a:xfrm>
            <a:off x="3600000" y="1350000"/>
            <a:ext cx="70000" cy="10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3770000" y="1470000"/>
            <a:ext cx="2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Trace JSONL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770000" y="1755000"/>
            <a:ext cx="2100000" cy="5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실행 증거 저장</a:t>
            </a:r>
          </a:p>
        </p:txBody>
      </p:sp>
      <p:sp>
        <p:nvSpPr>
          <p:cNvPr id="10" name="card"/>
          <p:cNvSpPr/>
          <p:nvPr/>
        </p:nvSpPr>
        <p:spPr>
          <a:xfrm>
            <a:off x="6900000" y="2400000"/>
            <a:ext cx="2400000" cy="10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" name="line"/>
          <p:cNvSpPr/>
          <p:nvPr/>
        </p:nvSpPr>
        <p:spPr>
          <a:xfrm>
            <a:off x="6900000" y="2400000"/>
            <a:ext cx="70000" cy="10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7070000" y="2520000"/>
            <a:ext cx="2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Judge Agent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070000" y="2805000"/>
            <a:ext cx="2100000" cy="5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drift/evidence 평가</a:t>
            </a:r>
          </a:p>
        </p:txBody>
      </p:sp>
      <p:sp>
        <p:nvSpPr>
          <p:cNvPr id="14" name="card"/>
          <p:cNvSpPr/>
          <p:nvPr/>
        </p:nvSpPr>
        <p:spPr>
          <a:xfrm>
            <a:off x="3600000" y="4550000"/>
            <a:ext cx="2400000" cy="10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3600000" y="4550000"/>
            <a:ext cx="70000" cy="10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3770000" y="4670000"/>
            <a:ext cx="21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Feedback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770000" y="4955000"/>
            <a:ext cx="2100000" cy="5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prompt/graph/tool 개선</a:t>
            </a:r>
          </a:p>
        </p:txBody>
      </p:sp>
      <p:sp>
        <p:nvSpPr>
          <p:cNvPr id="18" name="card"/>
          <p:cNvSpPr/>
          <p:nvPr/>
        </p:nvSpPr>
        <p:spPr>
          <a:xfrm>
            <a:off x="4650000" y="2920000"/>
            <a:ext cx="2500000" cy="76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9" name="line"/>
          <p:cNvSpPr/>
          <p:nvPr/>
        </p:nvSpPr>
        <p:spPr>
          <a:xfrm>
            <a:off x="4650000" y="2920000"/>
            <a:ext cx="70000" cy="760000"/>
          </a:xfrm>
          <a:prstGeom prst="rect"/>
          <a:solidFill>
            <a:srgbClr val="475569"/>
          </a:solidFill>
          <a:ln w="7620">
            <a:solidFill>
              <a:srgbClr val="475569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4820000" y="3040000"/>
            <a:ext cx="22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Evaluation Criteria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820000" y="3325000"/>
            <a:ext cx="2200000" cy="2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goal · tool · evidence · rag · bloat</a:t>
            </a:r>
          </a:p>
        </p:txBody>
      </p:sp>
      <p:sp>
        <p:nvSpPr>
          <p:cNvPr id="22" name="line"/>
          <p:cNvSpPr/>
          <p:nvPr/>
        </p:nvSpPr>
        <p:spPr>
          <a:xfrm>
            <a:off x="3250000" y="2900000"/>
            <a:ext cx="23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3480000" y="281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4" name="line"/>
          <p:cNvSpPr/>
          <p:nvPr/>
        </p:nvSpPr>
        <p:spPr>
          <a:xfrm>
            <a:off x="6000000" y="1870000"/>
            <a:ext cx="78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6780000" y="178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6" name="line"/>
          <p:cNvSpPr/>
          <p:nvPr/>
        </p:nvSpPr>
        <p:spPr>
          <a:xfrm>
            <a:off x="8100000" y="3450000"/>
            <a:ext cx="26000" cy="98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8015000" y="44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▼</a:t>
            </a:r>
          </a:p>
        </p:txBody>
      </p:sp>
      <p:sp>
        <p:nvSpPr>
          <p:cNvPr id="28" name="line"/>
          <p:cNvSpPr/>
          <p:nvPr/>
        </p:nvSpPr>
        <p:spPr>
          <a:xfrm>
            <a:off x="3600000" y="5070000"/>
            <a:ext cx="10000" cy="26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3130000" y="498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D97706"/>
                </a:solidFill>
                <a:latin typeface="Aptos"/>
                <a:ea typeface="Malgun Gothic"/>
              </a:rPr>
              <a:t>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Validation Gate: Prompt보다 강한 안전장치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모델이 finish를 선택해도 조건이 부족하면 막는다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25/29</a:t>
            </a:r>
          </a:p>
        </p:txBody>
      </p:sp>
      <p:sp>
        <p:nvSpPr>
          <p:cNvPr id="2" name="code"/>
          <p:cNvSpPr/>
          <p:nvPr/>
        </p:nvSpPr>
        <p:spPr>
          <a:xfrm>
            <a:off x="850000" y="1250000"/>
            <a:ext cx="5200000" cy="4200000"/>
          </a:xfrm>
          <a:prstGeom prst="roundRect"/>
          <a:solidFill>
            <a:srgbClr val="F8FAFC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980000" y="1360000"/>
            <a:ext cx="494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50" b="1">
                <a:solidFill>
                  <a:srgbClr val="7C3AED"/>
                </a:solidFill>
                <a:latin typeface="Aptos"/>
                <a:ea typeface="Malgun Gothic"/>
              </a:rPr>
              <a:t>Finish Gate 예시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80000" y="1630000"/>
            <a:ext cx="4940000" cy="373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can_finish(state):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targetPath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metrics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evidence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rag_context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mcp_context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require output_contract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/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if missing: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block finish</a:t>
            </a:r>
          </a:p>
          <a:p>
            <a:pPr>
              <a:buNone/>
            </a:pPr>
            <a:r>
              <a:rPr lang="ko-KR" sz="760">
                <a:solidFill>
                  <a:srgbClr val="344054"/>
                </a:solidFill>
                <a:latin typeface="Menlo"/>
                <a:ea typeface="Malgun Gothic"/>
              </a:rPr>
              <a:t>  route to next required node</a:t>
            </a:r>
          </a:p>
        </p:txBody>
      </p:sp>
      <p:sp>
        <p:nvSpPr>
          <p:cNvPr id="5" name="card"/>
          <p:cNvSpPr/>
          <p:nvPr/>
        </p:nvSpPr>
        <p:spPr>
          <a:xfrm>
            <a:off x="6600000" y="1260000"/>
            <a:ext cx="4550000" cy="1220000"/>
          </a:xfrm>
          <a:prstGeom prst="roundRect"/>
          <a:solidFill>
            <a:srgbClr val="F0FDF4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6" name="line"/>
          <p:cNvSpPr/>
          <p:nvPr/>
        </p:nvSpPr>
        <p:spPr>
          <a:xfrm>
            <a:off x="6600000" y="1260000"/>
            <a:ext cx="70000" cy="1220000"/>
          </a:xfrm>
          <a:prstGeom prst="rect"/>
          <a:solidFill>
            <a:srgbClr val="16A34A"/>
          </a:solidFill>
          <a:ln w="762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6770000" y="13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필수 Checks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770000" y="16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metrics_present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anomalies_have_evidence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output_contract</a:t>
            </a:r>
          </a:p>
        </p:txBody>
      </p:sp>
      <p:sp>
        <p:nvSpPr>
          <p:cNvPr id="9" name="card"/>
          <p:cNvSpPr/>
          <p:nvPr/>
        </p:nvSpPr>
        <p:spPr>
          <a:xfrm>
            <a:off x="6600000" y="2710000"/>
            <a:ext cx="4550000" cy="122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0" name="line"/>
          <p:cNvSpPr/>
          <p:nvPr/>
        </p:nvSpPr>
        <p:spPr>
          <a:xfrm>
            <a:off x="6600000" y="2710000"/>
            <a:ext cx="70000" cy="122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770000" y="283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차단 대상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70000" y="311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근거 없는 수치 claim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없이 원인 단정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검증 누락 final</a:t>
            </a:r>
          </a:p>
        </p:txBody>
      </p:sp>
      <p:sp>
        <p:nvSpPr>
          <p:cNvPr id="13" name="card"/>
          <p:cNvSpPr/>
          <p:nvPr/>
        </p:nvSpPr>
        <p:spPr>
          <a:xfrm>
            <a:off x="6600000" y="4160000"/>
            <a:ext cx="4550000" cy="122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4" name="line"/>
          <p:cNvSpPr/>
          <p:nvPr/>
        </p:nvSpPr>
        <p:spPr>
          <a:xfrm>
            <a:off x="6600000" y="4160000"/>
            <a:ext cx="70000" cy="122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770000" y="4280000"/>
            <a:ext cx="425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효과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770000" y="4565000"/>
            <a:ext cx="4250000" cy="7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prompt 의존 감소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재현 가능한 quality gate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Anti-patterns: 이렇게 만들면 Drift가 빨라진다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문제는 모델보다 context flow와 관측 부재에서 시작되는 경우가 많다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26/29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250000"/>
            <a:ext cx="5000000" cy="1700000"/>
          </a:xfrm>
          <a:prstGeom prst="roundRect"/>
          <a:solidFill>
            <a:srgbClr val="FEF2F2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250000"/>
            <a:ext cx="70000" cy="1700000"/>
          </a:xfrm>
          <a:prstGeom prst="rect"/>
          <a:solidFill>
            <a:srgbClr val="DC2626"/>
          </a:solidFill>
          <a:ln w="762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C262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전체 State 주입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 data와 오래된 observation이 모델을 압도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node별 projection</a:t>
            </a:r>
          </a:p>
        </p:txBody>
      </p:sp>
      <p:sp>
        <p:nvSpPr>
          <p:cNvPr id="7" name="card"/>
          <p:cNvSpPr/>
          <p:nvPr/>
        </p:nvSpPr>
        <p:spPr>
          <a:xfrm>
            <a:off x="6210000" y="1250000"/>
            <a:ext cx="5000000" cy="170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6210000" y="1250000"/>
            <a:ext cx="70000" cy="170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6340000" y="13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D97706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750000" y="137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모든 Tool 노출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750000" y="165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불필요한 tool 선택과 반복 호출 증가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dynamic allowlist</a:t>
            </a:r>
          </a:p>
        </p:txBody>
      </p:sp>
      <p:sp>
        <p:nvSpPr>
          <p:cNvPr id="12" name="card"/>
          <p:cNvSpPr/>
          <p:nvPr/>
        </p:nvSpPr>
        <p:spPr>
          <a:xfrm>
            <a:off x="850000" y="3310000"/>
            <a:ext cx="5000000" cy="17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50000" y="3310000"/>
            <a:ext cx="70000" cy="17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98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9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RAG를 측정 근거로 사용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9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runbook 일반론을 현재 원인으로 단정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evidence/guidance 분리</a:t>
            </a:r>
          </a:p>
        </p:txBody>
      </p:sp>
      <p:sp>
        <p:nvSpPr>
          <p:cNvPr id="17" name="card"/>
          <p:cNvSpPr/>
          <p:nvPr/>
        </p:nvSpPr>
        <p:spPr>
          <a:xfrm>
            <a:off x="6210000" y="3310000"/>
            <a:ext cx="5000000" cy="17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8" name="line"/>
          <p:cNvSpPr/>
          <p:nvPr/>
        </p:nvSpPr>
        <p:spPr>
          <a:xfrm>
            <a:off x="6210000" y="3310000"/>
            <a:ext cx="70000" cy="17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340000" y="344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!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750000" y="3430000"/>
            <a:ext cx="43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Final만 저장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750000" y="3715000"/>
            <a:ext cx="4340000" cy="12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왜 그런 답이 나왔는지 재현 불가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대응: trace +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구현 로드맵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문서 내용을 실제 개선 작업으로 연결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27/29</a:t>
            </a:r>
          </a:p>
        </p:txBody>
      </p:sp>
      <p:sp>
        <p:nvSpPr>
          <p:cNvPr id="2" name="card"/>
          <p:cNvSpPr/>
          <p:nvPr/>
        </p:nvSpPr>
        <p:spPr>
          <a:xfrm>
            <a:off x="760000" y="1750000"/>
            <a:ext cx="1580000" cy="95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760000" y="1750000"/>
            <a:ext cx="70000" cy="95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3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Phase 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3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Trace 표준화</a:t>
            </a:r>
          </a:p>
        </p:txBody>
      </p:sp>
      <p:sp>
        <p:nvSpPr>
          <p:cNvPr id="6" name="line"/>
          <p:cNvSpPr/>
          <p:nvPr/>
        </p:nvSpPr>
        <p:spPr>
          <a:xfrm>
            <a:off x="2340000" y="2220000"/>
            <a:ext cx="70000" cy="26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241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2563EB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8" name="card"/>
          <p:cNvSpPr/>
          <p:nvPr/>
        </p:nvSpPr>
        <p:spPr>
          <a:xfrm>
            <a:off x="2600000" y="1750000"/>
            <a:ext cx="1580000" cy="95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9" name="line"/>
          <p:cNvSpPr/>
          <p:nvPr/>
        </p:nvSpPr>
        <p:spPr>
          <a:xfrm>
            <a:off x="2600000" y="1750000"/>
            <a:ext cx="70000" cy="95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277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Phase 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77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Context 구조화</a:t>
            </a:r>
          </a:p>
        </p:txBody>
      </p:sp>
      <p:sp>
        <p:nvSpPr>
          <p:cNvPr id="12" name="line"/>
          <p:cNvSpPr/>
          <p:nvPr/>
        </p:nvSpPr>
        <p:spPr>
          <a:xfrm>
            <a:off x="4180000" y="2220000"/>
            <a:ext cx="70000" cy="26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25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0F766E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14" name="card"/>
          <p:cNvSpPr/>
          <p:nvPr/>
        </p:nvSpPr>
        <p:spPr>
          <a:xfrm>
            <a:off x="4440000" y="1750000"/>
            <a:ext cx="1580000" cy="95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4440000" y="1750000"/>
            <a:ext cx="70000" cy="95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1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Phase 3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1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Judge 강화</a:t>
            </a:r>
          </a:p>
        </p:txBody>
      </p:sp>
      <p:sp>
        <p:nvSpPr>
          <p:cNvPr id="18" name="line"/>
          <p:cNvSpPr/>
          <p:nvPr/>
        </p:nvSpPr>
        <p:spPr>
          <a:xfrm>
            <a:off x="6020000" y="2220000"/>
            <a:ext cx="70000" cy="26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090000" y="2130000"/>
            <a:ext cx="200000" cy="18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120" b="1">
                <a:solidFill>
                  <a:srgbClr val="7C3AED"/>
                </a:solidFill>
                <a:latin typeface="Aptos"/>
                <a:ea typeface="Malgun Gothic"/>
              </a:rPr>
              <a:t>▶</a:t>
            </a:r>
          </a:p>
        </p:txBody>
      </p:sp>
      <p:sp>
        <p:nvSpPr>
          <p:cNvPr id="20" name="card"/>
          <p:cNvSpPr/>
          <p:nvPr/>
        </p:nvSpPr>
        <p:spPr>
          <a:xfrm>
            <a:off x="6280000" y="1750000"/>
            <a:ext cx="1580000" cy="95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21" name="line"/>
          <p:cNvSpPr/>
          <p:nvPr/>
        </p:nvSpPr>
        <p:spPr>
          <a:xfrm>
            <a:off x="6280000" y="1750000"/>
            <a:ext cx="70000" cy="95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450000" y="1870000"/>
            <a:ext cx="128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Phase 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450000" y="2155000"/>
            <a:ext cx="1280000" cy="45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운영화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00000" y="4000000"/>
            <a:ext cx="10000000" cy="105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>
              <a:buNone/>
            </a:pPr>
            <a:r>
              <a:rPr lang="ko-KR" sz="1220" b="1">
                <a:solidFill>
                  <a:srgbClr val="111827"/>
                </a:solidFill>
                <a:latin typeface="Aptos"/>
                <a:ea typeface="Malgun Gothic"/>
              </a:rPr>
              <a:t>다음 액션</a:t>
            </a:r>
          </a:p>
          <a:p>
            <a:pPr>
              <a:buNone/>
            </a:pPr>
            <a:r>
              <a:rPr lang="ko-KR" sz="1500" b="1">
                <a:solidFill>
                  <a:srgbClr val="273244"/>
                </a:solidFill>
                <a:latin typeface="Aptos"/>
                <a:ea typeface="Malgun Gothic"/>
              </a:rPr>
              <a:t>event schema, context projection, finish gate, drift fixtures, dashboard 순서로 구현한다.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JUDGE AGENT ·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실무 체크리스트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Context · Graph · Telemetry 세 축이 모두 필요하다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28/29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450000"/>
            <a:ext cx="3200000" cy="33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450000"/>
            <a:ext cx="70000" cy="33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2563EB"/>
                </a:solidFill>
                <a:latin typeface="Aptos"/>
                <a:ea typeface="Malgun Gothic"/>
              </a:rPr>
              <a:t>C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90000" y="157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Context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390000" y="1855000"/>
            <a:ext cx="2540000" cy="2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inventory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projection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raw/summary 분리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 source 보존</a:t>
            </a:r>
          </a:p>
        </p:txBody>
      </p:sp>
      <p:sp>
        <p:nvSpPr>
          <p:cNvPr id="7" name="card"/>
          <p:cNvSpPr/>
          <p:nvPr/>
        </p:nvSpPr>
        <p:spPr>
          <a:xfrm>
            <a:off x="4450000" y="1450000"/>
            <a:ext cx="3200000" cy="33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8" name="line"/>
          <p:cNvSpPr/>
          <p:nvPr/>
        </p:nvSpPr>
        <p:spPr>
          <a:xfrm>
            <a:off x="4450000" y="1450000"/>
            <a:ext cx="70000" cy="33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5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0F766E"/>
                </a:solidFill>
                <a:latin typeface="Aptos"/>
                <a:ea typeface="Malgun Gothic"/>
              </a:rPr>
              <a:t>G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990000" y="157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Graph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990000" y="1855000"/>
            <a:ext cx="2540000" cy="2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 schema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deterministic node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conditional edge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checkpoint/thread_id</a:t>
            </a:r>
          </a:p>
        </p:txBody>
      </p:sp>
      <p:sp>
        <p:nvSpPr>
          <p:cNvPr id="12" name="card"/>
          <p:cNvSpPr/>
          <p:nvPr/>
        </p:nvSpPr>
        <p:spPr>
          <a:xfrm>
            <a:off x="8050000" y="1450000"/>
            <a:ext cx="3200000" cy="33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3" name="line"/>
          <p:cNvSpPr/>
          <p:nvPr/>
        </p:nvSpPr>
        <p:spPr>
          <a:xfrm>
            <a:off x="8050000" y="1450000"/>
            <a:ext cx="70000" cy="33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180000" y="1580000"/>
            <a:ext cx="330000" cy="33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0" tIns="0" rIns="0" bIns="0"/>
          <a:lstStyle/>
          <a:p>
            <a:pPr algn="ctr">
              <a:buNone/>
            </a:pPr>
            <a:r>
              <a:rPr lang="ko-KR" sz="1700" b="1">
                <a:solidFill>
                  <a:srgbClr val="7C3AED"/>
                </a:solidFill>
                <a:latin typeface="Aptos"/>
                <a:ea typeface="Malgun Gothic"/>
              </a:rPr>
              <a:t>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590000" y="1570000"/>
            <a:ext cx="254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Telemetry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590000" y="1855000"/>
            <a:ext cx="2540000" cy="2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prompt snapshot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node/tool/llm events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RAG/MCP trace</a:t>
            </a:r>
          </a:p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validation result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0" y="0"/>
            <a:ext cx="12192000" cy="42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20000" y="190000"/>
            <a:ext cx="760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720" b="1">
                <a:solidFill>
                  <a:srgbClr val="667085"/>
                </a:solidFill>
                <a:latin typeface="Aptos"/>
                <a:ea typeface="Malgun Gothic"/>
              </a:rPr>
              <a:t>KEY TAKEAWAYS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20000" y="370000"/>
            <a:ext cx="9600000" cy="315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820" b="1">
                <a:solidFill>
                  <a:srgbClr val="111827"/>
                </a:solidFill>
                <a:latin typeface="Aptos"/>
                <a:ea typeface="Malgun Gothic"/>
              </a:rPr>
              <a:t>결론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0000" y="690000"/>
            <a:ext cx="100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910">
                <a:solidFill>
                  <a:srgbClr val="667085"/>
                </a:solidFill>
                <a:latin typeface="Aptos"/>
                <a:ea typeface="Malgun Gothic"/>
              </a:rPr>
              <a:t>좋은 Agent는 답변 생성기가 아니라 검증 가능한 실행 시스템이다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900000" y="6400000"/>
            <a:ext cx="760000" cy="16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ko-KR" sz="760">
                <a:solidFill>
                  <a:srgbClr val="98A2B3"/>
                </a:solidFill>
                <a:latin typeface="Aptos"/>
                <a:ea typeface="Malgun Gothic"/>
              </a:rPr>
              <a:t>29/29</a:t>
            </a:r>
          </a:p>
        </p:txBody>
      </p:sp>
      <p:sp>
        <p:nvSpPr>
          <p:cNvPr id="2" name="card"/>
          <p:cNvSpPr/>
          <p:nvPr/>
        </p:nvSpPr>
        <p:spPr>
          <a:xfrm>
            <a:off x="850000" y="1300000"/>
            <a:ext cx="5000000" cy="1300000"/>
          </a:xfrm>
          <a:prstGeom prst="roundRect"/>
          <a:solidFill>
            <a:srgbClr val="EFF6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3" name="line"/>
          <p:cNvSpPr/>
          <p:nvPr/>
        </p:nvSpPr>
        <p:spPr>
          <a:xfrm>
            <a:off x="850000" y="1300000"/>
            <a:ext cx="70000" cy="1300000"/>
          </a:xfrm>
          <a:prstGeom prst="rect"/>
          <a:solidFill>
            <a:srgbClr val="2563EB"/>
          </a:solidFill>
          <a:ln w="762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1020000" y="1420000"/>
            <a:ext cx="47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1. Context Engineering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20000" y="1705000"/>
            <a:ext cx="4700000" cy="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모델이 무엇을 볼지, 무엇을 보지 않을지 설계한다.</a:t>
            </a:r>
          </a:p>
        </p:txBody>
      </p:sp>
      <p:sp>
        <p:nvSpPr>
          <p:cNvPr id="6" name="card"/>
          <p:cNvSpPr/>
          <p:nvPr/>
        </p:nvSpPr>
        <p:spPr>
          <a:xfrm>
            <a:off x="6350000" y="1300000"/>
            <a:ext cx="5000000" cy="1300000"/>
          </a:xfrm>
          <a:prstGeom prst="roundRect"/>
          <a:solidFill>
            <a:srgbClr val="ECFDF5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7" name="line"/>
          <p:cNvSpPr/>
          <p:nvPr/>
        </p:nvSpPr>
        <p:spPr>
          <a:xfrm>
            <a:off x="6350000" y="1300000"/>
            <a:ext cx="70000" cy="1300000"/>
          </a:xfrm>
          <a:prstGeom prst="rect"/>
          <a:solidFill>
            <a:srgbClr val="0F766E"/>
          </a:solidFill>
          <a:ln w="762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6520000" y="1420000"/>
            <a:ext cx="47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2. LangGraph Architecture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520000" y="1705000"/>
            <a:ext cx="4700000" cy="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State/Node/Edge/Checkpoint로 context flow를 통제한다.</a:t>
            </a:r>
          </a:p>
        </p:txBody>
      </p:sp>
      <p:sp>
        <p:nvSpPr>
          <p:cNvPr id="10" name="card"/>
          <p:cNvSpPr/>
          <p:nvPr/>
        </p:nvSpPr>
        <p:spPr>
          <a:xfrm>
            <a:off x="850000" y="3100000"/>
            <a:ext cx="5000000" cy="1300000"/>
          </a:xfrm>
          <a:prstGeom prst="roundRect"/>
          <a:solidFill>
            <a:srgbClr val="F5F3FF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1" name="line"/>
          <p:cNvSpPr/>
          <p:nvPr/>
        </p:nvSpPr>
        <p:spPr>
          <a:xfrm>
            <a:off x="850000" y="3100000"/>
            <a:ext cx="70000" cy="1300000"/>
          </a:xfrm>
          <a:prstGeom prst="rect"/>
          <a:solidFill>
            <a:srgbClr val="7C3AED"/>
          </a:solidFill>
          <a:ln w="762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020000" y="3220000"/>
            <a:ext cx="47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3. Drift Telemetry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020000" y="3505000"/>
            <a:ext cx="4700000" cy="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실행 경로와 근거를 trace로 남겨 Judge가 평가한다.</a:t>
            </a:r>
          </a:p>
        </p:txBody>
      </p:sp>
      <p:sp>
        <p:nvSpPr>
          <p:cNvPr id="14" name="card"/>
          <p:cNvSpPr/>
          <p:nvPr/>
        </p:nvSpPr>
        <p:spPr>
          <a:xfrm>
            <a:off x="6350000" y="3100000"/>
            <a:ext cx="5000000" cy="1300000"/>
          </a:xfrm>
          <a:prstGeom prst="roundRect"/>
          <a:solidFill>
            <a:srgbClr val="FFFBEB"/>
          </a:solidFill>
          <a:ln w="7620">
            <a:solidFill>
              <a:srgbClr val="D8DEE8"/>
            </a:solidFill>
          </a:ln>
        </p:spPr>
        <p:txBody>
          <a:bodyPr/>
          <a:lstStyle/>
          <a:p/>
        </p:txBody>
      </p:sp>
      <p:sp>
        <p:nvSpPr>
          <p:cNvPr id="15" name="line"/>
          <p:cNvSpPr/>
          <p:nvPr/>
        </p:nvSpPr>
        <p:spPr>
          <a:xfrm>
            <a:off x="6350000" y="3100000"/>
            <a:ext cx="70000" cy="1300000"/>
          </a:xfrm>
          <a:prstGeom prst="rect"/>
          <a:solidFill>
            <a:srgbClr val="D97706"/>
          </a:solidFill>
          <a:ln w="762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6520000" y="3220000"/>
            <a:ext cx="4700000" cy="22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4. Feedback Loop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520000" y="3505000"/>
            <a:ext cx="4700000" cy="800000"/>
          </a:xfrm>
          <a:prstGeom prst="rect"/>
          <a:noFill/>
          <a:ln>
            <a:noFill/>
          </a:ln>
        </p:spPr>
        <p:txBody>
          <a:bodyPr wrap="square" lIns="0" tIns="0" rIns="0" bIns="0"/>
          <a:lstStyle/>
          <a:p>
            <a:pPr marL="205000" indent="-105000">
              <a:buChar char="•"/>
            </a:pPr>
            <a:r>
              <a:rPr lang="ko-KR" sz="900">
                <a:solidFill>
                  <a:srgbClr val="273244"/>
                </a:solidFill>
                <a:latin typeface="Aptos"/>
                <a:ea typeface="Malgun Gothic"/>
              </a:rPr>
              <a:t>평가 결과를 prompt, graph, tool, memory 정책 개선으로 연결한다.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050000" y="5400000"/>
            <a:ext cx="9900000" cy="460000"/>
          </a:xfrm>
          <a:prstGeom prst="roundRect"/>
          <a:solidFill>
            <a:srgbClr val="FFFFFF"/>
          </a:solidFill>
          <a:ln w="7620">
            <a:solidFill>
              <a:srgbClr val="D8DEE8"/>
            </a:solidFill>
          </a:ln>
        </p:spPr>
        <p:txBody>
          <a:bodyPr wrap="square" lIns="64000" tIns="64000" rIns="64000" bIns="64000"/>
          <a:lstStyle/>
          <a:p>
            <a:pPr algn="ctr">
              <a:buNone/>
            </a:pPr>
            <a:r>
              <a:rPr lang="ko-KR" sz="1180" b="1">
                <a:solidFill>
                  <a:srgbClr val="111827"/>
                </a:solidFill>
                <a:latin typeface="Aptos"/>
                <a:ea typeface="Malgun Gothic"/>
              </a:rPr>
              <a:t>운영 가능한 AI Agent는 “왜 이 답을 했는가?”에 대해 trace, state, evidence로 답할 수 있어야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TechnicalArchitecture">
  <a:themeElements>
    <a:clrScheme name="WhiteTechnicalArchitecture">
      <a:dk1>
        <a:srgbClr val="111827"/>
      </a:dk1>
      <a:lt1>
        <a:srgbClr val="FFFFFF"/>
      </a:lt1>
      <a:dk2>
        <a:srgbClr val="273244"/>
      </a:dk2>
      <a:lt2>
        <a:srgbClr val="F8FAFC"/>
      </a:lt2>
      <a:accent1>
        <a:srgbClr val="2563EB"/>
      </a:accent1>
      <a:accent2>
        <a:srgbClr val="0F766E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WhiteTechnicalArchitecture">
      <a:majorFont>
        <a:latin typeface="Aptos"/>
        <a:ea typeface="Malgun Gothic"/>
      </a:majorFont>
      <a:minorFont>
        <a:latin typeface="Aptos"/>
        <a:ea typeface="Malgun Gothic"/>
      </a:minorFont>
    </a:fontScheme>
    <a:fmtScheme name="WhiteTechnicalArchitecture">
      <a:fillStyleLst>
        <a:solidFill>
          <a:schemeClr val="phClr"/>
        </a:solidFill>
      </a:fillStyleLst>
      <a:lnStyleLst>
        <a:ln w="7620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OpenClaw White Technical Architecture Deck Generator</Application>
  <PresentationFormat>On-screen Show (16:9)</PresentationFormat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Judge Agent Context Engineering Technical Seminar</dc:title>
  <dc:creator>OpenClaw</dc:creator>
  <cp:lastModifiedBy>OpenClaw</cp:lastModifiedBy>
  <dcterms:created xsi:type="dcterms:W3CDTF">2026-05-15T01:04:16Z</dcterms:created>
  <dcterms:modified xsi:type="dcterms:W3CDTF">2026-05-15T01:04:16Z</dcterms:modified>
</cp:coreProperties>
</file>