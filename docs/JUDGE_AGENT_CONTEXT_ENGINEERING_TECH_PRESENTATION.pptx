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12192000" cy="6858000" type="wide"/>
  <p:notesSz cx="6858000" cy="9144000"/>
  <p:defaultTextStyle>
    <a:defPPr>
      <a:defRPr lang="ko-KR"/>
    </a:defPPr>
  </p:defaultTextStyle>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ns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Judge Agent를 위한 Context Engineering &amp; Drift Telemetry</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01 / 62</a:t>
            </a:r>
          </a:p>
        </p:txBody>
      </p:sp>
      <p:sp>
        <p:nvSpPr>
          <p:cNvPr id="8" name="hero card"/>
          <p:cNvSpPr/>
          <p:nvPr/>
        </p:nvSpPr>
        <p:spPr>
          <a:xfrm>
            <a:off x="650000" y="1280000"/>
            <a:ext cx="10900000" cy="4200000"/>
          </a:xfrm>
          <a:prstGeom prst="roundRect"/>
          <a:solidFill>
            <a:srgbClr val="FFFFFF"/>
          </a:solidFill>
          <a:ln w="7620">
            <a:solidFill>
              <a:srgbClr val="E5E7EB"/>
            </a:solidFill>
          </a:ln>
        </p:spPr>
        <p:txBody>
          <a:bodyPr/>
          <a:lstStyle/>
          <a:p/>
        </p:txBody>
      </p:sp>
      <p:sp>
        <p:nvSpPr>
          <p:cNvPr id="9" name="card 0"/>
          <p:cNvSpPr/>
          <p:nvPr/>
        </p:nvSpPr>
        <p:spPr>
          <a:xfrm>
            <a:off x="650000" y="1520000"/>
            <a:ext cx="3513333" cy="3500000"/>
          </a:xfrm>
          <a:prstGeom prst="roundRect"/>
          <a:solidFill>
            <a:srgbClr val="F8FAFC"/>
          </a:solidFill>
          <a:ln w="7620">
            <a:solidFill>
              <a:srgbClr val="E2E8F0"/>
            </a:solidFill>
          </a:ln>
        </p:spPr>
        <p:txBody>
          <a:bodyPr/>
          <a:lstStyle/>
          <a:p/>
        </p:txBody>
      </p:sp>
      <p:sp>
        <p:nvSpPr>
          <p:cNvPr id="10" name="card text 0"/>
          <p:cNvSpPr txBox="1"/>
          <p:nvPr/>
        </p:nvSpPr>
        <p:spPr>
          <a:xfrm>
            <a:off x="710000" y="1580000"/>
            <a:ext cx="3393333" cy="33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운영 가능한 AI Agent를 만들기 위한 컨텍스트 설계, LangGraph 구조화, Drift 관측 체계</a:t>
            </a:r>
          </a:p>
          <a:p>
            <a:pPr marL="0" indent="0">
              <a:buNone/>
            </a:pPr>
            <a:r>
              <a:rPr lang="ko-KR" sz="1240">
                <a:solidFill>
                  <a:srgbClr val="334155"/>
                </a:solidFill>
                <a:latin typeface="Aptos"/>
                <a:ea typeface="Malgun Gothic"/>
              </a:rPr>
              <a:t>발표 키워드:</a:t>
            </a:r>
          </a:p>
          <a:p>
            <a:pPr marL="228600" indent="-137160">
              <a:buChar char="•"/>
            </a:pPr>
            <a:r>
              <a:rPr lang="ko-KR" sz="1230">
                <a:solidFill>
                  <a:srgbClr val="1F2937"/>
                </a:solidFill>
                <a:latin typeface="Aptos"/>
                <a:ea typeface="Malgun Gothic"/>
              </a:rPr>
              <a:t>Context Engineering</a:t>
            </a:r>
          </a:p>
        </p:txBody>
      </p:sp>
      <p:sp>
        <p:nvSpPr>
          <p:cNvPr id="11" name="card 1"/>
          <p:cNvSpPr/>
          <p:nvPr/>
        </p:nvSpPr>
        <p:spPr>
          <a:xfrm>
            <a:off x="4343333" y="1520000"/>
            <a:ext cx="3513333" cy="3500000"/>
          </a:xfrm>
          <a:prstGeom prst="roundRect"/>
          <a:solidFill>
            <a:srgbClr val="F8FAFC"/>
          </a:solidFill>
          <a:ln w="7620">
            <a:solidFill>
              <a:srgbClr val="E2E8F0"/>
            </a:solidFill>
          </a:ln>
        </p:spPr>
        <p:txBody>
          <a:bodyPr/>
          <a:lstStyle/>
          <a:p/>
        </p:txBody>
      </p:sp>
      <p:sp>
        <p:nvSpPr>
          <p:cNvPr id="12" name="card text 1"/>
          <p:cNvSpPr txBox="1"/>
          <p:nvPr/>
        </p:nvSpPr>
        <p:spPr>
          <a:xfrm>
            <a:off x="4403333" y="1580000"/>
            <a:ext cx="3393333" cy="33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LangChain / LangGraph</a:t>
            </a:r>
          </a:p>
          <a:p>
            <a:pPr marL="228600" indent="-137160">
              <a:buChar char="•"/>
            </a:pPr>
            <a:r>
              <a:rPr lang="ko-KR" sz="1230">
                <a:solidFill>
                  <a:srgbClr val="1F2937"/>
                </a:solidFill>
                <a:latin typeface="Aptos"/>
                <a:ea typeface="Malgun Gothic"/>
              </a:rPr>
              <a:t>ReAct Agent</a:t>
            </a:r>
          </a:p>
          <a:p>
            <a:pPr marL="228600" indent="-137160">
              <a:buChar char="•"/>
            </a:pPr>
            <a:r>
              <a:rPr lang="ko-KR" sz="1230">
                <a:solidFill>
                  <a:srgbClr val="1F2937"/>
                </a:solidFill>
                <a:latin typeface="Aptos"/>
                <a:ea typeface="Malgun Gothic"/>
              </a:rPr>
              <a:t>RAG / Memory / Tool Use</a:t>
            </a:r>
          </a:p>
        </p:txBody>
      </p:sp>
      <p:sp>
        <p:nvSpPr>
          <p:cNvPr id="13" name="card 2"/>
          <p:cNvSpPr/>
          <p:nvPr/>
        </p:nvSpPr>
        <p:spPr>
          <a:xfrm>
            <a:off x="8036666" y="1520000"/>
            <a:ext cx="3513333" cy="3500000"/>
          </a:xfrm>
          <a:prstGeom prst="roundRect"/>
          <a:solidFill>
            <a:srgbClr val="F8FAFC"/>
          </a:solidFill>
          <a:ln w="7620">
            <a:solidFill>
              <a:srgbClr val="E2E8F0"/>
            </a:solidFill>
          </a:ln>
        </p:spPr>
        <p:txBody>
          <a:bodyPr/>
          <a:lstStyle/>
          <a:p/>
        </p:txBody>
      </p:sp>
      <p:sp>
        <p:nvSpPr>
          <p:cNvPr id="14" name="card text 2"/>
          <p:cNvSpPr txBox="1"/>
          <p:nvPr/>
        </p:nvSpPr>
        <p:spPr>
          <a:xfrm>
            <a:off x="8096666" y="1580000"/>
            <a:ext cx="3393333" cy="33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Drift Telemetry</a:t>
            </a:r>
          </a:p>
          <a:p>
            <a:pPr marL="228600" indent="-137160">
              <a:buChar char="•"/>
            </a:pPr>
            <a:r>
              <a:rPr lang="ko-KR" sz="1230">
                <a:solidFill>
                  <a:srgbClr val="1F2937"/>
                </a:solidFill>
                <a:latin typeface="Aptos"/>
                <a:ea typeface="Malgun Gothic"/>
              </a:rPr>
              <a:t>Judge Agent</a:t>
            </a:r>
          </a:p>
          <a:p>
            <a:pPr marL="228600" indent="-137160">
              <a:buChar char="•"/>
            </a:pPr>
            <a:r>
              <a:rPr lang="ko-KR" sz="1230">
                <a:solidFill>
                  <a:srgbClr val="1F2937"/>
                </a:solidFill>
                <a:latin typeface="Aptos"/>
                <a:ea typeface="Malgun Gothic"/>
              </a:rPr>
              <a:t>Observability</a:t>
            </a:r>
          </a:p>
        </p:txBody>
      </p:sp>
      <p:sp>
        <p:nvSpPr>
          <p:cNvPr id="15"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6"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오늘 발표의 핵심은 “좋은 모델을 쓰면 에이전트가 안정적으로 동작한다”는 가정을 깨는 것이다. 실제 운영 환경에서 AI Agent의 신뢰성은 모델 성능뿐 아니라, 모델이 어떤 컨텍스트를 보고 판단하는지, 어떤 도구를 어떤 순서로 사용하는지, 그리고 그 과정이 얼마나 잘 관측되는지에 의해 결정된다.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우리가 해결하려는 문제</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02 / 62</a:t>
            </a:r>
          </a:p>
        </p:txBody>
      </p:sp>
      <p:sp>
        <p:nvSpPr>
          <p:cNvPr id="8" name="content card 0"/>
          <p:cNvSpPr/>
          <p:nvPr/>
        </p:nvSpPr>
        <p:spPr>
          <a:xfrm>
            <a:off x="650000" y="1040000"/>
            <a:ext cx="5360000"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5220000"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AI Agent가 왜 시간이 지나며 목표에서 벗어나는가?</a:t>
            </a:r>
          </a:p>
          <a:p>
            <a:pPr marL="228600" indent="-137160">
              <a:buChar char="•"/>
            </a:pPr>
            <a:r>
              <a:rPr lang="ko-KR" sz="1230">
                <a:solidFill>
                  <a:srgbClr val="1F2937"/>
                </a:solidFill>
                <a:latin typeface="Aptos"/>
                <a:ea typeface="Malgun Gothic"/>
              </a:rPr>
              <a:t>왜 더 긴 컨텍스트 창이 항상 더 나은 답을 만들지 않는가?</a:t>
            </a:r>
          </a:p>
          <a:p>
            <a:pPr marL="228600" indent="-137160">
              <a:buChar char="•"/>
            </a:pPr>
            <a:r>
              <a:rPr lang="ko-KR" sz="1230">
                <a:solidFill>
                  <a:srgbClr val="1F2937"/>
                </a:solidFill>
                <a:latin typeface="Aptos"/>
                <a:ea typeface="Malgun Gothic"/>
              </a:rPr>
              <a:t>LangGraph 에이전트에서 컨텍스트는 어디에 존재하는가?</a:t>
            </a:r>
          </a:p>
        </p:txBody>
      </p:sp>
      <p:sp>
        <p:nvSpPr>
          <p:cNvPr id="10" name="content card 1"/>
          <p:cNvSpPr/>
          <p:nvPr/>
        </p:nvSpPr>
        <p:spPr>
          <a:xfrm>
            <a:off x="6190000" y="1040000"/>
            <a:ext cx="5360000" cy="4720000"/>
          </a:xfrm>
          <a:prstGeom prst="roundRect"/>
          <a:solidFill>
            <a:srgbClr val="FFFFFF"/>
          </a:solidFill>
          <a:ln w="7620">
            <a:solidFill>
              <a:srgbClr val="E5E7EB"/>
            </a:solidFill>
          </a:ln>
        </p:spPr>
        <p:txBody>
          <a:bodyPr/>
          <a:lstStyle/>
          <a:p/>
        </p:txBody>
      </p:sp>
      <p:sp>
        <p:nvSpPr>
          <p:cNvPr id="11" name="content text 1"/>
          <p:cNvSpPr txBox="1"/>
          <p:nvPr/>
        </p:nvSpPr>
        <p:spPr>
          <a:xfrm>
            <a:off x="6260000" y="1110000"/>
            <a:ext cx="5220000"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Judge Agent는 어떤 데이터를 보고 drift를 판단해야 하는가?</a:t>
            </a:r>
          </a:p>
          <a:p>
            <a:pPr marL="228600" indent="-137160">
              <a:buChar char="•"/>
            </a:pPr>
            <a:r>
              <a:rPr lang="ko-KR" sz="1230">
                <a:solidFill>
                  <a:srgbClr val="1F2937"/>
                </a:solidFill>
                <a:latin typeface="Aptos"/>
                <a:ea typeface="Malgun Gothic"/>
              </a:rPr>
              <a:t>운영 가능한 에이전트를 만들려면 어떤 telemetry가 필요한가?</a:t>
            </a:r>
          </a:p>
        </p:txBody>
      </p:sp>
      <p:sp>
        <p:nvSpPr>
          <p:cNvPr id="12"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3"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세 문서는 각각 다른 층위를 다룬다. 첫 번째 문서는 Context Engineering의 일반 이론, 두 번째 문서는 LangChain/LangGraph 구현 관점, 세 번째 문서는 drift 탐지를 위한 데이터 수집 관점이다. 오늘 발표는 이 세 층위를 하나로 연결한다.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발표의 원천 문서</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03 / 62</a:t>
            </a:r>
          </a:p>
        </p:txBody>
      </p:sp>
      <p:sp>
        <p:nvSpPr>
          <p:cNvPr id="8" name="content card 0"/>
          <p:cNvSpPr/>
          <p:nvPr/>
        </p:nvSpPr>
        <p:spPr>
          <a:xfrm>
            <a:off x="650000" y="1040000"/>
            <a:ext cx="5360000"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5220000" cy="458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문서 | 핵심 역할</a:t>
            </a:r>
          </a:p>
          <a:p>
            <a:pPr marL="0" indent="0">
              <a:buNone/>
            </a:pPr>
            <a:r>
              <a:rPr lang="ko-KR" sz="1120">
                <a:solidFill>
                  <a:srgbClr val="1F2937"/>
                </a:solidFill>
                <a:latin typeface="Aptos"/>
                <a:ea typeface="Malgun Gothic"/>
              </a:rPr>
              <a:t>`context-engineering-guide.md` | Context Engineering의 개념, 절차, 방법론, 실패 모드, 오픈소스, 실무 예시</a:t>
            </a:r>
          </a:p>
        </p:txBody>
      </p:sp>
      <p:sp>
        <p:nvSpPr>
          <p:cNvPr id="10" name="content card 1"/>
          <p:cNvSpPr/>
          <p:nvPr/>
        </p:nvSpPr>
        <p:spPr>
          <a:xfrm>
            <a:off x="6190000" y="1040000"/>
            <a:ext cx="5360000" cy="4720000"/>
          </a:xfrm>
          <a:prstGeom prst="roundRect"/>
          <a:solidFill>
            <a:srgbClr val="FFFFFF"/>
          </a:solidFill>
          <a:ln w="7620">
            <a:solidFill>
              <a:srgbClr val="E5E7EB"/>
            </a:solidFill>
          </a:ln>
        </p:spPr>
        <p:txBody>
          <a:bodyPr/>
          <a:lstStyle/>
          <a:p/>
        </p:txBody>
      </p:sp>
      <p:sp>
        <p:nvSpPr>
          <p:cNvPr id="11" name="content text 1"/>
          <p:cNvSpPr txBox="1"/>
          <p:nvPr/>
        </p:nvSpPr>
        <p:spPr>
          <a:xfrm>
            <a:off x="6260000" y="1110000"/>
            <a:ext cx="5220000" cy="458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`langchain-langgraph-context-engineering-guide.md` | LangChain/LangGraph 에이전트에서 State, Node, Edge, Tool, RAG, Memory를 어떻게 설계할지</a:t>
            </a:r>
          </a:p>
          <a:p>
            <a:pPr marL="0" indent="0">
              <a:buNone/>
            </a:pPr>
            <a:r>
              <a:rPr lang="ko-KR" sz="1120">
                <a:solidFill>
                  <a:srgbClr val="1F2937"/>
                </a:solidFill>
                <a:latin typeface="Aptos"/>
                <a:ea typeface="Malgun Gothic"/>
              </a:rPr>
              <a:t>`DRIFT_TELEMETRY_INTEGRATION_GUIDE.md` | reference agent가 drift 탐지용 데이터를 어디서 생성하고, 어떻게 trace로 기록하는지</a:t>
            </a:r>
          </a:p>
        </p:txBody>
      </p:sp>
      <p:sp>
        <p:nvSpPr>
          <p:cNvPr id="12"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3"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이 세 문서를 합치면 “에이전트 설계 → 실행 → 관측 → 평가 → 개선”의 전체 루프가 된다. Context Engineering은 설계 원칙이고, LangGraph는 구현 구조이며, Drift Telemetry는 운영과 평가를 위한 데이터 계층이다.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운영 가능한 AI Agent의 3요소</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04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Context Engineering</a:t>
            </a:r>
          </a:p>
          <a:p>
            <a:pPr marL="0" indent="0">
              <a:buNone/>
            </a:pPr>
            <a:r>
              <a:rPr lang="ko-KR" sz="980">
                <a:solidFill>
                  <a:srgbClr val="374151"/>
                </a:solidFill>
                <a:latin typeface="Menlo"/>
                <a:ea typeface="Malgun Gothic"/>
              </a:rPr>
              <a:t>  모델이 무엇을 보고 판단하는가?</a:t>
            </a:r>
          </a:p>
          <a:p>
            <a:pPr marL="0" indent="0">
              <a:buNone/>
            </a:pPr>
            <a:r>
              <a:rPr lang="ko-KR" sz="980">
                <a:solidFill>
                  <a:srgbClr val="374151"/>
                </a:solidFill>
                <a:latin typeface="Menlo"/>
                <a:ea typeface="Malgun Gothic"/>
              </a:rPr>
              <a:t/>
            </a:r>
          </a:p>
          <a:p>
            <a:pPr marL="0" indent="0">
              <a:buNone/>
            </a:pPr>
            <a:r>
              <a:rPr lang="ko-KR" sz="980">
                <a:solidFill>
                  <a:srgbClr val="374151"/>
                </a:solidFill>
                <a:latin typeface="Menlo"/>
                <a:ea typeface="Malgun Gothic"/>
              </a:rPr>
              <a:t>LangGraph Architecture</a:t>
            </a:r>
          </a:p>
          <a:p>
            <a:pPr marL="0" indent="0">
              <a:buNone/>
            </a:pPr>
            <a:r>
              <a:rPr lang="ko-KR" sz="980">
                <a:solidFill>
                  <a:srgbClr val="374151"/>
                </a:solidFill>
                <a:latin typeface="Menlo"/>
                <a:ea typeface="Malgun Gothic"/>
              </a:rPr>
              <a:t>  그 컨텍스트가 어떤 상태와 노드 흐름으로 관리되는가?</a:t>
            </a:r>
          </a:p>
          <a:p>
            <a:pPr marL="0" indent="0">
              <a:buNone/>
            </a:pPr>
            <a:r>
              <a:rPr lang="ko-KR" sz="980">
                <a:solidFill>
                  <a:srgbClr val="374151"/>
                </a:solidFill>
                <a:latin typeface="Menlo"/>
                <a:ea typeface="Malgun Gothic"/>
              </a:rPr>
              <a:t/>
            </a:r>
          </a:p>
          <a:p>
            <a:pPr marL="0" indent="0">
              <a:buNone/>
            </a:pPr>
            <a:r>
              <a:rPr lang="ko-KR" sz="980">
                <a:solidFill>
                  <a:srgbClr val="374151"/>
                </a:solidFill>
                <a:latin typeface="Menlo"/>
                <a:ea typeface="Malgun Gothic"/>
              </a:rPr>
              <a:t>Drift Telemetry</a:t>
            </a:r>
          </a:p>
          <a:p>
            <a:pPr marL="0" indent="0">
              <a:buNone/>
            </a:pPr>
            <a:r>
              <a:rPr lang="ko-KR" sz="980">
                <a:solidFill>
                  <a:srgbClr val="374151"/>
                </a:solidFill>
                <a:latin typeface="Menlo"/>
                <a:ea typeface="Malgun Gothic"/>
              </a:rPr>
              <a:t>  실행 과정에서 무엇이 기록되고, Judge Agent가 무엇을 검증하는가?</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450" b="1">
                <a:solidFill>
                  <a:srgbClr val="0F766E"/>
                </a:solidFill>
                <a:latin typeface="Aptos"/>
                <a:ea typeface="Malgun Gothic"/>
              </a:rPr>
              <a:t>핵심 메시지</a:t>
            </a:r>
          </a:p>
          <a:p>
            <a:pPr marL="0" indent="0">
              <a:buNone/>
            </a:pPr>
            <a:r>
              <a:rPr lang="ko-KR" sz="1250">
                <a:solidFill>
                  <a:srgbClr val="475569"/>
                </a:solidFill>
                <a:latin typeface="Aptos"/>
                <a:ea typeface="Malgun Gothic"/>
              </a:rPr>
              <a:t>“Prompt는 모델에게 하는 말이고, Context는 모델이 일하는 세계다. Telemetry는 그 세계에서 실제로 무슨 일이 일어났는지 남기는 증거다.”</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데모와 운영의 차이</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05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데모에서는 다음이 잘 동작한다.</a:t>
            </a:r>
          </a:p>
          <a:p>
            <a:pPr marL="228600" indent="-137160">
              <a:buChar char="•"/>
            </a:pPr>
            <a:r>
              <a:rPr lang="ko-KR" sz="1230">
                <a:solidFill>
                  <a:srgbClr val="1F2937"/>
                </a:solidFill>
                <a:latin typeface="Aptos"/>
                <a:ea typeface="Malgun Gothic"/>
              </a:rPr>
              <a:t>짧은 입력</a:t>
            </a:r>
          </a:p>
          <a:p>
            <a:pPr marL="228600" indent="-137160">
              <a:buChar char="•"/>
            </a:pPr>
            <a:r>
              <a:rPr lang="ko-KR" sz="1230">
                <a:solidFill>
                  <a:srgbClr val="1F2937"/>
                </a:solidFill>
                <a:latin typeface="Aptos"/>
                <a:ea typeface="Malgun Gothic"/>
              </a:rPr>
              <a:t>명확한 목표</a:t>
            </a:r>
          </a:p>
          <a:p>
            <a:pPr marL="228600" indent="-137160">
              <a:buChar char="•"/>
            </a:pPr>
            <a:r>
              <a:rPr lang="ko-KR" sz="1230">
                <a:solidFill>
                  <a:srgbClr val="1F2937"/>
                </a:solidFill>
                <a:latin typeface="Aptos"/>
                <a:ea typeface="Malgun Gothic"/>
              </a:rPr>
              <a:t>제한된 도구</a:t>
            </a:r>
          </a:p>
          <a:p>
            <a:pPr marL="228600" indent="-137160">
              <a:buChar char="•"/>
            </a:pPr>
            <a:r>
              <a:rPr lang="ko-KR" sz="1230">
                <a:solidFill>
                  <a:srgbClr val="1F2937"/>
                </a:solidFill>
                <a:latin typeface="Aptos"/>
                <a:ea typeface="Malgun Gothic"/>
              </a:rPr>
              <a:t>단발성 응답</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작은 문서 검색</a:t>
            </a:r>
          </a:p>
          <a:p>
            <a:pPr marL="0" indent="0">
              <a:buNone/>
            </a:pPr>
            <a:r>
              <a:rPr lang="ko-KR" sz="1240">
                <a:solidFill>
                  <a:srgbClr val="334155"/>
                </a:solidFill>
                <a:latin typeface="Aptos"/>
                <a:ea typeface="Malgun Gothic"/>
              </a:rPr>
              <a:t>운영에서는 다음이 발생한다.</a:t>
            </a:r>
          </a:p>
          <a:p>
            <a:pPr marL="228600" indent="-137160">
              <a:buChar char="•"/>
            </a:pPr>
            <a:r>
              <a:rPr lang="ko-KR" sz="1230">
                <a:solidFill>
                  <a:srgbClr val="1F2937"/>
                </a:solidFill>
                <a:latin typeface="Aptos"/>
                <a:ea typeface="Malgun Gothic"/>
              </a:rPr>
              <a:t>긴 대화와 누적 상태</a:t>
            </a:r>
          </a:p>
          <a:p>
            <a:pPr marL="228600" indent="-137160">
              <a:buChar char="•"/>
            </a:pPr>
            <a:r>
              <a:rPr lang="ko-KR" sz="1230">
                <a:solidFill>
                  <a:srgbClr val="1F2937"/>
                </a:solidFill>
                <a:latin typeface="Aptos"/>
                <a:ea typeface="Malgun Gothic"/>
              </a:rPr>
              <a:t>여러 도구 호출</a:t>
            </a:r>
          </a:p>
          <a:p>
            <a:pPr marL="228600" indent="-137160">
              <a:buChar char="•"/>
            </a:pPr>
            <a:r>
              <a:rPr lang="ko-KR" sz="1230">
                <a:solidFill>
                  <a:srgbClr val="1F2937"/>
                </a:solidFill>
                <a:latin typeface="Aptos"/>
                <a:ea typeface="Malgun Gothic"/>
              </a:rPr>
              <a:t>RAG 문서 충돌</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오래된 메모리</a:t>
            </a:r>
          </a:p>
          <a:p>
            <a:pPr marL="228600" indent="-137160">
              <a:buChar char="•"/>
            </a:pPr>
            <a:r>
              <a:rPr lang="ko-KR" sz="1230">
                <a:solidFill>
                  <a:srgbClr val="1F2937"/>
                </a:solidFill>
                <a:latin typeface="Aptos"/>
                <a:ea typeface="Malgun Gothic"/>
              </a:rPr>
              <a:t>사용자 목표 변경</a:t>
            </a:r>
          </a:p>
          <a:p>
            <a:pPr marL="228600" indent="-137160">
              <a:buChar char="•"/>
            </a:pPr>
            <a:r>
              <a:rPr lang="ko-KR" sz="1230">
                <a:solidFill>
                  <a:srgbClr val="1F2937"/>
                </a:solidFill>
                <a:latin typeface="Aptos"/>
                <a:ea typeface="Malgun Gothic"/>
              </a:rPr>
              <a:t>실패한 tool call</a:t>
            </a:r>
          </a:p>
          <a:p>
            <a:pPr marL="228600" indent="-137160">
              <a:buChar char="•"/>
            </a:pPr>
            <a:r>
              <a:rPr lang="ko-KR" sz="1230">
                <a:solidFill>
                  <a:srgbClr val="1F2937"/>
                </a:solidFill>
                <a:latin typeface="Aptos"/>
                <a:ea typeface="Malgun Gothic"/>
              </a:rPr>
              <a:t>부분적으로 잘못된 중간 추론</a:t>
            </a:r>
          </a:p>
          <a:p>
            <a:pPr marL="228600" indent="-137160">
              <a:buChar char="•"/>
            </a:pPr>
            <a:r>
              <a:rPr lang="ko-KR" sz="1230">
                <a:solidFill>
                  <a:srgbClr val="1F2937"/>
                </a:solidFill>
                <a:latin typeface="Aptos"/>
                <a:ea typeface="Malgun Gothic"/>
              </a:rPr>
              <a:t>외부 시스템 side effect</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AI Agent는 단순히 LLM 호출을 반복하는 시스템이 아니다. 상태가 누적되고, 도구 결과가 들어오고, 이전 판단이 다음 판단에 영향을 준다. 그래서 운영 환경에서는 context 관리와 trace 수집이 필수다.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Drift란 무엇인가</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06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Agent Drift는 에이전트가 원래 의도, 지시, 목표, 근거, 절차에서 벗어나는 현상이다.</a:t>
            </a:r>
          </a:p>
          <a:p>
            <a:pPr marL="0" indent="0">
              <a:buNone/>
            </a:pPr>
            <a:r>
              <a:rPr lang="ko-KR" sz="1240">
                <a:solidFill>
                  <a:srgbClr val="334155"/>
                </a:solidFill>
                <a:latin typeface="Aptos"/>
                <a:ea typeface="Malgun Gothic"/>
              </a:rPr>
              <a:t>주요 유형:</a:t>
            </a:r>
          </a:p>
          <a:p>
            <a:pPr marL="228600" indent="-137160">
              <a:buChar char="•"/>
            </a:pPr>
            <a:r>
              <a:rPr lang="ko-KR" sz="1230">
                <a:solidFill>
                  <a:srgbClr val="1F2937"/>
                </a:solidFill>
                <a:latin typeface="Aptos"/>
                <a:ea typeface="Malgun Gothic"/>
              </a:rPr>
              <a:t>Goal Drift: 원래 목표에서 벗어남</a:t>
            </a:r>
          </a:p>
          <a:p>
            <a:pPr marL="228600" indent="-137160">
              <a:buChar char="•"/>
            </a:pPr>
            <a:r>
              <a:rPr lang="ko-KR" sz="1230">
                <a:solidFill>
                  <a:srgbClr val="1F2937"/>
                </a:solidFill>
                <a:latin typeface="Aptos"/>
                <a:ea typeface="Malgun Gothic"/>
              </a:rPr>
              <a:t>Tool Drift: 잘못된 도구를 선택하거나 불필요하게 반복 호출</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Memory Drift: 관련 없는 기억 또는 오래된 기억 사용</a:t>
            </a:r>
          </a:p>
          <a:p>
            <a:pPr marL="228600" indent="-137160">
              <a:buChar char="•"/>
            </a:pPr>
            <a:r>
              <a:rPr lang="ko-KR" sz="1230">
                <a:solidFill>
                  <a:srgbClr val="1F2937"/>
                </a:solidFill>
                <a:latin typeface="Aptos"/>
                <a:ea typeface="Malgun Gothic"/>
              </a:rPr>
              <a:t>RAG Drift: 검색 문서를 잘못 해석하거나 과도하게 일반화</a:t>
            </a:r>
          </a:p>
          <a:p>
            <a:pPr marL="228600" indent="-137160">
              <a:buChar char="•"/>
            </a:pPr>
            <a:r>
              <a:rPr lang="ko-KR" sz="1230">
                <a:solidFill>
                  <a:srgbClr val="1F2937"/>
                </a:solidFill>
                <a:latin typeface="Aptos"/>
                <a:ea typeface="Malgun Gothic"/>
              </a:rPr>
              <a:t>Evidence Drift: 근거 없이 수치나 원인을 주장</a:t>
            </a:r>
          </a:p>
          <a:p>
            <a:pPr marL="228600" indent="-137160">
              <a:buChar char="•"/>
            </a:pPr>
            <a:r>
              <a:rPr lang="ko-KR" sz="1230">
                <a:solidFill>
                  <a:srgbClr val="1F2937"/>
                </a:solidFill>
                <a:latin typeface="Aptos"/>
                <a:ea typeface="Malgun Gothic"/>
              </a:rPr>
              <a:t>Handoff Drift: 노드/에이전트 간 전달 과정에서 의미가 변형</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Context Bloat: 불필요한 컨텍스트가 과도하게 누적</a:t>
            </a:r>
          </a:p>
          <a:p>
            <a:pPr marL="228600" indent="-137160">
              <a:buChar char="•"/>
            </a:pPr>
            <a:r>
              <a:rPr lang="ko-KR" sz="1230">
                <a:solidFill>
                  <a:srgbClr val="1F2937"/>
                </a:solidFill>
                <a:latin typeface="Aptos"/>
                <a:ea typeface="Malgun Gothic"/>
              </a:rPr>
              <a:t>Context Poisoning: 잘못된 정보가 state나 memory에 들어가 이후 판단을 오염</a:t>
            </a:r>
          </a:p>
          <a:p>
            <a:pPr marL="0" indent="0">
              <a:buNone/>
            </a:pPr>
            <a:r>
              <a:rPr lang="ko-KR" sz="1240">
                <a:solidFill>
                  <a:srgbClr val="334155"/>
                </a:solidFill>
                <a:latin typeface="Aptos"/>
                <a:ea typeface="Malgun Gothic"/>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단순 Prompt Engineering을 넘어</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07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Context Engineering은 다음을 설계·운영하는 discipline이다.</a:t>
            </a:r>
          </a:p>
          <a:p>
            <a:pPr marL="0" indent="0">
              <a:buNone/>
            </a:pPr>
            <a:r>
              <a:rPr lang="ko-KR" sz="1250">
                <a:solidFill>
                  <a:srgbClr val="475569"/>
                </a:solidFill>
                <a:latin typeface="Aptos"/>
                <a:ea typeface="Malgun Gothic"/>
              </a:rPr>
              <a:t>“LLM/Agent가 목표를 달성하기 위해 필요한 정보를 외부 세계에서 가져오고, 장기/단기 기억에 저장하고, 현재 작업에 맞게 선택하고, 중복·충돌·노이즈를 줄이고, 안전하고 검증 가능한 형태로 모델에게 제공하는 전체 시스템.”</a:t>
            </a:r>
          </a:p>
          <a:p>
            <a:pPr marL="0" indent="0">
              <a:buNone/>
            </a:pPr>
            <a:r>
              <a:rPr lang="ko-KR" sz="1450" b="1">
                <a:solidFill>
                  <a:srgbClr val="0F766E"/>
                </a:solidFill>
                <a:latin typeface="Aptos"/>
                <a:ea typeface="Malgun Gothic"/>
              </a:rPr>
              <a:t>Prompt Engineering과의 차이</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구분 | Prompt Engineering | Context Engineering</a:t>
            </a:r>
          </a:p>
          <a:p>
            <a:pPr marL="0" indent="0">
              <a:buNone/>
            </a:pPr>
            <a:r>
              <a:rPr lang="ko-KR" sz="1120">
                <a:solidFill>
                  <a:srgbClr val="1F2937"/>
                </a:solidFill>
                <a:latin typeface="Aptos"/>
                <a:ea typeface="Malgun Gothic"/>
              </a:rPr>
              <a:t>질문 | 어떻게 말할까? | 무엇을 보여줄까?</a:t>
            </a:r>
          </a:p>
          <a:p>
            <a:pPr marL="0" indent="0">
              <a:buNone/>
            </a:pPr>
            <a:r>
              <a:rPr lang="ko-KR" sz="1120">
                <a:solidFill>
                  <a:srgbClr val="1F2937"/>
                </a:solidFill>
                <a:latin typeface="Aptos"/>
                <a:ea typeface="Malgun Gothic"/>
              </a:rPr>
              <a:t>범위 | 지시문, 예시 | 지시문 + 검색 + 메모리 + 도구 + 상태 + 검증</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단위 | prompt | 정보 파이프라인</a:t>
            </a:r>
          </a:p>
          <a:p>
            <a:pPr marL="0" indent="0">
              <a:buNone/>
            </a:pPr>
            <a:r>
              <a:rPr lang="ko-KR" sz="1120">
                <a:solidFill>
                  <a:srgbClr val="1F2937"/>
                </a:solidFill>
                <a:latin typeface="Aptos"/>
                <a:ea typeface="Malgun Gothic"/>
              </a:rPr>
              <a:t>실패 원인 | 지시 모호함 | 정보 누락/과다/충돌/오염</a:t>
            </a:r>
          </a:p>
          <a:p>
            <a:pPr marL="0" indent="0">
              <a:buNone/>
            </a:pPr>
            <a:r>
              <a:rPr lang="ko-KR" sz="1240">
                <a:solidFill>
                  <a:srgbClr val="334155"/>
                </a:solidFill>
                <a:latin typeface="Aptos"/>
                <a:ea typeface="Malgun Gothic"/>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모델이 실제로 보는 것</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08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LLM은 다음 컨텍스트를 기반으로 응답한다.</a:t>
            </a:r>
          </a:p>
          <a:p>
            <a:pPr marL="228600" indent="-137160">
              <a:buChar char="•"/>
            </a:pPr>
            <a:r>
              <a:rPr lang="ko-KR" sz="1230">
                <a:solidFill>
                  <a:srgbClr val="1F2937"/>
                </a:solidFill>
                <a:latin typeface="Aptos"/>
                <a:ea typeface="Malgun Gothic"/>
              </a:rPr>
              <a:t>System / Developer / User instructions</a:t>
            </a:r>
          </a:p>
          <a:p>
            <a:pPr marL="228600" indent="-137160">
              <a:buChar char="•"/>
            </a:pPr>
            <a:r>
              <a:rPr lang="ko-KR" sz="1230">
                <a:solidFill>
                  <a:srgbClr val="1F2937"/>
                </a:solidFill>
                <a:latin typeface="Aptos"/>
                <a:ea typeface="Malgun Gothic"/>
              </a:rPr>
              <a:t>이전 대화 기록</a:t>
            </a:r>
          </a:p>
          <a:p>
            <a:pPr marL="228600" indent="-137160">
              <a:buChar char="•"/>
            </a:pPr>
            <a:r>
              <a:rPr lang="ko-KR" sz="1230">
                <a:solidFill>
                  <a:srgbClr val="1F2937"/>
                </a:solidFill>
                <a:latin typeface="Aptos"/>
                <a:ea typeface="Malgun Gothic"/>
              </a:rPr>
              <a:t>RAG로 검색된 문서</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도구 목록과 도구 설명</a:t>
            </a:r>
          </a:p>
          <a:p>
            <a:pPr marL="228600" indent="-137160">
              <a:buChar char="•"/>
            </a:pPr>
            <a:r>
              <a:rPr lang="ko-KR" sz="1230">
                <a:solidFill>
                  <a:srgbClr val="1F2937"/>
                </a:solidFill>
                <a:latin typeface="Aptos"/>
                <a:ea typeface="Malgun Gothic"/>
              </a:rPr>
              <a:t>도구 호출 결과</a:t>
            </a:r>
          </a:p>
          <a:p>
            <a:pPr marL="228600" indent="-137160">
              <a:buChar char="•"/>
            </a:pPr>
            <a:r>
              <a:rPr lang="ko-KR" sz="1230">
                <a:solidFill>
                  <a:srgbClr val="1F2937"/>
                </a:solidFill>
                <a:latin typeface="Aptos"/>
                <a:ea typeface="Malgun Gothic"/>
              </a:rPr>
              <a:t>메모리에서 선택된 사용자/프로젝트 정보</a:t>
            </a:r>
          </a:p>
          <a:p>
            <a:pPr marL="228600" indent="-137160">
              <a:buChar char="•"/>
            </a:pPr>
            <a:r>
              <a:rPr lang="ko-KR" sz="1230">
                <a:solidFill>
                  <a:srgbClr val="1F2937"/>
                </a:solidFill>
                <a:latin typeface="Aptos"/>
                <a:ea typeface="Malgun Gothic"/>
              </a:rPr>
              <a:t>few-shot 예시</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출력 형식 스키마</a:t>
            </a:r>
          </a:p>
          <a:p>
            <a:pPr marL="228600" indent="-137160">
              <a:buChar char="•"/>
            </a:pPr>
            <a:r>
              <a:rPr lang="ko-KR" sz="1230">
                <a:solidFill>
                  <a:srgbClr val="1F2937"/>
                </a:solidFill>
                <a:latin typeface="Aptos"/>
                <a:ea typeface="Malgun Gothic"/>
              </a:rPr>
              <a:t>안전 정책과 비즈니스 규칙</a:t>
            </a:r>
          </a:p>
          <a:p>
            <a:pPr marL="228600" indent="-137160">
              <a:buChar char="•"/>
            </a:pPr>
            <a:r>
              <a:rPr lang="ko-KR" sz="1230">
                <a:solidFill>
                  <a:srgbClr val="1F2937"/>
                </a:solidFill>
                <a:latin typeface="Aptos"/>
                <a:ea typeface="Malgun Gothic"/>
              </a:rPr>
              <a:t>현재 workflow state</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중요한 것은 모델이 “학습 데이터 전체”를 자유롭게 검색하는 것이 아니라, 현재 context window에 들어온 정보를 중심으로 다음 토큰을 생성한다는 점이다. 따라서 context window는 CPU의 RAM처럼 관리해야 한다.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Long Context Failure Modes</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09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긴 컨텍스트는 다음 문제를 만든다.</a:t>
            </a:r>
          </a:p>
          <a:p>
            <a:pPr marL="228600" indent="-137160">
              <a:buChar char="•"/>
            </a:pPr>
            <a:r>
              <a:rPr lang="ko-KR" sz="1230">
                <a:solidFill>
                  <a:srgbClr val="1F2937"/>
                </a:solidFill>
                <a:latin typeface="Aptos"/>
                <a:ea typeface="Malgun Gothic"/>
              </a:rPr>
              <a:t>Context Poisoning</a:t>
            </a:r>
          </a:p>
          <a:p>
            <a:pPr marL="0" indent="0">
              <a:buNone/>
            </a:pPr>
            <a:r>
              <a:rPr lang="ko-KR" sz="1240">
                <a:solidFill>
                  <a:srgbClr val="334155"/>
                </a:solidFill>
                <a:latin typeface="Aptos"/>
                <a:ea typeface="Malgun Gothic"/>
              </a:rPr>
              <a:t>잘못된 정보가 컨텍스트에 들어가 이후 판단을 오염</a:t>
            </a:r>
          </a:p>
          <a:p>
            <a:pPr marL="228600" indent="-137160">
              <a:buChar char="•"/>
            </a:pPr>
            <a:r>
              <a:rPr lang="ko-KR" sz="1230">
                <a:solidFill>
                  <a:srgbClr val="1F2937"/>
                </a:solidFill>
                <a:latin typeface="Aptos"/>
                <a:ea typeface="Malgun Gothic"/>
              </a:rPr>
              <a:t>Context Distraction</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너무 많은 과거 정보가 현재 작업 판단을 방해</a:t>
            </a:r>
          </a:p>
          <a:p>
            <a:pPr marL="228600" indent="-137160">
              <a:buChar char="•"/>
            </a:pPr>
            <a:r>
              <a:rPr lang="ko-KR" sz="1230">
                <a:solidFill>
                  <a:srgbClr val="1F2937"/>
                </a:solidFill>
                <a:latin typeface="Aptos"/>
                <a:ea typeface="Malgun Gothic"/>
              </a:rPr>
              <a:t>Context Confusion</a:t>
            </a:r>
          </a:p>
          <a:p>
            <a:pPr marL="0" indent="0">
              <a:buNone/>
            </a:pPr>
            <a:r>
              <a:rPr lang="ko-KR" sz="1240">
                <a:solidFill>
                  <a:srgbClr val="334155"/>
                </a:solidFill>
                <a:latin typeface="Aptos"/>
                <a:ea typeface="Malgun Gothic"/>
              </a:rPr>
              <a:t>불필요한 문서·도구·지시가 모델을 혼란스럽게 함</a:t>
            </a:r>
          </a:p>
          <a:p>
            <a:pPr marL="228600" indent="-137160">
              <a:buChar char="•"/>
            </a:pPr>
            <a:r>
              <a:rPr lang="ko-KR" sz="1230">
                <a:solidFill>
                  <a:srgbClr val="1F2937"/>
                </a:solidFill>
                <a:latin typeface="Aptos"/>
                <a:ea typeface="Malgun Gothic"/>
              </a:rPr>
              <a:t>Context Clash</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컨텍스트 내부 정보들이 서로 충돌</a:t>
            </a:r>
          </a:p>
          <a:p>
            <a:pPr marL="228600" indent="-137160">
              <a:buChar char="•"/>
            </a:pPr>
            <a:r>
              <a:rPr lang="ko-KR" sz="1230">
                <a:solidFill>
                  <a:srgbClr val="1F2937"/>
                </a:solidFill>
                <a:latin typeface="Aptos"/>
                <a:ea typeface="Malgun Gothic"/>
              </a:rPr>
              <a:t>Lost-in-the-middle</a:t>
            </a:r>
          </a:p>
          <a:p>
            <a:pPr marL="0" indent="0">
              <a:buNone/>
            </a:pPr>
            <a:r>
              <a:rPr lang="ko-KR" sz="1240">
                <a:solidFill>
                  <a:srgbClr val="334155"/>
                </a:solidFill>
                <a:latin typeface="Aptos"/>
                <a:ea typeface="Malgun Gothic"/>
              </a:rPr>
              <a:t>긴 컨텍스트 중간의 핵심 정보를 놓침</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컨텍스트 창이 커졌다고 해서 모든 문서, 모든 로그, 모든 도구를 넣어도 된다는 뜻은 아니다. 운영 에이전트의 핵심은 “많이 넣기”가 아니라 “필요한 것을 정확히 넣기”다.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Write / Select / Compress / Isolate</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10 / 62</a:t>
            </a:r>
          </a:p>
        </p:txBody>
      </p:sp>
      <p:sp>
        <p:nvSpPr>
          <p:cNvPr id="8" name="content card 0"/>
          <p:cNvSpPr/>
          <p:nvPr/>
        </p:nvSpPr>
        <p:spPr>
          <a:xfrm>
            <a:off x="650000" y="1040000"/>
            <a:ext cx="5360000"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5220000" cy="458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전략 | 의미 | 실무 예시</a:t>
            </a:r>
          </a:p>
          <a:p>
            <a:pPr marL="0" indent="0">
              <a:buNone/>
            </a:pPr>
            <a:r>
              <a:rPr lang="ko-KR" sz="1120">
                <a:solidFill>
                  <a:srgbClr val="1F2937"/>
                </a:solidFill>
                <a:latin typeface="Aptos"/>
                <a:ea typeface="Malgun Gothic"/>
              </a:rPr>
              <a:t>Write | 컨텍스트를 외부에 기록 | scratchpad, memory, checkpoint, artifact</a:t>
            </a:r>
          </a:p>
          <a:p>
            <a:pPr marL="0" indent="0">
              <a:buNone/>
            </a:pPr>
            <a:r>
              <a:rPr lang="ko-KR" sz="1120">
                <a:solidFill>
                  <a:srgbClr val="1F2937"/>
                </a:solidFill>
                <a:latin typeface="Aptos"/>
                <a:ea typeface="Malgun Gothic"/>
              </a:rPr>
              <a:t>Select | 필요한 컨텍스트만 선택 | RAG, memory retrieval, tool selection</a:t>
            </a:r>
          </a:p>
        </p:txBody>
      </p:sp>
      <p:sp>
        <p:nvSpPr>
          <p:cNvPr id="10" name="content card 1"/>
          <p:cNvSpPr/>
          <p:nvPr/>
        </p:nvSpPr>
        <p:spPr>
          <a:xfrm>
            <a:off x="6190000" y="1040000"/>
            <a:ext cx="5360000" cy="4720000"/>
          </a:xfrm>
          <a:prstGeom prst="roundRect"/>
          <a:solidFill>
            <a:srgbClr val="FFFFFF"/>
          </a:solidFill>
          <a:ln w="7620">
            <a:solidFill>
              <a:srgbClr val="E5E7EB"/>
            </a:solidFill>
          </a:ln>
        </p:spPr>
        <p:txBody>
          <a:bodyPr/>
          <a:lstStyle/>
          <a:p/>
        </p:txBody>
      </p:sp>
      <p:sp>
        <p:nvSpPr>
          <p:cNvPr id="11" name="content text 1"/>
          <p:cNvSpPr txBox="1"/>
          <p:nvPr/>
        </p:nvSpPr>
        <p:spPr>
          <a:xfrm>
            <a:off x="6260000" y="1110000"/>
            <a:ext cx="5220000" cy="458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Compress | 핵심만 남기고 압축 | summary, error compaction, tool output summary</a:t>
            </a:r>
          </a:p>
          <a:p>
            <a:pPr marL="0" indent="0">
              <a:buNone/>
            </a:pPr>
            <a:r>
              <a:rPr lang="ko-KR" sz="1120">
                <a:solidFill>
                  <a:srgbClr val="1F2937"/>
                </a:solidFill>
                <a:latin typeface="Aptos"/>
                <a:ea typeface="Malgun Gothic"/>
              </a:rPr>
              <a:t>Isolate | 컨텍스트를 역할/작업별 격리 | subgraph, subagent, tool permission scope</a:t>
            </a:r>
          </a:p>
        </p:txBody>
      </p:sp>
      <p:sp>
        <p:nvSpPr>
          <p:cNvPr id="12"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3"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LangChain이 제시한 Write/Select/Compress/Isolate는 실제 LangGraph 설계와 매우 잘 맞는다. LangGraph의 state는 Write, node별 projection은 Select, observation summary는 Compress, subgraph와 tool scope는 Isolate다.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컨텍스트는 하나가 아니다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11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Instruction Context</a:t>
            </a:r>
          </a:p>
          <a:p>
            <a:pPr marL="0" indent="0">
              <a:buNone/>
            </a:pPr>
            <a:r>
              <a:rPr lang="ko-KR" sz="1240">
                <a:solidFill>
                  <a:srgbClr val="334155"/>
                </a:solidFill>
                <a:latin typeface="Aptos"/>
                <a:ea typeface="Malgun Gothic"/>
              </a:rPr>
              <a:t>역할, 정책, 금지사항, 출력 형식</a:t>
            </a:r>
          </a:p>
          <a:p>
            <a:pPr marL="228600" indent="-137160">
              <a:buChar char="•"/>
            </a:pPr>
            <a:r>
              <a:rPr lang="ko-KR" sz="1230">
                <a:solidFill>
                  <a:srgbClr val="1F2937"/>
                </a:solidFill>
                <a:latin typeface="Aptos"/>
                <a:ea typeface="Malgun Gothic"/>
              </a:rPr>
              <a:t>User / Task Context</a:t>
            </a:r>
          </a:p>
          <a:p>
            <a:pPr marL="0" indent="0">
              <a:buNone/>
            </a:pPr>
            <a:r>
              <a:rPr lang="ko-KR" sz="1240">
                <a:solidFill>
                  <a:srgbClr val="334155"/>
                </a:solidFill>
                <a:latin typeface="Aptos"/>
                <a:ea typeface="Malgun Gothic"/>
              </a:rPr>
              <a:t>현재 요청, 목표, 제약, 성공 기준</a:t>
            </a:r>
          </a:p>
          <a:p>
            <a:pPr marL="228600" indent="-137160">
              <a:buChar char="•"/>
            </a:pPr>
            <a:r>
              <a:rPr lang="ko-KR" sz="1230">
                <a:solidFill>
                  <a:srgbClr val="1F2937"/>
                </a:solidFill>
                <a:latin typeface="Aptos"/>
                <a:ea typeface="Malgun Gothic"/>
              </a:rPr>
              <a:t>Knowledge Context</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문서, DB, 웹 검색, 코드베이스</a:t>
            </a:r>
          </a:p>
          <a:p>
            <a:pPr marL="228600" indent="-137160">
              <a:buChar char="•"/>
            </a:pPr>
            <a:r>
              <a:rPr lang="ko-KR" sz="1230">
                <a:solidFill>
                  <a:srgbClr val="1F2937"/>
                </a:solidFill>
                <a:latin typeface="Aptos"/>
                <a:ea typeface="Malgun Gothic"/>
              </a:rPr>
              <a:t>Memory Context</a:t>
            </a:r>
          </a:p>
          <a:p>
            <a:pPr marL="0" indent="0">
              <a:buNone/>
            </a:pPr>
            <a:r>
              <a:rPr lang="ko-KR" sz="1240">
                <a:solidFill>
                  <a:srgbClr val="334155"/>
                </a:solidFill>
                <a:latin typeface="Aptos"/>
                <a:ea typeface="Malgun Gothic"/>
              </a:rPr>
              <a:t>사용자 선호, 과거 결정, 절차</a:t>
            </a:r>
          </a:p>
          <a:p>
            <a:pPr marL="228600" indent="-137160">
              <a:buChar char="•"/>
            </a:pPr>
            <a:r>
              <a:rPr lang="ko-KR" sz="1230">
                <a:solidFill>
                  <a:srgbClr val="1F2937"/>
                </a:solidFill>
                <a:latin typeface="Aptos"/>
                <a:ea typeface="Malgun Gothic"/>
              </a:rPr>
              <a:t>Tool Context</a:t>
            </a:r>
          </a:p>
          <a:p>
            <a:pPr marL="0" indent="0">
              <a:buNone/>
            </a:pPr>
            <a:r>
              <a:rPr lang="ko-KR" sz="1240">
                <a:solidFill>
                  <a:srgbClr val="334155"/>
                </a:solidFill>
                <a:latin typeface="Aptos"/>
                <a:ea typeface="Malgun Gothic"/>
              </a:rPr>
              <a:t>도구 이름, 설명, schema, 권한</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State Context</a:t>
            </a:r>
          </a:p>
          <a:p>
            <a:pPr marL="0" indent="0">
              <a:buNone/>
            </a:pPr>
            <a:r>
              <a:rPr lang="ko-KR" sz="1240">
                <a:solidFill>
                  <a:srgbClr val="334155"/>
                </a:solidFill>
                <a:latin typeface="Aptos"/>
                <a:ea typeface="Malgun Gothic"/>
              </a:rPr>
              <a:t>workflow 단계, 중간 결과, 오류, 검증 상태</a:t>
            </a:r>
          </a:p>
          <a:p>
            <a:pPr marL="228600" indent="-137160">
              <a:buChar char="•"/>
            </a:pPr>
            <a:r>
              <a:rPr lang="ko-KR" sz="1230">
                <a:solidFill>
                  <a:srgbClr val="1F2937"/>
                </a:solidFill>
                <a:latin typeface="Aptos"/>
                <a:ea typeface="Malgun Gothic"/>
              </a:rPr>
              <a:t>Output Contract Context</a:t>
            </a:r>
          </a:p>
          <a:p>
            <a:pPr marL="0" indent="0">
              <a:buNone/>
            </a:pPr>
            <a:r>
              <a:rPr lang="ko-KR" sz="1240">
                <a:solidFill>
                  <a:srgbClr val="334155"/>
                </a:solidFill>
                <a:latin typeface="Aptos"/>
                <a:ea typeface="Malgun Gothic"/>
              </a:rPr>
              <a:t>JSON schema, markdown 구조, report format</a:t>
            </a:r>
          </a:p>
          <a:p>
            <a:pPr marL="0" indent="0">
              <a:buNone/>
            </a:pPr>
            <a:r>
              <a:rPr lang="ko-KR" sz="1240">
                <a:solidFill>
                  <a:srgbClr val="334155"/>
                </a:solidFill>
                <a:latin typeface="Aptos"/>
                <a:ea typeface="Malgun Gothic"/>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설계 순서</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12 / 62</a:t>
            </a:r>
          </a:p>
        </p:txBody>
      </p:sp>
      <p:sp>
        <p:nvSpPr>
          <p:cNvPr id="8" name="diagram card"/>
          <p:cNvSpPr/>
          <p:nvPr/>
        </p:nvSpPr>
        <p:spPr>
          <a:xfrm>
            <a:off x="650000" y="1040000"/>
            <a:ext cx="6100000" cy="472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1. 목표와 성공 기준 정의</a:t>
            </a:r>
          </a:p>
          <a:p>
            <a:pPr marL="0" indent="0">
              <a:buNone/>
            </a:pPr>
            <a:r>
              <a:rPr lang="ko-KR" sz="980">
                <a:solidFill>
                  <a:srgbClr val="374151"/>
                </a:solidFill>
                <a:latin typeface="Menlo"/>
                <a:ea typeface="Malgun Gothic"/>
              </a:rPr>
              <a:t>2. Context inventory 작성</a:t>
            </a:r>
          </a:p>
          <a:p>
            <a:pPr marL="0" indent="0">
              <a:buNone/>
            </a:pPr>
            <a:r>
              <a:rPr lang="ko-KR" sz="980">
                <a:solidFill>
                  <a:srgbClr val="374151"/>
                </a:solidFill>
                <a:latin typeface="Menlo"/>
                <a:ea typeface="Malgun Gothic"/>
              </a:rPr>
              <a:t>3. Always / Relevant / Never include 분류</a:t>
            </a:r>
          </a:p>
          <a:p>
            <a:pPr marL="0" indent="0">
              <a:buNone/>
            </a:pPr>
            <a:r>
              <a:rPr lang="ko-KR" sz="980">
                <a:solidFill>
                  <a:srgbClr val="374151"/>
                </a:solidFill>
                <a:latin typeface="Menlo"/>
                <a:ea typeface="Malgun Gothic"/>
              </a:rPr>
              <a:t>4. Query understanding / augmentation 설계</a:t>
            </a:r>
          </a:p>
          <a:p>
            <a:pPr marL="0" indent="0">
              <a:buNone/>
            </a:pPr>
            <a:r>
              <a:rPr lang="ko-KR" sz="980">
                <a:solidFill>
                  <a:srgbClr val="374151"/>
                </a:solidFill>
                <a:latin typeface="Menlo"/>
                <a:ea typeface="Malgun Gothic"/>
              </a:rPr>
              <a:t>5. Retrieval 설계</a:t>
            </a:r>
          </a:p>
          <a:p>
            <a:pPr marL="0" indent="0">
              <a:buNone/>
            </a:pPr>
            <a:r>
              <a:rPr lang="ko-KR" sz="980">
                <a:solidFill>
                  <a:srgbClr val="374151"/>
                </a:solidFill>
                <a:latin typeface="Menlo"/>
                <a:ea typeface="Malgun Gothic"/>
              </a:rPr>
              <a:t>6. Context packing 설계</a:t>
            </a:r>
          </a:p>
          <a:p>
            <a:pPr marL="0" indent="0">
              <a:buNone/>
            </a:pPr>
            <a:r>
              <a:rPr lang="ko-KR" sz="980">
                <a:solidFill>
                  <a:srgbClr val="374151"/>
                </a:solidFill>
                <a:latin typeface="Menlo"/>
                <a:ea typeface="Malgun Gothic"/>
              </a:rPr>
              <a:t>7. Tool use 정책 설계</a:t>
            </a:r>
          </a:p>
          <a:p>
            <a:pPr marL="0" indent="0">
              <a:buNone/>
            </a:pPr>
            <a:r>
              <a:rPr lang="ko-KR" sz="980">
                <a:solidFill>
                  <a:srgbClr val="374151"/>
                </a:solidFill>
                <a:latin typeface="Menlo"/>
                <a:ea typeface="Malgun Gothic"/>
              </a:rPr>
              <a:t>8. Memory 정책 설계</a:t>
            </a:r>
          </a:p>
          <a:p>
            <a:pPr marL="0" indent="0">
              <a:buNone/>
            </a:pPr>
            <a:r>
              <a:rPr lang="ko-KR" sz="980">
                <a:solidFill>
                  <a:srgbClr val="374151"/>
                </a:solidFill>
                <a:latin typeface="Menlo"/>
                <a:ea typeface="Malgun Gothic"/>
              </a:rPr>
              <a:t>9. Compression 정책 설계</a:t>
            </a:r>
          </a:p>
          <a:p>
            <a:pPr marL="0" indent="0">
              <a:buNone/>
            </a:pPr>
            <a:r>
              <a:rPr lang="ko-KR" sz="980">
                <a:solidFill>
                  <a:srgbClr val="374151"/>
                </a:solidFill>
                <a:latin typeface="Menlo"/>
                <a:ea typeface="Malgun Gothic"/>
              </a:rPr>
              <a:t>10. Evaluation 설계</a:t>
            </a:r>
          </a:p>
        </p:txBody>
      </p:sp>
      <p:sp>
        <p:nvSpPr>
          <p:cNvPr id="10" name="right card 0"/>
          <p:cNvSpPr/>
          <p:nvPr/>
        </p:nvSpPr>
        <p:spPr>
          <a:xfrm>
            <a:off x="6930000" y="1040000"/>
            <a:ext cx="4620000" cy="227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15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
        <p:nvSpPr>
          <p:cNvPr id="12" name="right card 1"/>
          <p:cNvSpPr/>
          <p:nvPr/>
        </p:nvSpPr>
        <p:spPr>
          <a:xfrm>
            <a:off x="6930000" y="3490000"/>
            <a:ext cx="4620000" cy="2270000"/>
          </a:xfrm>
          <a:prstGeom prst="roundRect"/>
          <a:solidFill>
            <a:srgbClr val="FFFFFF"/>
          </a:solidFill>
          <a:ln w="7620">
            <a:solidFill>
              <a:srgbClr val="E5E7EB"/>
            </a:solidFill>
          </a:ln>
        </p:spPr>
        <p:txBody>
          <a:bodyPr/>
          <a:lstStyle/>
          <a:p/>
        </p:txBody>
      </p:sp>
      <p:sp>
        <p:nvSpPr>
          <p:cNvPr id="13" name="right text 1"/>
          <p:cNvSpPr txBox="1"/>
          <p:nvPr/>
        </p:nvSpPr>
        <p:spPr>
          <a:xfrm>
            <a:off x="6990000" y="3550000"/>
            <a:ext cx="4500000" cy="215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Context Engineering은 prompt 작성 단계에서 시작하는 것이 아니라, 정보 자산 목록화와 권한/선택/압축 정책 정의에서 시작한다. 마지막에는 반드시 evaluation과 observability가 붙어야 한다.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어떤 정보를 모델에게 줄 수 있는가</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13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컨텍스트 | 저장 위치 | 주입 방식 | 위험</a:t>
            </a:r>
          </a:p>
          <a:p>
            <a:pPr marL="0" indent="0">
              <a:buNone/>
            </a:pPr>
            <a:r>
              <a:rPr lang="ko-KR" sz="1120">
                <a:solidFill>
                  <a:srgbClr val="1F2937"/>
                </a:solidFill>
                <a:latin typeface="Aptos"/>
                <a:ea typeface="Malgun Gothic"/>
              </a:rPr>
              <a:t>정책 문서 | docs / DB | RAG | 오래된 버전 사용</a:t>
            </a:r>
          </a:p>
          <a:p>
            <a:pPr marL="0" indent="0">
              <a:buNone/>
            </a:pPr>
            <a:r>
              <a:rPr lang="ko-KR" sz="1120">
                <a:solidFill>
                  <a:srgbClr val="1F2937"/>
                </a:solidFill>
                <a:latin typeface="Aptos"/>
                <a:ea typeface="Malgun Gothic"/>
              </a:rPr>
              <a:t>사용자 요청 | input | direct | 모호한 의도</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로그 파일 | file / object store | tool summary | raw log 과다 주입</a:t>
            </a:r>
          </a:p>
          <a:p>
            <a:pPr marL="0" indent="0">
              <a:buNone/>
            </a:pPr>
            <a:r>
              <a:rPr lang="ko-KR" sz="1120">
                <a:solidFill>
                  <a:srgbClr val="1F2937"/>
                </a:solidFill>
                <a:latin typeface="Aptos"/>
                <a:ea typeface="Malgun Gothic"/>
              </a:rPr>
              <a:t>실행 상태 | graph state | projection | 전체 state 노출</a:t>
            </a:r>
          </a:p>
          <a:p>
            <a:pPr marL="0" indent="0">
              <a:buNone/>
            </a:pPr>
            <a:r>
              <a:rPr lang="ko-KR" sz="1120">
                <a:solidFill>
                  <a:srgbClr val="1F2937"/>
                </a:solidFill>
                <a:latin typeface="Aptos"/>
                <a:ea typeface="Malgun Gothic"/>
              </a:rPr>
              <a:t>도구 목록 | tool registry | dynamic select | tool confusion</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메모리 | store | relevance retrieval | memory overreach</a:t>
            </a:r>
          </a:p>
          <a:p>
            <a:pPr marL="0" indent="0">
              <a:buNone/>
            </a:pPr>
            <a:r>
              <a:rPr lang="ko-KR" sz="1120">
                <a:solidFill>
                  <a:srgbClr val="1F2937"/>
                </a:solidFill>
                <a:latin typeface="Aptos"/>
                <a:ea typeface="Malgun Gothic"/>
              </a:rPr>
              <a:t>검증 결과 | validator | final gate | 누락 시 hallucination</a:t>
            </a:r>
          </a:p>
          <a:p>
            <a:pPr marL="0" indent="0">
              <a:buNone/>
            </a:pPr>
            <a:r>
              <a:rPr lang="ko-KR" sz="1240">
                <a:solidFill>
                  <a:srgbClr val="334155"/>
                </a:solidFill>
                <a:latin typeface="Aptos"/>
                <a:ea typeface="Malgun Gothic"/>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모델에게 전달하는 순서도 설계 대상이다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14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권장 순서:</a:t>
            </a:r>
          </a:p>
          <a:p>
            <a:pPr marL="0" indent="0">
              <a:buNone/>
            </a:pPr>
            <a:r>
              <a:rPr lang="ko-KR" sz="980">
                <a:solidFill>
                  <a:srgbClr val="374151"/>
                </a:solidFill>
                <a:latin typeface="Menlo"/>
                <a:ea typeface="Malgun Gothic"/>
              </a:rPr>
              <a:t>1. Core instruction / role</a:t>
            </a:r>
          </a:p>
          <a:p>
            <a:pPr marL="0" indent="0">
              <a:buNone/>
            </a:pPr>
            <a:r>
              <a:rPr lang="ko-KR" sz="980">
                <a:solidFill>
                  <a:srgbClr val="374151"/>
                </a:solidFill>
                <a:latin typeface="Menlo"/>
                <a:ea typeface="Malgun Gothic"/>
              </a:rPr>
              <a:t>2. Safety and priority rules</a:t>
            </a:r>
          </a:p>
          <a:p>
            <a:pPr marL="0" indent="0">
              <a:buNone/>
            </a:pPr>
            <a:r>
              <a:rPr lang="ko-KR" sz="980">
                <a:solidFill>
                  <a:srgbClr val="374151"/>
                </a:solidFill>
                <a:latin typeface="Menlo"/>
                <a:ea typeface="Malgun Gothic"/>
              </a:rPr>
              <a:t>3. Task objective and success criteria</a:t>
            </a:r>
          </a:p>
          <a:p>
            <a:pPr marL="0" indent="0">
              <a:buNone/>
            </a:pPr>
            <a:r>
              <a:rPr lang="ko-KR" sz="980">
                <a:solidFill>
                  <a:srgbClr val="374151"/>
                </a:solidFill>
                <a:latin typeface="Menlo"/>
                <a:ea typeface="Malgun Gothic"/>
              </a:rPr>
              <a:t>4. Output schema</a:t>
            </a:r>
          </a:p>
          <a:p>
            <a:pPr marL="0" indent="0">
              <a:buNone/>
            </a:pPr>
            <a:r>
              <a:rPr lang="ko-KR" sz="980">
                <a:solidFill>
                  <a:srgbClr val="374151"/>
                </a:solidFill>
                <a:latin typeface="Menlo"/>
                <a:ea typeface="Malgun Gothic"/>
              </a:rPr>
              <a:t>5. Relevant state</a:t>
            </a:r>
          </a:p>
          <a:p>
            <a:pPr marL="0" indent="0">
              <a:buNone/>
            </a:pPr>
            <a:r>
              <a:rPr lang="ko-KR" sz="980">
                <a:solidFill>
                  <a:srgbClr val="374151"/>
                </a:solidFill>
                <a:latin typeface="Menlo"/>
                <a:ea typeface="Malgun Gothic"/>
              </a:rPr>
              <a:t>6. Selected memories</a:t>
            </a:r>
          </a:p>
          <a:p>
            <a:pPr marL="0" indent="0">
              <a:buNone/>
            </a:pPr>
            <a:r>
              <a:rPr lang="ko-KR" sz="980">
                <a:solidFill>
                  <a:srgbClr val="374151"/>
                </a:solidFill>
                <a:latin typeface="Menlo"/>
                <a:ea typeface="Malgun Gothic"/>
              </a:rPr>
              <a:t>7. Retrieved knowledge with citations</a:t>
            </a:r>
          </a:p>
          <a:p>
            <a:pPr marL="0" indent="0">
              <a:buNone/>
            </a:pPr>
            <a:r>
              <a:rPr lang="ko-KR" sz="980">
                <a:solidFill>
                  <a:srgbClr val="374151"/>
                </a:solidFill>
                <a:latin typeface="Menlo"/>
                <a:ea typeface="Malgun Gothic"/>
              </a:rPr>
              <a:t>8. Available tools</a:t>
            </a:r>
          </a:p>
          <a:p>
            <a:pPr marL="0" indent="0">
              <a:buNone/>
            </a:pPr>
            <a:r>
              <a:rPr lang="ko-KR" sz="980">
                <a:solidFill>
                  <a:srgbClr val="374151"/>
                </a:solidFill>
                <a:latin typeface="Menlo"/>
                <a:ea typeface="Malgun Gothic"/>
              </a:rPr>
              <a:t>9. User request</a:t>
            </a:r>
          </a:p>
          <a:p>
            <a:pPr marL="0" indent="0">
              <a:buNone/>
            </a:pPr>
            <a:r>
              <a:rPr lang="ko-KR" sz="1240">
                <a:solidFill>
                  <a:srgbClr val="334155"/>
                </a:solidFill>
                <a:latin typeface="Aptos"/>
                <a:ea typeface="Malgun Gothic"/>
              </a:rPr>
              <a:t>중요 원칙:</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출처별 구분자를 명확히 한다.</a:t>
            </a:r>
          </a:p>
          <a:p>
            <a:pPr marL="228600" indent="-137160">
              <a:buChar char="•"/>
            </a:pPr>
            <a:r>
              <a:rPr lang="ko-KR" sz="1230">
                <a:solidFill>
                  <a:srgbClr val="1F2937"/>
                </a:solidFill>
                <a:latin typeface="Aptos"/>
                <a:ea typeface="Malgun Gothic"/>
              </a:rPr>
              <a:t>오래된 정보와 최신 정보를 구분한다.</a:t>
            </a:r>
          </a:p>
          <a:p>
            <a:pPr marL="228600" indent="-137160">
              <a:buChar char="•"/>
            </a:pPr>
            <a:r>
              <a:rPr lang="ko-KR" sz="1230">
                <a:solidFill>
                  <a:srgbClr val="1F2937"/>
                </a:solidFill>
                <a:latin typeface="Aptos"/>
                <a:ea typeface="Malgun Gothic"/>
              </a:rPr>
              <a:t>충돌 정보는 숨기지 않고 명시한다.</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모델이 필요 없는 raw data는 넣지 않는다.</a:t>
            </a:r>
          </a:p>
          <a:p>
            <a:pPr marL="0" indent="0">
              <a:buNone/>
            </a:pPr>
            <a:r>
              <a:rPr lang="ko-KR" sz="1240">
                <a:solidFill>
                  <a:srgbClr val="334155"/>
                </a:solidFill>
                <a:latin typeface="Aptos"/>
                <a:ea typeface="Malgun Gothic"/>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Context Engineering 관점의 AI Agent 구조</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15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Simple Augmented LLM</a:t>
            </a:r>
          </a:p>
          <a:p>
            <a:pPr marL="0" indent="0">
              <a:buNone/>
            </a:pPr>
            <a:r>
              <a:rPr lang="ko-KR" sz="1240">
                <a:solidFill>
                  <a:srgbClr val="334155"/>
                </a:solidFill>
                <a:latin typeface="Aptos"/>
                <a:ea typeface="Malgun Gothic"/>
              </a:rPr>
              <a:t>prompt + examples + single LLM call</a:t>
            </a:r>
          </a:p>
          <a:p>
            <a:pPr marL="228600" indent="-137160">
              <a:buChar char="•"/>
            </a:pPr>
            <a:r>
              <a:rPr lang="ko-KR" sz="1230">
                <a:solidFill>
                  <a:srgbClr val="1F2937"/>
                </a:solidFill>
                <a:latin typeface="Aptos"/>
                <a:ea typeface="Malgun Gothic"/>
              </a:rPr>
              <a:t>RAG Pipeline</a:t>
            </a:r>
          </a:p>
          <a:p>
            <a:pPr marL="0" indent="0">
              <a:buNone/>
            </a:pPr>
            <a:r>
              <a:rPr lang="ko-KR" sz="1240">
                <a:solidFill>
                  <a:srgbClr val="334155"/>
                </a:solidFill>
                <a:latin typeface="Aptos"/>
                <a:ea typeface="Malgun Gothic"/>
              </a:rPr>
              <a:t>query rewrite → retrieval → rerank → context pack → answer</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Agent with Tools</a:t>
            </a:r>
          </a:p>
          <a:p>
            <a:pPr marL="0" indent="0">
              <a:buNone/>
            </a:pPr>
            <a:r>
              <a:rPr lang="ko-KR" sz="1240">
                <a:solidFill>
                  <a:srgbClr val="334155"/>
                </a:solidFill>
                <a:latin typeface="Aptos"/>
                <a:ea typeface="Malgun Gothic"/>
              </a:rPr>
              <a:t>LLM decision loop + tool call + observation</a:t>
            </a:r>
          </a:p>
          <a:p>
            <a:pPr marL="228600" indent="-137160">
              <a:buChar char="•"/>
            </a:pPr>
            <a:r>
              <a:rPr lang="ko-KR" sz="1230">
                <a:solidFill>
                  <a:srgbClr val="1F2937"/>
                </a:solidFill>
                <a:latin typeface="Aptos"/>
                <a:ea typeface="Malgun Gothic"/>
              </a:rPr>
              <a:t>Workflow + LLM Steps</a:t>
            </a:r>
          </a:p>
          <a:p>
            <a:pPr marL="0" indent="0">
              <a:buNone/>
            </a:pPr>
            <a:r>
              <a:rPr lang="ko-KR" sz="1240">
                <a:solidFill>
                  <a:srgbClr val="334155"/>
                </a:solidFill>
                <a:latin typeface="Aptos"/>
                <a:ea typeface="Malgun Gothic"/>
              </a:rPr>
              <a:t>deterministic flow 안에 LLM step 배치</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Multi-Agent / Subgraph Isolation</a:t>
            </a:r>
          </a:p>
          <a:p>
            <a:pPr marL="0" indent="0">
              <a:buNone/>
            </a:pPr>
            <a:r>
              <a:rPr lang="ko-KR" sz="1240">
                <a:solidFill>
                  <a:srgbClr val="334155"/>
                </a:solidFill>
                <a:latin typeface="Aptos"/>
                <a:ea typeface="Malgun Gothic"/>
              </a:rPr>
              <a:t>역할별 context window 분리</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운영 환경에서는 무조건 agent loop를 만드는 것보다, 예측 가능한 절차는 workflow로 고정하고 동적 판단이 필요한 곳만 LLM에게 맡기는 구조가 안정적이다.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왜 LangGraph인가</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16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LangGraph는 agent workflow를 graph로 모델링한다.</a:t>
            </a:r>
          </a:p>
          <a:p>
            <a:pPr marL="0" indent="0">
              <a:buNone/>
            </a:pPr>
            <a:r>
              <a:rPr lang="ko-KR" sz="1240">
                <a:solidFill>
                  <a:srgbClr val="334155"/>
                </a:solidFill>
                <a:latin typeface="Aptos"/>
                <a:ea typeface="Malgun Gothic"/>
              </a:rPr>
              <a:t>핵심 구성:</a:t>
            </a:r>
          </a:p>
          <a:p>
            <a:pPr marL="228600" indent="-137160">
              <a:buChar char="•"/>
            </a:pPr>
            <a:r>
              <a:rPr lang="ko-KR" sz="1230">
                <a:solidFill>
                  <a:srgbClr val="1F2937"/>
                </a:solidFill>
                <a:latin typeface="Aptos"/>
                <a:ea typeface="Malgun Gothic"/>
              </a:rPr>
              <a:t>State: 현재 애플리케이션 snapshot</a:t>
            </a:r>
          </a:p>
          <a:p>
            <a:pPr marL="228600" indent="-137160">
              <a:buChar char="•"/>
            </a:pPr>
            <a:r>
              <a:rPr lang="ko-KR" sz="1230">
                <a:solidFill>
                  <a:srgbClr val="1F2937"/>
                </a:solidFill>
                <a:latin typeface="Aptos"/>
                <a:ea typeface="Malgun Gothic"/>
              </a:rPr>
              <a:t>Node: state를 읽고 작업을 수행한 뒤 update 반환</a:t>
            </a:r>
          </a:p>
          <a:p>
            <a:pPr marL="228600" indent="-137160">
              <a:buChar char="•"/>
            </a:pPr>
            <a:r>
              <a:rPr lang="ko-KR" sz="1230">
                <a:solidFill>
                  <a:srgbClr val="1F2937"/>
                </a:solidFill>
                <a:latin typeface="Aptos"/>
                <a:ea typeface="Malgun Gothic"/>
              </a:rPr>
              <a:t>Edge: 다음 node를 결정</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Checkpointer: state snapshot 저장</a:t>
            </a:r>
          </a:p>
          <a:p>
            <a:pPr marL="228600" indent="-137160">
              <a:buChar char="•"/>
            </a:pPr>
            <a:r>
              <a:rPr lang="ko-KR" sz="1230">
                <a:solidFill>
                  <a:srgbClr val="1F2937"/>
                </a:solidFill>
                <a:latin typeface="Aptos"/>
                <a:ea typeface="Malgun Gothic"/>
              </a:rPr>
              <a:t>Store: long-term memory 저장</a:t>
            </a:r>
          </a:p>
          <a:p>
            <a:pPr marL="0" indent="0">
              <a:buNone/>
            </a:pPr>
            <a:r>
              <a:rPr lang="ko-KR" sz="1240">
                <a:solidFill>
                  <a:srgbClr val="334155"/>
                </a:solidFill>
                <a:latin typeface="Aptos"/>
                <a:ea typeface="Malgun Gothic"/>
              </a:rPr>
              <a:t>Context Engineering 관점에서 LangGraph의 장점:</a:t>
            </a:r>
          </a:p>
          <a:p>
            <a:pPr marL="228600" indent="-137160">
              <a:buChar char="•"/>
            </a:pPr>
            <a:r>
              <a:rPr lang="ko-KR" sz="1230">
                <a:solidFill>
                  <a:srgbClr val="1F2937"/>
                </a:solidFill>
                <a:latin typeface="Aptos"/>
                <a:ea typeface="Malgun Gothic"/>
              </a:rPr>
              <a:t>컨텍스트를 state channel로 분리 가능</a:t>
            </a:r>
          </a:p>
          <a:p>
            <a:pPr marL="228600" indent="-137160">
              <a:buChar char="•"/>
            </a:pPr>
            <a:r>
              <a:rPr lang="ko-KR" sz="1230">
                <a:solidFill>
                  <a:srgbClr val="1F2937"/>
                </a:solidFill>
                <a:latin typeface="Aptos"/>
                <a:ea typeface="Malgun Gothic"/>
              </a:rPr>
              <a:t>node별로 필요한 컨텍스트만 전달 가능</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checkpoint로 오염 지점 추적 가능</a:t>
            </a:r>
          </a:p>
          <a:p>
            <a:pPr marL="228600" indent="-137160">
              <a:buChar char="•"/>
            </a:pPr>
            <a:r>
              <a:rPr lang="ko-KR" sz="1230">
                <a:solidFill>
                  <a:srgbClr val="1F2937"/>
                </a:solidFill>
                <a:latin typeface="Aptos"/>
                <a:ea typeface="Malgun Gothic"/>
              </a:rPr>
              <a:t>subgraph로 context isolation 가능</a:t>
            </a:r>
          </a:p>
          <a:p>
            <a:pPr marL="228600" indent="-137160">
              <a:buChar char="•"/>
            </a:pPr>
            <a:r>
              <a:rPr lang="ko-KR" sz="1230">
                <a:solidFill>
                  <a:srgbClr val="1F2937"/>
                </a:solidFill>
                <a:latin typeface="Aptos"/>
                <a:ea typeface="Malgun Gothic"/>
              </a:rPr>
              <a:t>validation node로 final gate 구성 가능</a:t>
            </a:r>
          </a:p>
          <a:p>
            <a:pPr marL="0" indent="0">
              <a:buNone/>
            </a:pPr>
            <a:r>
              <a:rPr lang="ko-KR" sz="1240">
                <a:solidFill>
                  <a:srgbClr val="334155"/>
                </a:solidFill>
                <a:latin typeface="Aptos"/>
                <a:ea typeface="Malgun Gothic"/>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State ≠ LLM Prompt</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17 / 62</a:t>
            </a:r>
          </a:p>
        </p:txBody>
      </p:sp>
      <p:sp>
        <p:nvSpPr>
          <p:cNvPr id="8" name="diagram card"/>
          <p:cNvSpPr/>
          <p:nvPr/>
        </p:nvSpPr>
        <p:spPr>
          <a:xfrm>
            <a:off x="650000" y="1040000"/>
            <a:ext cx="6100000" cy="472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request          사용자 요청/목표</a:t>
            </a:r>
          </a:p>
          <a:p>
            <a:pPr marL="0" indent="0">
              <a:buNone/>
            </a:pPr>
            <a:r>
              <a:rPr lang="ko-KR" sz="980">
                <a:solidFill>
                  <a:srgbClr val="374151"/>
                </a:solidFill>
                <a:latin typeface="Menlo"/>
                <a:ea typeface="Malgun Gothic"/>
              </a:rPr>
              <a:t>rawLogs          원본 로그 참조</a:t>
            </a:r>
          </a:p>
          <a:p>
            <a:pPr marL="0" indent="0">
              <a:buNone/>
            </a:pPr>
            <a:r>
              <a:rPr lang="ko-KR" sz="980">
                <a:solidFill>
                  <a:srgbClr val="374151"/>
                </a:solidFill>
                <a:latin typeface="Menlo"/>
                <a:ea typeface="Malgun Gothic"/>
              </a:rPr>
              <a:t>parsedRecords    구조화된 로그</a:t>
            </a:r>
          </a:p>
          <a:p>
            <a:pPr marL="0" indent="0">
              <a:buNone/>
            </a:pPr>
            <a:r>
              <a:rPr lang="ko-KR" sz="980">
                <a:solidFill>
                  <a:srgbClr val="374151"/>
                </a:solidFill>
                <a:latin typeface="Menlo"/>
                <a:ea typeface="Malgun Gothic"/>
              </a:rPr>
              <a:t>metrics          결정적 계산 결과</a:t>
            </a:r>
          </a:p>
          <a:p>
            <a:pPr marL="0" indent="0">
              <a:buNone/>
            </a:pPr>
            <a:r>
              <a:rPr lang="ko-KR" sz="980">
                <a:solidFill>
                  <a:srgbClr val="374151"/>
                </a:solidFill>
                <a:latin typeface="Menlo"/>
                <a:ea typeface="Malgun Gothic"/>
              </a:rPr>
              <a:t>anomalies        이상 탐지 결과</a:t>
            </a:r>
          </a:p>
          <a:p>
            <a:pPr marL="0" indent="0">
              <a:buNone/>
            </a:pPr>
            <a:r>
              <a:rPr lang="ko-KR" sz="980">
                <a:solidFill>
                  <a:srgbClr val="374151"/>
                </a:solidFill>
                <a:latin typeface="Menlo"/>
                <a:ea typeface="Malgun Gothic"/>
              </a:rPr>
              <a:t>evidence         최종 주장 근거</a:t>
            </a:r>
          </a:p>
          <a:p>
            <a:pPr marL="0" indent="0">
              <a:buNone/>
            </a:pPr>
            <a:r>
              <a:rPr lang="ko-KR" sz="980">
                <a:solidFill>
                  <a:srgbClr val="374151"/>
                </a:solidFill>
                <a:latin typeface="Menlo"/>
                <a:ea typeface="Malgun Gothic"/>
              </a:rPr>
              <a:t>ragContext       검색된 runbook 문서</a:t>
            </a:r>
          </a:p>
          <a:p>
            <a:pPr marL="0" indent="0">
              <a:buNone/>
            </a:pPr>
            <a:r>
              <a:rPr lang="ko-KR" sz="980">
                <a:solidFill>
                  <a:srgbClr val="374151"/>
                </a:solidFill>
                <a:latin typeface="Menlo"/>
                <a:ea typeface="Malgun Gothic"/>
              </a:rPr>
              <a:t>mcpContext       서비스 메타데이터</a:t>
            </a:r>
          </a:p>
          <a:p>
            <a:pPr marL="0" indent="0">
              <a:buNone/>
            </a:pPr>
            <a:r>
              <a:rPr lang="ko-KR" sz="980">
                <a:solidFill>
                  <a:srgbClr val="374151"/>
                </a:solidFill>
                <a:latin typeface="Menlo"/>
                <a:ea typeface="Malgun Gothic"/>
              </a:rPr>
              <a:t>reactSteps       행동 경로 요약</a:t>
            </a:r>
          </a:p>
          <a:p>
            <a:pPr marL="0" indent="0">
              <a:buNone/>
            </a:pPr>
            <a:r>
              <a:rPr lang="ko-KR" sz="980">
                <a:solidFill>
                  <a:srgbClr val="374151"/>
                </a:solidFill>
                <a:latin typeface="Menlo"/>
                <a:ea typeface="Malgun Gothic"/>
              </a:rPr>
              <a:t>validation       검증 결과</a:t>
            </a:r>
          </a:p>
        </p:txBody>
      </p:sp>
      <p:sp>
        <p:nvSpPr>
          <p:cNvPr id="10" name="right card 0"/>
          <p:cNvSpPr/>
          <p:nvPr/>
        </p:nvSpPr>
        <p:spPr>
          <a:xfrm>
            <a:off x="6930000" y="1040000"/>
            <a:ext cx="4620000" cy="227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15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LangGraph State는 모델에게 매번 전부 보여주는 텍스트가 아니라, 컨텍스트 후보를 구조화해 보관하는 저장소다.</a:t>
            </a:r>
          </a:p>
        </p:txBody>
      </p:sp>
      <p:sp>
        <p:nvSpPr>
          <p:cNvPr id="12" name="right card 1"/>
          <p:cNvSpPr/>
          <p:nvPr/>
        </p:nvSpPr>
        <p:spPr>
          <a:xfrm>
            <a:off x="6930000" y="3490000"/>
            <a:ext cx="4620000" cy="2270000"/>
          </a:xfrm>
          <a:prstGeom prst="roundRect"/>
          <a:solidFill>
            <a:srgbClr val="FFFFFF"/>
          </a:solidFill>
          <a:ln w="7620">
            <a:solidFill>
              <a:srgbClr val="E5E7EB"/>
            </a:solidFill>
          </a:ln>
        </p:spPr>
        <p:txBody>
          <a:bodyPr/>
          <a:lstStyle/>
          <a:p/>
        </p:txBody>
      </p:sp>
      <p:sp>
        <p:nvSpPr>
          <p:cNvPr id="13" name="right text 1"/>
          <p:cNvSpPr txBox="1"/>
          <p:nvPr/>
        </p:nvSpPr>
        <p:spPr>
          <a:xfrm>
            <a:off x="6990000" y="3550000"/>
            <a:ext cx="4500000" cy="215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예시:</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좋은 state 설계는 raw data, evidence, retrieval context, metadata, validation을 분리한다. 이 분리가 되어야 Judge Agent가 어떤 근거로 어떤 판단이 나왔는지 검증할 수 있다.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나쁜 설계</a:t>
            </a:r>
          </a:p>
        </p:txBody>
      </p:sp>
      <p:sp>
        <p:nvSpPr>
          <p:cNvPr id="7" name="subtitle"/>
          <p:cNvSpPr txBox="1"/>
          <p:nvPr/>
        </p:nvSpPr>
        <p:spPr>
          <a:xfrm>
            <a:off x="650000" y="790000"/>
            <a:ext cx="9700000" cy="280000"/>
          </a:xfrm>
          <a:prstGeom prst="rect"/>
          <a:noFill/>
          <a:ln>
            <a:noFill/>
          </a:ln>
        </p:spPr>
        <p:txBody>
          <a:bodyPr wrap="square" lIns="91440" tIns="68580" rIns="91440" bIns="68580"/>
          <a:lstStyle/>
          <a:p>
            <a:pPr marL="0" indent="0">
              <a:buNone/>
            </a:pPr>
            <a:r>
              <a:rPr lang="ko-KR" sz="1050">
                <a:solidFill>
                  <a:srgbClr val="64748B"/>
                </a:solidFill>
                <a:latin typeface="Aptos"/>
                <a:ea typeface="Malgun Gothic"/>
              </a:rPr>
              <a:t>좋은 설계</a:t>
            </a:r>
          </a:p>
        </p:txBody>
      </p:sp>
      <p:sp>
        <p:nvSpPr>
          <p:cNvPr id="8"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18 / 62</a:t>
            </a:r>
          </a:p>
        </p:txBody>
      </p:sp>
      <p:sp>
        <p:nvSpPr>
          <p:cNvPr id="9" name="diagram card"/>
          <p:cNvSpPr/>
          <p:nvPr/>
        </p:nvSpPr>
        <p:spPr>
          <a:xfrm>
            <a:off x="650000" y="1160000"/>
            <a:ext cx="6100000" cy="5100000"/>
          </a:xfrm>
          <a:prstGeom prst="roundRect"/>
          <a:solidFill>
            <a:srgbClr val="F8FAFC"/>
          </a:solidFill>
          <a:ln w="7620">
            <a:solidFill>
              <a:srgbClr val="CBD5E1"/>
            </a:solidFill>
          </a:ln>
        </p:spPr>
        <p:txBody>
          <a:bodyPr/>
          <a:lstStyle/>
          <a:p/>
        </p:txBody>
      </p:sp>
      <p:sp>
        <p:nvSpPr>
          <p:cNvPr id="10" name="diagram text"/>
          <p:cNvSpPr txBox="1"/>
          <p:nvPr/>
        </p:nvSpPr>
        <p:spPr>
          <a:xfrm>
            <a:off x="720000" y="123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class State(TypedDict):</a:t>
            </a:r>
          </a:p>
          <a:p>
            <a:pPr marL="0" indent="0">
              <a:buNone/>
            </a:pPr>
            <a:r>
              <a:rPr lang="ko-KR" sz="980">
                <a:solidFill>
                  <a:srgbClr val="374151"/>
                </a:solidFill>
                <a:latin typeface="Menlo"/>
                <a:ea typeface="Malgun Gothic"/>
              </a:rPr>
              <a:t>    messages: list</a:t>
            </a:r>
          </a:p>
          <a:p>
            <a:pPr marL="0" indent="0">
              <a:buNone/>
            </a:pPr>
            <a:r>
              <a:rPr lang="ko-KR" sz="980">
                <a:solidFill>
                  <a:srgbClr val="374151"/>
                </a:solidFill>
                <a:latin typeface="Menlo"/>
                <a:ea typeface="Malgun Gothic"/>
              </a:rPr>
              <a:t>    everything: dict</a:t>
            </a:r>
          </a:p>
        </p:txBody>
      </p:sp>
      <p:sp>
        <p:nvSpPr>
          <p:cNvPr id="11" name="right card 0"/>
          <p:cNvSpPr/>
          <p:nvPr/>
        </p:nvSpPr>
        <p:spPr>
          <a:xfrm>
            <a:off x="6930000" y="1160000"/>
            <a:ext cx="4620000" cy="2460000"/>
          </a:xfrm>
          <a:prstGeom prst="roundRect"/>
          <a:solidFill>
            <a:srgbClr val="FFFFFF"/>
          </a:solidFill>
          <a:ln w="7620">
            <a:solidFill>
              <a:srgbClr val="E5E7EB"/>
            </a:solidFill>
          </a:ln>
        </p:spPr>
        <p:txBody>
          <a:bodyPr/>
          <a:lstStyle/>
          <a:p/>
        </p:txBody>
      </p:sp>
      <p:sp>
        <p:nvSpPr>
          <p:cNvPr id="12" name="right text 0"/>
          <p:cNvSpPr txBox="1"/>
          <p:nvPr/>
        </p:nvSpPr>
        <p:spPr>
          <a:xfrm>
            <a:off x="6990000" y="122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문제:</a:t>
            </a:r>
          </a:p>
          <a:p>
            <a:pPr marL="228600" indent="-137160">
              <a:buChar char="•"/>
            </a:pPr>
            <a:r>
              <a:rPr lang="ko-KR" sz="1230">
                <a:solidFill>
                  <a:srgbClr val="1F2937"/>
                </a:solidFill>
                <a:latin typeface="Aptos"/>
                <a:ea typeface="Malgun Gothic"/>
              </a:rPr>
              <a:t>어떤 node가 무엇을 읽고 쓰는지 불명확</a:t>
            </a:r>
          </a:p>
          <a:p>
            <a:pPr marL="228600" indent="-137160">
              <a:buChar char="•"/>
            </a:pPr>
            <a:r>
              <a:rPr lang="ko-KR" sz="1230">
                <a:solidFill>
                  <a:srgbClr val="1F2937"/>
                </a:solidFill>
                <a:latin typeface="Aptos"/>
                <a:ea typeface="Malgun Gothic"/>
              </a:rPr>
              <a:t>전체 state가 LLM에 주입됨</a:t>
            </a:r>
          </a:p>
        </p:txBody>
      </p:sp>
      <p:sp>
        <p:nvSpPr>
          <p:cNvPr id="13" name="right card 1"/>
          <p:cNvSpPr/>
          <p:nvPr/>
        </p:nvSpPr>
        <p:spPr>
          <a:xfrm>
            <a:off x="6930000" y="3800000"/>
            <a:ext cx="4620000" cy="2460000"/>
          </a:xfrm>
          <a:prstGeom prst="roundRect"/>
          <a:solidFill>
            <a:srgbClr val="FFFFFF"/>
          </a:solidFill>
          <a:ln w="7620">
            <a:solidFill>
              <a:srgbClr val="E5E7EB"/>
            </a:solidFill>
          </a:ln>
        </p:spPr>
        <p:txBody>
          <a:bodyPr/>
          <a:lstStyle/>
          <a:p/>
        </p:txBody>
      </p:sp>
      <p:sp>
        <p:nvSpPr>
          <p:cNvPr id="14" name="right text 1"/>
          <p:cNvSpPr txBox="1"/>
          <p:nvPr/>
        </p:nvSpPr>
        <p:spPr>
          <a:xfrm>
            <a:off x="6990000" y="3860000"/>
            <a:ext cx="4500000" cy="234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context bloat 발생</a:t>
            </a:r>
          </a:p>
          <a:p>
            <a:pPr marL="228600" indent="-137160">
              <a:buChar char="•"/>
            </a:pPr>
            <a:r>
              <a:rPr lang="ko-KR" sz="1230">
                <a:solidFill>
                  <a:srgbClr val="1F2937"/>
                </a:solidFill>
                <a:latin typeface="Aptos"/>
                <a:ea typeface="Malgun Gothic"/>
              </a:rPr>
              <a:t>검증 어려움</a:t>
            </a:r>
          </a:p>
          <a:p>
            <a:pPr marL="0" indent="0">
              <a:buNone/>
            </a:pPr>
            <a:r>
              <a:rPr lang="ko-KR" sz="1240">
                <a:solidFill>
                  <a:srgbClr val="334155"/>
                </a:solidFill>
                <a:latin typeface="Aptos"/>
                <a:ea typeface="Malgun Gothic"/>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외부 인터페이스와 내부 컨텍스트를 분리하라</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19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class InputState(TypedDict):</a:t>
            </a:r>
          </a:p>
          <a:p>
            <a:pPr marL="0" indent="0">
              <a:buNone/>
            </a:pPr>
            <a:r>
              <a:rPr lang="ko-KR" sz="980">
                <a:solidFill>
                  <a:srgbClr val="374151"/>
                </a:solidFill>
                <a:latin typeface="Menlo"/>
                <a:ea typeface="Malgun Gothic"/>
              </a:rPr>
              <a:t>    user_input: str</a:t>
            </a:r>
          </a:p>
          <a:p>
            <a:pPr marL="0" indent="0">
              <a:buNone/>
            </a:pPr>
            <a:r>
              <a:rPr lang="ko-KR" sz="980">
                <a:solidFill>
                  <a:srgbClr val="374151"/>
                </a:solidFill>
                <a:latin typeface="Menlo"/>
                <a:ea typeface="Malgun Gothic"/>
              </a:rPr>
              <a:t>    access_log_path: str</a:t>
            </a:r>
          </a:p>
          <a:p>
            <a:pPr marL="0" indent="0">
              <a:buNone/>
            </a:pPr>
            <a:r>
              <a:rPr lang="ko-KR" sz="980">
                <a:solidFill>
                  <a:srgbClr val="374151"/>
                </a:solidFill>
                <a:latin typeface="Menlo"/>
                <a:ea typeface="Malgun Gothic"/>
              </a:rPr>
              <a:t/>
            </a:r>
          </a:p>
          <a:p>
            <a:pPr marL="0" indent="0">
              <a:buNone/>
            </a:pPr>
            <a:r>
              <a:rPr lang="ko-KR" sz="980">
                <a:solidFill>
                  <a:srgbClr val="374151"/>
                </a:solidFill>
                <a:latin typeface="Menlo"/>
                <a:ea typeface="Malgun Gothic"/>
              </a:rPr>
              <a:t>class InternalState(TypedDict):</a:t>
            </a:r>
          </a:p>
          <a:p>
            <a:pPr marL="0" indent="0">
              <a:buNone/>
            </a:pPr>
            <a:r>
              <a:rPr lang="ko-KR" sz="980">
                <a:solidFill>
                  <a:srgbClr val="374151"/>
                </a:solidFill>
                <a:latin typeface="Menlo"/>
                <a:ea typeface="Malgun Gothic"/>
              </a:rPr>
              <a:t>    request: dict</a:t>
            </a:r>
          </a:p>
          <a:p>
            <a:pPr marL="0" indent="0">
              <a:buNone/>
            </a:pPr>
            <a:r>
              <a:rPr lang="ko-KR" sz="980">
                <a:solidFill>
                  <a:srgbClr val="374151"/>
                </a:solidFill>
                <a:latin typeface="Menlo"/>
                <a:ea typeface="Malgun Gothic"/>
              </a:rPr>
              <a:t>    raw_log_ref: str | None</a:t>
            </a:r>
          </a:p>
          <a:p>
            <a:pPr marL="0" indent="0">
              <a:buNone/>
            </a:pPr>
            <a:r>
              <a:rPr lang="ko-KR" sz="980">
                <a:solidFill>
                  <a:srgbClr val="374151"/>
                </a:solidFill>
                <a:latin typeface="Menlo"/>
                <a:ea typeface="Malgun Gothic"/>
              </a:rPr>
              <a:t>    metrics: dict</a:t>
            </a:r>
          </a:p>
          <a:p>
            <a:pPr marL="0" indent="0">
              <a:buNone/>
            </a:pPr>
            <a:r>
              <a:rPr lang="ko-KR" sz="980">
                <a:solidFill>
                  <a:srgbClr val="374151"/>
                </a:solidFill>
                <a:latin typeface="Menlo"/>
                <a:ea typeface="Malgun Gothic"/>
              </a:rPr>
              <a:t>    rag_context: list[dict]</a:t>
            </a:r>
          </a:p>
          <a:p>
            <a:pPr marL="0" indent="0">
              <a:buNone/>
            </a:pPr>
            <a:r>
              <a:rPr lang="ko-KR" sz="980">
                <a:solidFill>
                  <a:srgbClr val="374151"/>
                </a:solidFill>
                <a:latin typeface="Menlo"/>
                <a:ea typeface="Malgun Gothic"/>
              </a:rPr>
              <a:t>    mcp_context: dict</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장점:</a:t>
            </a:r>
          </a:p>
          <a:p>
            <a:pPr marL="228600" indent="-137160">
              <a:buChar char="•"/>
            </a:pPr>
            <a:r>
              <a:rPr lang="ko-KR" sz="1230">
                <a:solidFill>
                  <a:srgbClr val="1F2937"/>
                </a:solidFill>
                <a:latin typeface="Aptos"/>
                <a:ea typeface="Malgun Gothic"/>
              </a:rPr>
              <a:t>내부 raw context가 외부 출력으로 새지 않는다.</a:t>
            </a:r>
          </a:p>
          <a:p>
            <a:pPr marL="228600" indent="-137160">
              <a:buChar char="•"/>
            </a:pPr>
            <a:r>
              <a:rPr lang="ko-KR" sz="1230">
                <a:solidFill>
                  <a:srgbClr val="1F2937"/>
                </a:solidFill>
                <a:latin typeface="Aptos"/>
                <a:ea typeface="Malgun Gothic"/>
              </a:rPr>
              <a:t>graph 내부 state와 public contract를 분리한다.</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운영·보안·테스트가 쉬워진다.</a:t>
            </a:r>
          </a:p>
          <a:p>
            <a:pPr marL="0" indent="0">
              <a:buNone/>
            </a:pPr>
            <a:r>
              <a:rPr lang="ko-KR" sz="1240">
                <a:solidFill>
                  <a:srgbClr val="334155"/>
                </a:solidFill>
                <a:latin typeface="Aptos"/>
                <a:ea typeface="Malgun Gothic"/>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각 Node는 읽고 쓰는 컨텍스트가 명확해야 한다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20 / 62</a:t>
            </a:r>
          </a:p>
        </p:txBody>
      </p:sp>
      <p:sp>
        <p:nvSpPr>
          <p:cNvPr id="8" name="content card 0"/>
          <p:cNvSpPr/>
          <p:nvPr/>
        </p:nvSpPr>
        <p:spPr>
          <a:xfrm>
            <a:off x="650000" y="1040000"/>
            <a:ext cx="5360000"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5220000"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Node contract 예:</a:t>
            </a:r>
          </a:p>
        </p:txBody>
      </p:sp>
      <p:sp>
        <p:nvSpPr>
          <p:cNvPr id="10" name="content card 1"/>
          <p:cNvSpPr/>
          <p:nvPr/>
        </p:nvSpPr>
        <p:spPr>
          <a:xfrm>
            <a:off x="6190000" y="1040000"/>
            <a:ext cx="5360000" cy="4720000"/>
          </a:xfrm>
          <a:prstGeom prst="roundRect"/>
          <a:solidFill>
            <a:srgbClr val="FFFFFF"/>
          </a:solidFill>
          <a:ln w="7620">
            <a:solidFill>
              <a:srgbClr val="E5E7EB"/>
            </a:solidFill>
          </a:ln>
        </p:spPr>
        <p:txBody>
          <a:bodyPr/>
          <a:lstStyle/>
          <a:p/>
        </p:txBody>
      </p:sp>
      <p:sp>
        <p:nvSpPr>
          <p:cNvPr id="11" name="content text 1"/>
          <p:cNvSpPr txBox="1"/>
          <p:nvPr/>
        </p:nvSpPr>
        <p:spPr>
          <a:xfrm>
            <a:off x="6260000" y="1110000"/>
            <a:ext cx="522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node: compute_log_metrics</a:t>
            </a:r>
          </a:p>
          <a:p>
            <a:pPr marL="0" indent="0">
              <a:buNone/>
            </a:pPr>
            <a:r>
              <a:rPr lang="ko-KR" sz="980">
                <a:solidFill>
                  <a:srgbClr val="374151"/>
                </a:solidFill>
                <a:latin typeface="Menlo"/>
                <a:ea typeface="Malgun Gothic"/>
              </a:rPr>
              <a:t>reads:</a:t>
            </a:r>
          </a:p>
          <a:p>
            <a:pPr marL="0" indent="0">
              <a:buNone/>
            </a:pPr>
            <a:r>
              <a:rPr lang="ko-KR" sz="980">
                <a:solidFill>
                  <a:srgbClr val="374151"/>
                </a:solidFill>
                <a:latin typeface="Menlo"/>
                <a:ea typeface="Malgun Gothic"/>
              </a:rPr>
              <a:t>  - filteredRecords</a:t>
            </a:r>
          </a:p>
          <a:p>
            <a:pPr marL="0" indent="0">
              <a:buNone/>
            </a:pPr>
            <a:r>
              <a:rPr lang="ko-KR" sz="980">
                <a:solidFill>
                  <a:srgbClr val="374151"/>
                </a:solidFill>
                <a:latin typeface="Menlo"/>
                <a:ea typeface="Malgun Gothic"/>
              </a:rPr>
              <a:t>writes:</a:t>
            </a:r>
          </a:p>
          <a:p>
            <a:pPr marL="0" indent="0">
              <a:buNone/>
            </a:pPr>
            <a:r>
              <a:rPr lang="ko-KR" sz="980">
                <a:solidFill>
                  <a:srgbClr val="374151"/>
                </a:solidFill>
                <a:latin typeface="Menlo"/>
                <a:ea typeface="Malgun Gothic"/>
              </a:rPr>
              <a:t>  - metrics</a:t>
            </a:r>
          </a:p>
          <a:p>
            <a:pPr marL="0" indent="0">
              <a:buNone/>
            </a:pPr>
            <a:r>
              <a:rPr lang="ko-KR" sz="980">
                <a:solidFill>
                  <a:srgbClr val="374151"/>
                </a:solidFill>
                <a:latin typeface="Menlo"/>
                <a:ea typeface="Malgun Gothic"/>
              </a:rPr>
              <a:t>llm_visible_output:</a:t>
            </a:r>
          </a:p>
          <a:p>
            <a:pPr marL="0" indent="0">
              <a:buNone/>
            </a:pPr>
            <a:r>
              <a:rPr lang="ko-KR" sz="980">
                <a:solidFill>
                  <a:srgbClr val="374151"/>
                </a:solidFill>
                <a:latin typeface="Menlo"/>
                <a:ea typeface="Malgun Gothic"/>
              </a:rPr>
              <a:t>  - request_count</a:t>
            </a:r>
          </a:p>
          <a:p>
            <a:pPr marL="0" indent="0">
              <a:buNone/>
            </a:pPr>
            <a:r>
              <a:rPr lang="ko-KR" sz="980">
                <a:solidFill>
                  <a:srgbClr val="374151"/>
                </a:solidFill>
                <a:latin typeface="Menlo"/>
                <a:ea typeface="Malgun Gothic"/>
              </a:rPr>
              <a:t>  - error_rate</a:t>
            </a:r>
          </a:p>
          <a:p>
            <a:pPr marL="0" indent="0">
              <a:buNone/>
            </a:pPr>
            <a:r>
              <a:rPr lang="ko-KR" sz="980">
                <a:solidFill>
                  <a:srgbClr val="374151"/>
                </a:solidFill>
                <a:latin typeface="Menlo"/>
                <a:ea typeface="Malgun Gothic"/>
              </a:rPr>
              <a:t>  - latency_percentiles</a:t>
            </a:r>
          </a:p>
          <a:p>
            <a:pPr marL="0" indent="0">
              <a:buNone/>
            </a:pPr>
            <a:r>
              <a:rPr lang="ko-KR" sz="980">
                <a:solidFill>
                  <a:srgbClr val="374151"/>
                </a:solidFill>
                <a:latin typeface="Menlo"/>
                <a:ea typeface="Malgun Gothic"/>
              </a:rPr>
              <a:t>hidden_raw_output:</a:t>
            </a:r>
          </a:p>
        </p:txBody>
      </p:sp>
      <p:sp>
        <p:nvSpPr>
          <p:cNvPr id="12"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3"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LangGraph에서 node는 단순 함수지만, Context Engineering에서는 중요한 경계다. 이 node가 어떤 context를 읽고, 어떤 state를 갱신하며, 어떤 정보를 LLM에게 노출할지 명확해야 한다.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LLM에게 모든 것을 맡기지 않는다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21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Deterministic node:</a:t>
            </a:r>
          </a:p>
          <a:p>
            <a:pPr marL="228600" indent="-137160">
              <a:buChar char="•"/>
            </a:pPr>
            <a:r>
              <a:rPr lang="ko-KR" sz="1230">
                <a:solidFill>
                  <a:srgbClr val="1F2937"/>
                </a:solidFill>
                <a:latin typeface="Aptos"/>
                <a:ea typeface="Malgun Gothic"/>
              </a:rPr>
              <a:t>parse request</a:t>
            </a:r>
          </a:p>
          <a:p>
            <a:pPr marL="228600" indent="-137160">
              <a:buChar char="•"/>
            </a:pPr>
            <a:r>
              <a:rPr lang="ko-KR" sz="1230">
                <a:solidFill>
                  <a:srgbClr val="1F2937"/>
                </a:solidFill>
                <a:latin typeface="Aptos"/>
                <a:ea typeface="Malgun Gothic"/>
              </a:rPr>
              <a:t>read file</a:t>
            </a:r>
          </a:p>
          <a:p>
            <a:pPr marL="228600" indent="-137160">
              <a:buChar char="•"/>
            </a:pPr>
            <a:r>
              <a:rPr lang="ko-KR" sz="1230">
                <a:solidFill>
                  <a:srgbClr val="1F2937"/>
                </a:solidFill>
                <a:latin typeface="Aptos"/>
                <a:ea typeface="Malgun Gothic"/>
              </a:rPr>
              <a:t>parse access log</a:t>
            </a:r>
          </a:p>
          <a:p>
            <a:pPr marL="228600" indent="-137160">
              <a:buChar char="•"/>
            </a:pPr>
            <a:r>
              <a:rPr lang="ko-KR" sz="1230">
                <a:solidFill>
                  <a:srgbClr val="1F2937"/>
                </a:solidFill>
                <a:latin typeface="Aptos"/>
                <a:ea typeface="Malgun Gothic"/>
              </a:rPr>
              <a:t>filter records</a:t>
            </a:r>
          </a:p>
          <a:p>
            <a:pPr marL="228600" indent="-137160">
              <a:buChar char="•"/>
            </a:pPr>
            <a:r>
              <a:rPr lang="ko-KR" sz="1230">
                <a:solidFill>
                  <a:srgbClr val="1F2937"/>
                </a:solidFill>
                <a:latin typeface="Aptos"/>
                <a:ea typeface="Malgun Gothic"/>
              </a:rPr>
              <a:t>compute metrics</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detect anomalies</a:t>
            </a:r>
          </a:p>
          <a:p>
            <a:pPr marL="228600" indent="-137160">
              <a:buChar char="•"/>
            </a:pPr>
            <a:r>
              <a:rPr lang="ko-KR" sz="1230">
                <a:solidFill>
                  <a:srgbClr val="1F2937"/>
                </a:solidFill>
                <a:latin typeface="Aptos"/>
                <a:ea typeface="Malgun Gothic"/>
              </a:rPr>
              <a:t>validate schema</a:t>
            </a:r>
          </a:p>
          <a:p>
            <a:pPr marL="228600" indent="-137160">
              <a:buChar char="•"/>
            </a:pPr>
            <a:r>
              <a:rPr lang="ko-KR" sz="1230">
                <a:solidFill>
                  <a:srgbClr val="1F2937"/>
                </a:solidFill>
                <a:latin typeface="Aptos"/>
                <a:ea typeface="Malgun Gothic"/>
              </a:rPr>
              <a:t>redact PII</a:t>
            </a:r>
          </a:p>
          <a:p>
            <a:pPr marL="0" indent="0">
              <a:buNone/>
            </a:pPr>
            <a:r>
              <a:rPr lang="ko-KR" sz="1240">
                <a:solidFill>
                  <a:srgbClr val="334155"/>
                </a:solidFill>
                <a:latin typeface="Aptos"/>
                <a:ea typeface="Malgun Gothic"/>
              </a:rPr>
              <a:t>LLM node:</a:t>
            </a:r>
          </a:p>
          <a:p>
            <a:pPr marL="228600" indent="-137160">
              <a:buChar char="•"/>
            </a:pPr>
            <a:r>
              <a:rPr lang="ko-KR" sz="1230">
                <a:solidFill>
                  <a:srgbClr val="1F2937"/>
                </a:solidFill>
                <a:latin typeface="Aptos"/>
                <a:ea typeface="Malgun Gothic"/>
              </a:rPr>
              <a:t>모호한 의도 해석</a:t>
            </a:r>
          </a:p>
          <a:p>
            <a:pPr marL="228600" indent="-137160">
              <a:buChar char="•"/>
            </a:pPr>
            <a:r>
              <a:rPr lang="ko-KR" sz="1230">
                <a:solidFill>
                  <a:srgbClr val="1F2937"/>
                </a:solidFill>
                <a:latin typeface="Aptos"/>
                <a:ea typeface="Malgun Gothic"/>
              </a:rPr>
              <a:t>다음 action 선택</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hypothesis generation</a:t>
            </a:r>
          </a:p>
          <a:p>
            <a:pPr marL="228600" indent="-137160">
              <a:buChar char="•"/>
            </a:pPr>
            <a:r>
              <a:rPr lang="ko-KR" sz="1230">
                <a:solidFill>
                  <a:srgbClr val="1F2937"/>
                </a:solidFill>
                <a:latin typeface="Aptos"/>
                <a:ea typeface="Malgun Gothic"/>
              </a:rPr>
              <a:t>최종 보고서 작성</a:t>
            </a:r>
          </a:p>
          <a:p>
            <a:pPr marL="0" indent="0">
              <a:buNone/>
            </a:pPr>
            <a:r>
              <a:rPr lang="ko-KR" sz="1450" b="1">
                <a:solidFill>
                  <a:srgbClr val="0F766E"/>
                </a:solidFill>
                <a:latin typeface="Aptos"/>
                <a:ea typeface="Malgun Gothic"/>
              </a:rPr>
              <a:t>핵심 원칙</a:t>
            </a:r>
          </a:p>
          <a:p>
            <a:pPr marL="0" indent="0">
              <a:buNone/>
            </a:pPr>
            <a:r>
              <a:rPr lang="ko-KR" sz="1250">
                <a:solidFill>
                  <a:srgbClr val="475569"/>
                </a:solidFill>
                <a:latin typeface="Aptos"/>
                <a:ea typeface="Malgun Gothic"/>
              </a:rPr>
              <a:t>“숫자와 검증은 코드로, 설명과 판단은 LLM으로.”</a:t>
            </a:r>
          </a:p>
          <a:p>
            <a:pPr marL="0" indent="0">
              <a:buNone/>
            </a:pPr>
            <a:r>
              <a:rPr lang="ko-KR" sz="1240">
                <a:solidFill>
                  <a:srgbClr val="334155"/>
                </a:solidFill>
                <a:latin typeface="Aptos"/>
                <a:ea typeface="Malgun Gothic"/>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다음에 어떤 컨텍스트를 수집할지 결정</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22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Conditional edge 예:</a:t>
            </a:r>
          </a:p>
          <a:p>
            <a:pPr marL="0" indent="0">
              <a:buNone/>
            </a:pPr>
            <a:r>
              <a:rPr lang="ko-KR" sz="980">
                <a:solidFill>
                  <a:srgbClr val="374151"/>
                </a:solidFill>
                <a:latin typeface="Menlo"/>
                <a:ea typeface="Malgun Gothic"/>
              </a:rPr>
              <a:t>def route_after_metrics(state):</a:t>
            </a:r>
          </a:p>
          <a:p>
            <a:pPr marL="0" indent="0">
              <a:buNone/>
            </a:pPr>
            <a:r>
              <a:rPr lang="ko-KR" sz="980">
                <a:solidFill>
                  <a:srgbClr val="374151"/>
                </a:solidFill>
                <a:latin typeface="Menlo"/>
                <a:ea typeface="Malgun Gothic"/>
              </a:rPr>
              <a:t>    if not state["metrics"]:</a:t>
            </a:r>
          </a:p>
          <a:p>
            <a:pPr marL="0" indent="0">
              <a:buNone/>
            </a:pPr>
            <a:r>
              <a:rPr lang="ko-KR" sz="980">
                <a:solidFill>
                  <a:srgbClr val="374151"/>
                </a:solidFill>
                <a:latin typeface="Menlo"/>
                <a:ea typeface="Malgun Gothic"/>
              </a:rPr>
              <a:t>        return "compute_metrics"</a:t>
            </a:r>
          </a:p>
          <a:p>
            <a:pPr marL="0" indent="0">
              <a:buNone/>
            </a:pPr>
            <a:r>
              <a:rPr lang="ko-KR" sz="980">
                <a:solidFill>
                  <a:srgbClr val="374151"/>
                </a:solidFill>
                <a:latin typeface="Menlo"/>
                <a:ea typeface="Malgun Gothic"/>
              </a:rPr>
              <a:t>    if state["metrics"].get("error_rate", 0) &gt; 0.05:</a:t>
            </a:r>
          </a:p>
          <a:p>
            <a:pPr marL="0" indent="0">
              <a:buNone/>
            </a:pPr>
            <a:r>
              <a:rPr lang="ko-KR" sz="980">
                <a:solidFill>
                  <a:srgbClr val="374151"/>
                </a:solidFill>
                <a:latin typeface="Menlo"/>
                <a:ea typeface="Malgun Gothic"/>
              </a:rPr>
              <a:t>        return "retrieve_runbook"</a:t>
            </a:r>
          </a:p>
          <a:p>
            <a:pPr marL="0" indent="0">
              <a:buNone/>
            </a:pPr>
            <a:r>
              <a:rPr lang="ko-KR" sz="980">
                <a:solidFill>
                  <a:srgbClr val="374151"/>
                </a:solidFill>
                <a:latin typeface="Menlo"/>
                <a:ea typeface="Malgun Gothic"/>
              </a:rPr>
              <a:t>    return "finalize"</a:t>
            </a:r>
          </a:p>
          <a:p>
            <a:pPr marL="0" indent="0">
              <a:buNone/>
            </a:pPr>
            <a:r>
              <a:rPr lang="ko-KR" sz="1240">
                <a:solidFill>
                  <a:srgbClr val="334155"/>
                </a:solidFill>
                <a:latin typeface="Aptos"/>
                <a:ea typeface="Malgun Gothic"/>
              </a:rPr>
              <a:t>효과:</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불필요한 RAG 호출 감소</a:t>
            </a:r>
          </a:p>
          <a:p>
            <a:pPr marL="228600" indent="-137160">
              <a:buChar char="•"/>
            </a:pPr>
            <a:r>
              <a:rPr lang="ko-KR" sz="1230">
                <a:solidFill>
                  <a:srgbClr val="1F2937"/>
                </a:solidFill>
                <a:latin typeface="Aptos"/>
                <a:ea typeface="Malgun Gothic"/>
              </a:rPr>
              <a:t>정보 부족 상태에서 finalize 방지</a:t>
            </a:r>
          </a:p>
          <a:p>
            <a:pPr marL="228600" indent="-137160">
              <a:buChar char="•"/>
            </a:pPr>
            <a:r>
              <a:rPr lang="ko-KR" sz="1230">
                <a:solidFill>
                  <a:srgbClr val="1F2937"/>
                </a:solidFill>
                <a:latin typeface="Aptos"/>
                <a:ea typeface="Malgun Gothic"/>
              </a:rPr>
              <a:t>context flow를 코드로 통제</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LLM의 자율성을 안전하게 제한</a:t>
            </a:r>
          </a:p>
          <a:p>
            <a:pPr marL="0" indent="0">
              <a:buNone/>
            </a:pPr>
            <a:r>
              <a:rPr lang="ko-KR" sz="1240">
                <a:solidFill>
                  <a:srgbClr val="334155"/>
                </a:solidFill>
                <a:latin typeface="Aptos"/>
                <a:ea typeface="Malgun Gothic"/>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도구가 많을수록 혼란이 커진다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23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나쁜 tool description:</a:t>
            </a:r>
          </a:p>
          <a:p>
            <a:pPr marL="0" indent="0">
              <a:buNone/>
            </a:pPr>
            <a:r>
              <a:rPr lang="ko-KR" sz="980">
                <a:solidFill>
                  <a:srgbClr val="374151"/>
                </a:solidFill>
                <a:latin typeface="Menlo"/>
                <a:ea typeface="Malgun Gothic"/>
              </a:rPr>
              <a:t>analyze: analyze many things and find problems</a:t>
            </a:r>
          </a:p>
          <a:p>
            <a:pPr marL="0" indent="0">
              <a:buNone/>
            </a:pPr>
            <a:r>
              <a:rPr lang="ko-KR" sz="1240">
                <a:solidFill>
                  <a:srgbClr val="334155"/>
                </a:solidFill>
                <a:latin typeface="Aptos"/>
                <a:ea typeface="Malgun Gothic"/>
              </a:rPr>
              <a:t>좋은 tool description:</a:t>
            </a:r>
          </a:p>
          <a:p>
            <a:pPr marL="0" indent="0">
              <a:buNone/>
            </a:pPr>
            <a:r>
              <a:rPr lang="ko-KR" sz="980">
                <a:solidFill>
                  <a:srgbClr val="374151"/>
                </a:solidFill>
                <a:latin typeface="Menlo"/>
                <a:ea typeface="Malgun Gothic"/>
              </a:rPr>
              <a:t>compute_log_metrics:</a:t>
            </a:r>
          </a:p>
          <a:p>
            <a:pPr marL="0" indent="0">
              <a:buNone/>
            </a:pPr>
            <a:r>
              <a:rPr lang="ko-KR" sz="980">
                <a:solidFill>
                  <a:srgbClr val="374151"/>
                </a:solidFill>
                <a:latin typeface="Menlo"/>
                <a:ea typeface="Malgun Gothic"/>
              </a:rPr>
              <a:t>Compute request count, error count, error rate, and latency percentiles from already-fil</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Context Engineering 포인트:</a:t>
            </a:r>
          </a:p>
          <a:p>
            <a:pPr marL="228600" indent="-137160">
              <a:buChar char="•"/>
            </a:pPr>
            <a:r>
              <a:rPr lang="ko-KR" sz="1230">
                <a:solidFill>
                  <a:srgbClr val="1F2937"/>
                </a:solidFill>
                <a:latin typeface="Aptos"/>
                <a:ea typeface="Malgun Gothic"/>
              </a:rPr>
              <a:t>도구 이름은 구체적으로 작성</a:t>
            </a:r>
          </a:p>
          <a:p>
            <a:pPr marL="228600" indent="-137160">
              <a:buChar char="•"/>
            </a:pPr>
            <a:r>
              <a:rPr lang="ko-KR" sz="1230">
                <a:solidFill>
                  <a:srgbClr val="1F2937"/>
                </a:solidFill>
                <a:latin typeface="Aptos"/>
                <a:ea typeface="Malgun Gothic"/>
              </a:rPr>
              <a:t>schema는 엄격하게 정의</a:t>
            </a:r>
          </a:p>
          <a:p>
            <a:pPr marL="228600" indent="-137160">
              <a:buChar char="•"/>
            </a:pPr>
            <a:r>
              <a:rPr lang="ko-KR" sz="1230">
                <a:solidFill>
                  <a:srgbClr val="1F2937"/>
                </a:solidFill>
                <a:latin typeface="Aptos"/>
                <a:ea typeface="Malgun Gothic"/>
              </a:rPr>
              <a:t>현재 state에서 필요한 도구만 노출</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side-effect 도구는 승인 전 숨김</a:t>
            </a:r>
          </a:p>
          <a:p>
            <a:pPr marL="0" indent="0">
              <a:buNone/>
            </a:pPr>
            <a:r>
              <a:rPr lang="ko-KR" sz="1240">
                <a:solidFill>
                  <a:srgbClr val="334155"/>
                </a:solidFill>
                <a:latin typeface="Aptos"/>
                <a:ea typeface="Malgun Gothic"/>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모든 도구를 항상 보여주지 않는다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24 / 62</a:t>
            </a:r>
          </a:p>
        </p:txBody>
      </p:sp>
      <p:sp>
        <p:nvSpPr>
          <p:cNvPr id="8" name="diagram card"/>
          <p:cNvSpPr/>
          <p:nvPr/>
        </p:nvSpPr>
        <p:spPr>
          <a:xfrm>
            <a:off x="650000" y="1040000"/>
            <a:ext cx="6100000" cy="472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def select_tools(state):</a:t>
            </a:r>
          </a:p>
          <a:p>
            <a:pPr marL="0" indent="0">
              <a:buNone/>
            </a:pPr>
            <a:r>
              <a:rPr lang="ko-KR" sz="980">
                <a:solidFill>
                  <a:srgbClr val="374151"/>
                </a:solidFill>
                <a:latin typeface="Menlo"/>
                <a:ea typeface="Malgun Gothic"/>
              </a:rPr>
              <a:t>    if not state.request.get("targetPath"):</a:t>
            </a:r>
          </a:p>
          <a:p>
            <a:pPr marL="0" indent="0">
              <a:buNone/>
            </a:pPr>
            <a:r>
              <a:rPr lang="ko-KR" sz="980">
                <a:solidFill>
                  <a:srgbClr val="374151"/>
                </a:solidFill>
                <a:latin typeface="Menlo"/>
                <a:ea typeface="Malgun Gothic"/>
              </a:rPr>
              <a:t>        return ["parse_user_request"]</a:t>
            </a:r>
          </a:p>
          <a:p>
            <a:pPr marL="0" indent="0">
              <a:buNone/>
            </a:pPr>
            <a:r>
              <a:rPr lang="ko-KR" sz="980">
                <a:solidFill>
                  <a:srgbClr val="374151"/>
                </a:solidFill>
                <a:latin typeface="Menlo"/>
                <a:ea typeface="Malgun Gothic"/>
              </a:rPr>
              <a:t>    if state.rawLogs is None:</a:t>
            </a:r>
          </a:p>
          <a:p>
            <a:pPr marL="0" indent="0">
              <a:buNone/>
            </a:pPr>
            <a:r>
              <a:rPr lang="ko-KR" sz="980">
                <a:solidFill>
                  <a:srgbClr val="374151"/>
                </a:solidFill>
                <a:latin typeface="Menlo"/>
                <a:ea typeface="Malgun Gothic"/>
              </a:rPr>
              <a:t>        return ["read_log_file"]</a:t>
            </a:r>
          </a:p>
          <a:p>
            <a:pPr marL="0" indent="0">
              <a:buNone/>
            </a:pPr>
            <a:r>
              <a:rPr lang="ko-KR" sz="980">
                <a:solidFill>
                  <a:srgbClr val="374151"/>
                </a:solidFill>
                <a:latin typeface="Menlo"/>
                <a:ea typeface="Malgun Gothic"/>
              </a:rPr>
              <a:t>    if not state.parsedRecords:</a:t>
            </a:r>
          </a:p>
          <a:p>
            <a:pPr marL="0" indent="0">
              <a:buNone/>
            </a:pPr>
            <a:r>
              <a:rPr lang="ko-KR" sz="980">
                <a:solidFill>
                  <a:srgbClr val="374151"/>
                </a:solidFill>
                <a:latin typeface="Menlo"/>
                <a:ea typeface="Malgun Gothic"/>
              </a:rPr>
              <a:t>        return ["parse_access_log"]</a:t>
            </a:r>
          </a:p>
          <a:p>
            <a:pPr marL="0" indent="0">
              <a:buNone/>
            </a:pPr>
            <a:r>
              <a:rPr lang="ko-KR" sz="980">
                <a:solidFill>
                  <a:srgbClr val="374151"/>
                </a:solidFill>
                <a:latin typeface="Menlo"/>
                <a:ea typeface="Malgun Gothic"/>
              </a:rPr>
              <a:t>    if not state.filteredRecords:</a:t>
            </a:r>
          </a:p>
          <a:p>
            <a:pPr marL="0" indent="0">
              <a:buNone/>
            </a:pPr>
            <a:r>
              <a:rPr lang="ko-KR" sz="980">
                <a:solidFill>
                  <a:srgbClr val="374151"/>
                </a:solidFill>
                <a:latin typeface="Menlo"/>
                <a:ea typeface="Malgun Gothic"/>
              </a:rPr>
              <a:t>        return ["filter_log_records"]</a:t>
            </a:r>
          </a:p>
          <a:p>
            <a:pPr marL="0" indent="0">
              <a:buNone/>
            </a:pPr>
            <a:r>
              <a:rPr lang="ko-KR" sz="980">
                <a:solidFill>
                  <a:srgbClr val="374151"/>
                </a:solidFill>
                <a:latin typeface="Menlo"/>
                <a:ea typeface="Malgun Gothic"/>
              </a:rPr>
              <a:t>    if not state.metrics:</a:t>
            </a:r>
          </a:p>
        </p:txBody>
      </p:sp>
      <p:sp>
        <p:nvSpPr>
          <p:cNvPr id="10" name="right card 0"/>
          <p:cNvSpPr/>
          <p:nvPr/>
        </p:nvSpPr>
        <p:spPr>
          <a:xfrm>
            <a:off x="6930000" y="1040000"/>
            <a:ext cx="4620000" cy="227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15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
        <p:nvSpPr>
          <p:cNvPr id="12" name="right card 1"/>
          <p:cNvSpPr/>
          <p:nvPr/>
        </p:nvSpPr>
        <p:spPr>
          <a:xfrm>
            <a:off x="6930000" y="3490000"/>
            <a:ext cx="4620000" cy="2270000"/>
          </a:xfrm>
          <a:prstGeom prst="roundRect"/>
          <a:solidFill>
            <a:srgbClr val="FFFFFF"/>
          </a:solidFill>
          <a:ln w="7620">
            <a:solidFill>
              <a:srgbClr val="E5E7EB"/>
            </a:solidFill>
          </a:ln>
        </p:spPr>
        <p:txBody>
          <a:bodyPr/>
          <a:lstStyle/>
          <a:p/>
        </p:txBody>
      </p:sp>
      <p:sp>
        <p:nvSpPr>
          <p:cNvPr id="13" name="right text 1"/>
          <p:cNvSpPr txBox="1"/>
          <p:nvPr/>
        </p:nvSpPr>
        <p:spPr>
          <a:xfrm>
            <a:off x="6990000" y="3550000"/>
            <a:ext cx="4500000" cy="215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Tool drift는 tool list가 너무 넓을 때 자주 발생한다. 가장 강력한 해결책은 prompt로 “도구를 잘 골라라”라고 말하는 것이 아니라, 애초에 현재 단계에서 필요한 도구만 보여주는 것이다.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Raw output과 LLM-facing summary 분리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25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원본 tool output:</a:t>
            </a:r>
          </a:p>
          <a:p>
            <a:pPr marL="0" indent="0">
              <a:buNone/>
            </a:pPr>
            <a:r>
              <a:rPr lang="ko-KR" sz="980">
                <a:solidFill>
                  <a:srgbClr val="374151"/>
                </a:solidFill>
                <a:latin typeface="Menlo"/>
                <a:ea typeface="Malgun Gothic"/>
              </a:rPr>
              <a:t>{</a:t>
            </a:r>
          </a:p>
          <a:p>
            <a:pPr marL="0" indent="0">
              <a:buNone/>
            </a:pPr>
            <a:r>
              <a:rPr lang="ko-KR" sz="980">
                <a:solidFill>
                  <a:srgbClr val="374151"/>
                </a:solidFill>
                <a:latin typeface="Menlo"/>
                <a:ea typeface="Malgun Gothic"/>
              </a:rPr>
              <a:t>  "records": [10000개의 로그 record],</a:t>
            </a:r>
          </a:p>
          <a:p>
            <a:pPr marL="0" indent="0">
              <a:buNone/>
            </a:pPr>
            <a:r>
              <a:rPr lang="ko-KR" sz="980">
                <a:solidFill>
                  <a:srgbClr val="374151"/>
                </a:solidFill>
                <a:latin typeface="Menlo"/>
                <a:ea typeface="Malgun Gothic"/>
              </a:rPr>
              <a:t>  "parse_error_count": 2,</a:t>
            </a:r>
          </a:p>
          <a:p>
            <a:pPr marL="0" indent="0">
              <a:buNone/>
            </a:pPr>
            <a:r>
              <a:rPr lang="ko-KR" sz="980">
                <a:solidFill>
                  <a:srgbClr val="374151"/>
                </a:solidFill>
                <a:latin typeface="Menlo"/>
                <a:ea typeface="Malgun Gothic"/>
              </a:rPr>
              <a:t>  "total_lines": 10000</a:t>
            </a:r>
          </a:p>
          <a:p>
            <a:pPr marL="0" indent="0">
              <a:buNone/>
            </a:pPr>
            <a:r>
              <a:rPr lang="ko-KR" sz="980">
                <a:solidFill>
                  <a:srgbClr val="374151"/>
                </a:solidFill>
                <a:latin typeface="Menlo"/>
                <a:ea typeface="Malgun Gothic"/>
              </a:rPr>
              <a:t>}</a:t>
            </a:r>
          </a:p>
          <a:p>
            <a:pPr marL="0" indent="0">
              <a:buNone/>
            </a:pPr>
            <a:r>
              <a:rPr lang="ko-KR" sz="1240">
                <a:solidFill>
                  <a:srgbClr val="334155"/>
                </a:solidFill>
                <a:latin typeface="Aptos"/>
                <a:ea typeface="Malgun Gothic"/>
              </a:rPr>
              <a:t>LLM에 보여줄 summary:</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a:t>
            </a:r>
          </a:p>
          <a:p>
            <a:pPr marL="0" indent="0">
              <a:buNone/>
            </a:pPr>
            <a:r>
              <a:rPr lang="ko-KR" sz="980">
                <a:solidFill>
                  <a:srgbClr val="374151"/>
                </a:solidFill>
                <a:latin typeface="Menlo"/>
                <a:ea typeface="Malgun Gothic"/>
              </a:rPr>
              <a:t>  "record_count": 9998,</a:t>
            </a:r>
          </a:p>
          <a:p>
            <a:pPr marL="0" indent="0">
              <a:buNone/>
            </a:pPr>
            <a:r>
              <a:rPr lang="ko-KR" sz="980">
                <a:solidFill>
                  <a:srgbClr val="374151"/>
                </a:solidFill>
                <a:latin typeface="Menlo"/>
                <a:ea typeface="Malgun Gothic"/>
              </a:rPr>
              <a:t>  "parse_error_count": 2,</a:t>
            </a:r>
          </a:p>
          <a:p>
            <a:pPr marL="0" indent="0">
              <a:buNone/>
            </a:pPr>
            <a:r>
              <a:rPr lang="ko-KR" sz="980">
                <a:solidFill>
                  <a:srgbClr val="374151"/>
                </a:solidFill>
                <a:latin typeface="Menlo"/>
                <a:ea typeface="Malgun Gothic"/>
              </a:rPr>
              <a:t>  "parse_error_rate": 0.0002,</a:t>
            </a:r>
          </a:p>
          <a:p>
            <a:pPr marL="0" indent="0">
              <a:buNone/>
            </a:pPr>
            <a:r>
              <a:rPr lang="ko-KR" sz="980">
                <a:solidFill>
                  <a:srgbClr val="374151"/>
                </a:solidFill>
                <a:latin typeface="Menlo"/>
                <a:ea typeface="Malgun Gothic"/>
              </a:rPr>
              <a:t>  "raw_record_ref": "artifact://run-123/parsed-records"</a:t>
            </a:r>
          </a:p>
          <a:p>
            <a:pPr marL="0" indent="0">
              <a:buNone/>
            </a:pPr>
            <a:r>
              <a:rPr lang="ko-KR" sz="980">
                <a:solidFill>
                  <a:srgbClr val="374151"/>
                </a:solidFill>
                <a:latin typeface="Menlo"/>
                <a:ea typeface="Malgun Gothic"/>
              </a:rPr>
              <a:t>}</a:t>
            </a:r>
          </a:p>
          <a:p>
            <a:pPr marL="0" indent="0">
              <a:buNone/>
            </a:pPr>
            <a:r>
              <a:rPr lang="ko-KR" sz="1240">
                <a:solidFill>
                  <a:srgbClr val="334155"/>
                </a:solidFill>
                <a:latin typeface="Aptos"/>
                <a:ea typeface="Malgun Gothic"/>
              </a:rPr>
              <a:t>효과:</a:t>
            </a:r>
          </a:p>
          <a:p>
            <a:pPr marL="228600" indent="-137160">
              <a:buChar char="•"/>
            </a:pPr>
            <a:r>
              <a:rPr lang="ko-KR" sz="1230">
                <a:solidFill>
                  <a:srgbClr val="1F2937"/>
                </a:solidFill>
                <a:latin typeface="Aptos"/>
                <a:ea typeface="Malgun Gothic"/>
              </a:rPr>
              <a:t>context bloat 감소</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민감 정보 노출 감소</a:t>
            </a:r>
          </a:p>
          <a:p>
            <a:pPr marL="228600" indent="-137160">
              <a:buChar char="•"/>
            </a:pPr>
            <a:r>
              <a:rPr lang="ko-KR" sz="1230">
                <a:solidFill>
                  <a:srgbClr val="1F2937"/>
                </a:solidFill>
                <a:latin typeface="Aptos"/>
                <a:ea typeface="Malgun Gothic"/>
              </a:rPr>
              <a:t>Judge Agent가 raw reference를 따라 검증 가능</a:t>
            </a:r>
          </a:p>
          <a:p>
            <a:pPr marL="0" indent="0">
              <a:buNone/>
            </a:pPr>
            <a:r>
              <a:rPr lang="ko-KR" sz="1240">
                <a:solidFill>
                  <a:srgbClr val="334155"/>
                </a:solidFill>
                <a:latin typeface="Aptos"/>
                <a:ea typeface="Malgun Gothic"/>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LangGraph RAG 설계</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26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query_understanding</a:t>
            </a:r>
          </a:p>
          <a:p>
            <a:pPr marL="0" indent="0">
              <a:buNone/>
            </a:pPr>
            <a:r>
              <a:rPr lang="ko-KR" sz="980">
                <a:solidFill>
                  <a:srgbClr val="374151"/>
                </a:solidFill>
                <a:latin typeface="Menlo"/>
                <a:ea typeface="Malgun Gothic"/>
              </a:rPr>
              <a:t>  → retrieve_candidates</a:t>
            </a:r>
          </a:p>
          <a:p>
            <a:pPr marL="0" indent="0">
              <a:buNone/>
            </a:pPr>
            <a:r>
              <a:rPr lang="ko-KR" sz="980">
                <a:solidFill>
                  <a:srgbClr val="374151"/>
                </a:solidFill>
                <a:latin typeface="Menlo"/>
                <a:ea typeface="Malgun Gothic"/>
              </a:rPr>
              <a:t>  → rerank_context</a:t>
            </a:r>
          </a:p>
          <a:p>
            <a:pPr marL="0" indent="0">
              <a:buNone/>
            </a:pPr>
            <a:r>
              <a:rPr lang="ko-KR" sz="980">
                <a:solidFill>
                  <a:srgbClr val="374151"/>
                </a:solidFill>
                <a:latin typeface="Menlo"/>
                <a:ea typeface="Malgun Gothic"/>
              </a:rPr>
              <a:t>  → compress_context</a:t>
            </a:r>
          </a:p>
          <a:p>
            <a:pPr marL="0" indent="0">
              <a:buNone/>
            </a:pPr>
            <a:r>
              <a:rPr lang="ko-KR" sz="980">
                <a:solidFill>
                  <a:srgbClr val="374151"/>
                </a:solidFill>
                <a:latin typeface="Menlo"/>
                <a:ea typeface="Malgun Gothic"/>
              </a:rPr>
              <a:t>  → validate_context</a:t>
            </a:r>
          </a:p>
          <a:p>
            <a:pPr marL="0" indent="0">
              <a:buNone/>
            </a:pPr>
            <a:r>
              <a:rPr lang="ko-KR" sz="980">
                <a:solidFill>
                  <a:srgbClr val="374151"/>
                </a:solidFill>
                <a:latin typeface="Menlo"/>
                <a:ea typeface="Malgun Gothic"/>
              </a:rPr>
              <a:t>  → answer_or_next_tool</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RAG context 설계 원칙:</a:t>
            </a:r>
          </a:p>
          <a:p>
            <a:pPr marL="228600" indent="-137160">
              <a:buChar char="•"/>
            </a:pPr>
            <a:r>
              <a:rPr lang="ko-KR" sz="1230">
                <a:solidFill>
                  <a:srgbClr val="1F2937"/>
                </a:solidFill>
                <a:latin typeface="Aptos"/>
                <a:ea typeface="Malgun Gothic"/>
              </a:rPr>
              <a:t>doc_id, source, score, excerpt 유지</a:t>
            </a:r>
          </a:p>
          <a:p>
            <a:pPr marL="228600" indent="-137160">
              <a:buChar char="•"/>
            </a:pPr>
            <a:r>
              <a:rPr lang="ko-KR" sz="1230">
                <a:solidFill>
                  <a:srgbClr val="1F2937"/>
                </a:solidFill>
                <a:latin typeface="Aptos"/>
                <a:ea typeface="Malgun Gothic"/>
              </a:rPr>
              <a:t>권한과 최신성 필터 적용</a:t>
            </a:r>
          </a:p>
          <a:p>
            <a:pPr marL="228600" indent="-137160">
              <a:buChar char="•"/>
            </a:pPr>
            <a:r>
              <a:rPr lang="ko-KR" sz="1230">
                <a:solidFill>
                  <a:srgbClr val="1F2937"/>
                </a:solidFill>
                <a:latin typeface="Aptos"/>
                <a:ea typeface="Malgun Gothic"/>
              </a:rPr>
              <a:t>RAG 문서의 역할 구분</a:t>
            </a:r>
          </a:p>
          <a:p>
            <a:pPr marL="228600" indent="-137160">
              <a:buChar char="•"/>
            </a:pPr>
            <a:r>
              <a:rPr lang="ko-KR" sz="1230">
                <a:solidFill>
                  <a:srgbClr val="1F2937"/>
                </a:solidFill>
                <a:latin typeface="Aptos"/>
                <a:ea typeface="Malgun Gothic"/>
              </a:rPr>
              <a:t>measured evidence와 retrieved guidance 분리</a:t>
            </a:r>
          </a:p>
          <a:p>
            <a:pPr marL="0" indent="0">
              <a:buNone/>
            </a:pPr>
            <a:r>
              <a:rPr lang="ko-KR" sz="1450" b="1">
                <a:solidFill>
                  <a:srgbClr val="0F766E"/>
                </a:solidFill>
                <a:latin typeface="Aptos"/>
                <a:ea typeface="Malgun Gothic"/>
              </a:rPr>
              <a:t>RAG context 역할 구분</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유형 | 역할</a:t>
            </a:r>
          </a:p>
          <a:p>
            <a:pPr marL="0" indent="0">
              <a:buNone/>
            </a:pPr>
            <a:r>
              <a:rPr lang="ko-KR" sz="1120">
                <a:solidFill>
                  <a:srgbClr val="1F2937"/>
                </a:solidFill>
                <a:latin typeface="Aptos"/>
                <a:ea typeface="Malgun Gothic"/>
              </a:rPr>
              <a:t>정책 문서 | authoritative source</a:t>
            </a:r>
          </a:p>
          <a:p>
            <a:pPr marL="0" indent="0">
              <a:buNone/>
            </a:pPr>
            <a:r>
              <a:rPr lang="ko-KR" sz="1120">
                <a:solidFill>
                  <a:srgbClr val="1F2937"/>
                </a:solidFill>
                <a:latin typeface="Aptos"/>
                <a:ea typeface="Malgun Gothic"/>
              </a:rPr>
              <a:t>runbook | operational guidance</a:t>
            </a:r>
          </a:p>
          <a:p>
            <a:pPr marL="0" indent="0">
              <a:buNone/>
            </a:pPr>
            <a:r>
              <a:rPr lang="ko-KR" sz="1120">
                <a:solidFill>
                  <a:srgbClr val="1F2937"/>
                </a:solidFill>
                <a:latin typeface="Aptos"/>
                <a:ea typeface="Malgun Gothic"/>
              </a:rPr>
              <a:t>과거 incident | episodic reference</a:t>
            </a:r>
          </a:p>
          <a:p>
            <a:pPr marL="0" indent="0">
              <a:buNone/>
            </a:pPr>
            <a:r>
              <a:rPr lang="ko-KR" sz="1120">
                <a:solidFill>
                  <a:srgbClr val="1F2937"/>
                </a:solidFill>
                <a:latin typeface="Aptos"/>
                <a:ea typeface="Malgun Gothic"/>
              </a:rPr>
              <a:t>외부 블로그 | background knowledge</a:t>
            </a:r>
          </a:p>
          <a:p>
            <a:pPr marL="0" indent="0">
              <a:buNone/>
            </a:pPr>
            <a:r>
              <a:rPr lang="ko-KR" sz="1240">
                <a:solidFill>
                  <a:srgbClr val="334155"/>
                </a:solidFill>
                <a:latin typeface="Aptos"/>
                <a:ea typeface="Malgun Gothic"/>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Short-term vs Long-term</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27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LangGraph memory는 크게 두 가지다.</a:t>
            </a:r>
          </a:p>
          <a:p>
            <a:pPr marL="228600" indent="-137160">
              <a:buChar char="•"/>
            </a:pPr>
            <a:r>
              <a:rPr lang="ko-KR" sz="1230">
                <a:solidFill>
                  <a:srgbClr val="1F2937"/>
                </a:solidFill>
                <a:latin typeface="Aptos"/>
                <a:ea typeface="Malgun Gothic"/>
              </a:rPr>
              <a:t>Short-term memory</a:t>
            </a:r>
          </a:p>
          <a:p>
            <a:pPr marL="0" indent="0">
              <a:buNone/>
            </a:pPr>
            <a:r>
              <a:rPr lang="ko-KR" sz="1240">
                <a:solidFill>
                  <a:srgbClr val="334155"/>
                </a:solidFill>
                <a:latin typeface="Aptos"/>
                <a:ea typeface="Malgun Gothic"/>
              </a:rPr>
              <a:t>- thread-scoped memory</a:t>
            </a:r>
          </a:p>
          <a:p>
            <a:pPr marL="0" indent="0">
              <a:buNone/>
            </a:pPr>
            <a:r>
              <a:rPr lang="ko-KR" sz="1240">
                <a:solidFill>
                  <a:srgbClr val="334155"/>
                </a:solidFill>
                <a:latin typeface="Aptos"/>
                <a:ea typeface="Malgun Gothic"/>
              </a:rPr>
              <a:t>- graph state와 checkpoint로 유지</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 현재 대화/작업의 진행 상태</a:t>
            </a:r>
          </a:p>
          <a:p>
            <a:pPr marL="228600" indent="-137160">
              <a:buChar char="•"/>
            </a:pPr>
            <a:r>
              <a:rPr lang="ko-KR" sz="1230">
                <a:solidFill>
                  <a:srgbClr val="1F2937"/>
                </a:solidFill>
                <a:latin typeface="Aptos"/>
                <a:ea typeface="Malgun Gothic"/>
              </a:rPr>
              <a:t>Long-term memory</a:t>
            </a:r>
          </a:p>
          <a:p>
            <a:pPr marL="0" indent="0">
              <a:buNone/>
            </a:pPr>
            <a:r>
              <a:rPr lang="ko-KR" sz="1240">
                <a:solidFill>
                  <a:srgbClr val="334155"/>
                </a:solidFill>
                <a:latin typeface="Aptos"/>
                <a:ea typeface="Malgun Gothic"/>
              </a:rPr>
              <a:t>- thread를 넘어 유지</a:t>
            </a:r>
          </a:p>
          <a:p>
            <a:pPr marL="0" indent="0">
              <a:buNone/>
            </a:pPr>
            <a:r>
              <a:rPr lang="ko-KR" sz="1240">
                <a:solidFill>
                  <a:srgbClr val="334155"/>
                </a:solidFill>
                <a:latin typeface="Aptos"/>
                <a:ea typeface="Malgun Gothic"/>
              </a:rPr>
              <a:t>- store와 namespace 사용</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 사용자 선호, 프로젝트 규칙, 과거 결정</a:t>
            </a:r>
          </a:p>
          <a:p>
            <a:pPr marL="0" indent="0">
              <a:buNone/>
            </a:pPr>
            <a:r>
              <a:rPr lang="ko-KR" sz="1240">
                <a:solidFill>
                  <a:srgbClr val="334155"/>
                </a:solidFill>
                <a:latin typeface="Aptos"/>
                <a:ea typeface="Malgun Gothic"/>
              </a:rPr>
              <a:t>Memory policy:</a:t>
            </a:r>
          </a:p>
          <a:p>
            <a:pPr marL="0" indent="0">
              <a:buNone/>
            </a:pPr>
            <a:r>
              <a:rPr lang="ko-KR" sz="980">
                <a:solidFill>
                  <a:srgbClr val="374151"/>
                </a:solidFill>
                <a:latin typeface="Menlo"/>
                <a:ea typeface="Malgun Gothic"/>
              </a:rPr>
              <a:t>max_items: 5</a:t>
            </a:r>
          </a:p>
          <a:p>
            <a:pPr marL="0" indent="0">
              <a:buNone/>
            </a:pPr>
            <a:r>
              <a:rPr lang="ko-KR" sz="980">
                <a:solidFill>
                  <a:srgbClr val="374151"/>
                </a:solidFill>
                <a:latin typeface="Menlo"/>
                <a:ea typeface="Malgun Gothic"/>
              </a:rPr>
              <a:t>min_relevance: 0.75</a:t>
            </a:r>
          </a:p>
          <a:p>
            <a:pPr marL="0" indent="0">
              <a:buNone/>
            </a:pPr>
            <a:r>
              <a:rPr lang="ko-KR" sz="980">
                <a:solidFill>
                  <a:srgbClr val="374151"/>
                </a:solidFill>
                <a:latin typeface="Menlo"/>
                <a:ea typeface="Malgun Gothic"/>
              </a:rPr>
              <a:t>prefer:</a:t>
            </a:r>
          </a:p>
          <a:p>
            <a:pPr marL="0" indent="0">
              <a:buNone/>
            </a:pPr>
            <a:r>
              <a:rPr lang="ko-KR" sz="980">
                <a:solidFill>
                  <a:srgbClr val="374151"/>
                </a:solidFill>
                <a:latin typeface="Menlo"/>
                <a:ea typeface="Malgun Gothic"/>
              </a:rPr>
              <a:t>  - explicit user statements</a:t>
            </a:r>
          </a:p>
          <a:p>
            <a:pPr marL="0" indent="0">
              <a:buNone/>
            </a:pPr>
            <a:r>
              <a:rPr lang="ko-KR" sz="980">
                <a:solidFill>
                  <a:srgbClr val="374151"/>
                </a:solidFill>
                <a:latin typeface="Menlo"/>
                <a:ea typeface="Malgun Gothic"/>
              </a:rPr>
              <a:t>  - recent validated facts</a:t>
            </a:r>
          </a:p>
          <a:p>
            <a:pPr marL="0" indent="0">
              <a:buNone/>
            </a:pPr>
            <a:r>
              <a:rPr lang="ko-KR" sz="980">
                <a:solidFill>
                  <a:srgbClr val="374151"/>
                </a:solidFill>
                <a:latin typeface="Menlo"/>
                <a:ea typeface="Malgun Gothic"/>
              </a:rPr>
              <a:t>exclude:</a:t>
            </a:r>
          </a:p>
          <a:p>
            <a:pPr marL="0" indent="0">
              <a:buNone/>
            </a:pPr>
            <a:r>
              <a:rPr lang="ko-KR" sz="980">
                <a:solidFill>
                  <a:srgbClr val="374151"/>
                </a:solidFill>
                <a:latin typeface="Menlo"/>
                <a:ea typeface="Malgun Gothic"/>
              </a:rPr>
              <a:t>  - stale hypotheses</a:t>
            </a:r>
          </a:p>
          <a:p>
            <a:pPr marL="0" indent="0">
              <a:buNone/>
            </a:pPr>
            <a:r>
              <a:rPr lang="ko-KR" sz="980">
                <a:solidFill>
                  <a:srgbClr val="374151"/>
                </a:solidFill>
                <a:latin typeface="Menlo"/>
                <a:ea typeface="Malgun Gothic"/>
              </a:rPr>
              <a:t>  - memories without source</a:t>
            </a:r>
          </a:p>
          <a:p>
            <a:pPr marL="0" indent="0">
              <a:buNone/>
            </a:pPr>
            <a:r>
              <a:rPr lang="ko-KR" sz="980">
                <a:solidFill>
                  <a:srgbClr val="374151"/>
                </a:solidFill>
                <a:latin typeface="Menlo"/>
                <a:ea typeface="Malgun Gothic"/>
              </a:rPr>
              <a:t>  - sensitive data unless required</a:t>
            </a:r>
          </a:p>
          <a:p>
            <a:pPr marL="0" indent="0">
              <a:buNone/>
            </a:pPr>
            <a:r>
              <a:rPr lang="ko-KR" sz="1240">
                <a:solidFill>
                  <a:srgbClr val="334155"/>
                </a:solidFill>
                <a:latin typeface="Aptos"/>
                <a:ea typeface="Malgun Gothic"/>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Checkpoint는 되돌릴 수 있는 Context History다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28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LangGraph checkpointer는 각 step의 state snapshot을 thread별로 저장한다.</a:t>
            </a:r>
          </a:p>
          <a:p>
            <a:pPr marL="0" indent="0">
              <a:buNone/>
            </a:pPr>
            <a:r>
              <a:rPr lang="ko-KR" sz="1240">
                <a:solidFill>
                  <a:srgbClr val="334155"/>
                </a:solidFill>
                <a:latin typeface="Aptos"/>
                <a:ea typeface="Malgun Gothic"/>
              </a:rPr>
              <a:t>가능해지는 것:</a:t>
            </a:r>
          </a:p>
          <a:p>
            <a:pPr marL="228600" indent="-137160">
              <a:buChar char="•"/>
            </a:pPr>
            <a:r>
              <a:rPr lang="ko-KR" sz="1230">
                <a:solidFill>
                  <a:srgbClr val="1F2937"/>
                </a:solidFill>
                <a:latin typeface="Aptos"/>
                <a:ea typeface="Malgun Gothic"/>
              </a:rPr>
              <a:t>human-in-the-loop approval</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conversational memory</a:t>
            </a:r>
          </a:p>
          <a:p>
            <a:pPr marL="228600" indent="-137160">
              <a:buChar char="•"/>
            </a:pPr>
            <a:r>
              <a:rPr lang="ko-KR" sz="1230">
                <a:solidFill>
                  <a:srgbClr val="1F2937"/>
                </a:solidFill>
                <a:latin typeface="Aptos"/>
                <a:ea typeface="Malgun Gothic"/>
              </a:rPr>
              <a:t>time travel debugging</a:t>
            </a:r>
          </a:p>
          <a:p>
            <a:pPr marL="228600" indent="-137160">
              <a:buChar char="•"/>
            </a:pPr>
            <a:r>
              <a:rPr lang="ko-KR" sz="1230">
                <a:solidFill>
                  <a:srgbClr val="1F2937"/>
                </a:solidFill>
                <a:latin typeface="Aptos"/>
                <a:ea typeface="Malgun Gothic"/>
              </a:rPr>
              <a:t>fault-tolerant execution</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context poisoning 지점 추적</a:t>
            </a:r>
          </a:p>
          <a:p>
            <a:pPr marL="0" indent="0">
              <a:buNone/>
            </a:pPr>
            <a:r>
              <a:rPr lang="ko-KR" sz="1240">
                <a:solidFill>
                  <a:srgbClr val="334155"/>
                </a:solidFill>
                <a:latin typeface="Aptos"/>
                <a:ea typeface="Malgun Gothic"/>
              </a:rPr>
              <a:t>예:</a:t>
            </a:r>
          </a:p>
          <a:p>
            <a:pPr marL="0" indent="0">
              <a:buNone/>
            </a:pPr>
            <a:r>
              <a:rPr lang="ko-KR" sz="980">
                <a:solidFill>
                  <a:srgbClr val="374151"/>
                </a:solidFill>
                <a:latin typeface="Menlo"/>
                <a:ea typeface="Malgun Gothic"/>
              </a:rPr>
              <a:t>config = {"configurable": {"thread_id": "incident-001"}}</a:t>
            </a:r>
          </a:p>
          <a:p>
            <a:pPr marL="0" indent="0">
              <a:buNone/>
            </a:pPr>
            <a:r>
              <a:rPr lang="ko-KR" sz="980">
                <a:solidFill>
                  <a:srgbClr val="374151"/>
                </a:solidFill>
                <a:latin typeface="Menlo"/>
                <a:ea typeface="Malgun Gothic"/>
              </a:rPr>
              <a:t>graph.invoke(input_state, config=config)</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운영 에이전트에서 checkpoint는 단순 저장 기능이 아니다. “어느 순간 컨텍스트가 망가졌는가”를 역추적할 수 있는 핵심 관측 지점이다.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ReAct는 강력하지만 drift가 쉽다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29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주요 문제:</a:t>
            </a:r>
          </a:p>
          <a:p>
            <a:pPr marL="228600" indent="-137160">
              <a:buChar char="•"/>
            </a:pPr>
            <a:r>
              <a:rPr lang="ko-KR" sz="1230">
                <a:solidFill>
                  <a:srgbClr val="1F2937"/>
                </a:solidFill>
                <a:latin typeface="Aptos"/>
                <a:ea typeface="Malgun Gothic"/>
              </a:rPr>
              <a:t>Thought가 길어져 context bloat 발생</a:t>
            </a:r>
          </a:p>
          <a:p>
            <a:pPr marL="228600" indent="-137160">
              <a:buChar char="•"/>
            </a:pPr>
            <a:r>
              <a:rPr lang="ko-KR" sz="1230">
                <a:solidFill>
                  <a:srgbClr val="1F2937"/>
                </a:solidFill>
                <a:latin typeface="Aptos"/>
                <a:ea typeface="Malgun Gothic"/>
              </a:rPr>
              <a:t>Observation에 raw data 누적</a:t>
            </a:r>
          </a:p>
          <a:p>
            <a:pPr marL="228600" indent="-137160">
              <a:buChar char="•"/>
            </a:pPr>
            <a:r>
              <a:rPr lang="ko-KR" sz="1230">
                <a:solidFill>
                  <a:srgbClr val="1F2937"/>
                </a:solidFill>
                <a:latin typeface="Aptos"/>
                <a:ea typeface="Malgun Gothic"/>
              </a:rPr>
              <a:t>이미 호출한 tool 반복</a:t>
            </a:r>
          </a:p>
          <a:p>
            <a:pPr marL="228600" indent="-137160">
              <a:buChar char="•"/>
            </a:pPr>
            <a:r>
              <a:rPr lang="ko-KR" sz="1230">
                <a:solidFill>
                  <a:srgbClr val="1F2937"/>
                </a:solidFill>
                <a:latin typeface="Aptos"/>
                <a:ea typeface="Malgun Gothic"/>
              </a:rPr>
              <a:t>충분한 evidence 없이 finish</a:t>
            </a:r>
          </a:p>
          <a:p>
            <a:pPr marL="228600" indent="-137160">
              <a:buChar char="•"/>
            </a:pPr>
            <a:r>
              <a:rPr lang="ko-KR" sz="1230">
                <a:solidFill>
                  <a:srgbClr val="1F2937"/>
                </a:solidFill>
                <a:latin typeface="Aptos"/>
                <a:ea typeface="Malgun Gothic"/>
              </a:rPr>
              <a:t>RAG 문서를 측정 근거처럼 사용</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tool error 무시</a:t>
            </a:r>
          </a:p>
          <a:p>
            <a:pPr marL="228600" indent="-137160">
              <a:buChar char="•"/>
            </a:pPr>
            <a:r>
              <a:rPr lang="ko-KR" sz="1230">
                <a:solidFill>
                  <a:srgbClr val="1F2937"/>
                </a:solidFill>
                <a:latin typeface="Aptos"/>
                <a:ea typeface="Malgun Gothic"/>
              </a:rPr>
              <a:t>tool list 과다로 잘못된 action 선택</a:t>
            </a:r>
          </a:p>
          <a:p>
            <a:pPr marL="0" indent="0">
              <a:buNone/>
            </a:pPr>
            <a:r>
              <a:rPr lang="ko-KR" sz="1240">
                <a:solidFill>
                  <a:srgbClr val="334155"/>
                </a:solidFill>
                <a:latin typeface="Aptos"/>
                <a:ea typeface="Malgun Gothic"/>
              </a:rPr>
              <a:t>해결책:</a:t>
            </a:r>
          </a:p>
          <a:p>
            <a:pPr marL="228600" indent="-137160">
              <a:buChar char="•"/>
            </a:pPr>
            <a:r>
              <a:rPr lang="ko-KR" sz="1230">
                <a:solidFill>
                  <a:srgbClr val="1F2937"/>
                </a:solidFill>
                <a:latin typeface="Aptos"/>
                <a:ea typeface="Malgun Gothic"/>
              </a:rPr>
              <a:t>step별 context 최소화</a:t>
            </a:r>
          </a:p>
          <a:p>
            <a:pPr marL="228600" indent="-137160">
              <a:buChar char="•"/>
            </a:pPr>
            <a:r>
              <a:rPr lang="ko-KR" sz="1230">
                <a:solidFill>
                  <a:srgbClr val="1F2937"/>
                </a:solidFill>
                <a:latin typeface="Aptos"/>
                <a:ea typeface="Malgun Gothic"/>
              </a:rPr>
              <a:t>observation summary만 유지</a:t>
            </a:r>
          </a:p>
          <a:p>
            <a:pPr marL="228600" indent="-137160">
              <a:buChar char="•"/>
            </a:pPr>
            <a:r>
              <a:rPr lang="ko-KR" sz="1230">
                <a:solidFill>
                  <a:srgbClr val="1F2937"/>
                </a:solidFill>
                <a:latin typeface="Aptos"/>
                <a:ea typeface="Malgun Gothic"/>
              </a:rPr>
              <a:t>dynamic tool selection</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max_steps 설정</a:t>
            </a:r>
          </a:p>
          <a:p>
            <a:pPr marL="228600" indent="-137160">
              <a:buChar char="•"/>
            </a:pPr>
            <a:r>
              <a:rPr lang="ko-KR" sz="1230">
                <a:solidFill>
                  <a:srgbClr val="1F2937"/>
                </a:solidFill>
                <a:latin typeface="Aptos"/>
                <a:ea typeface="Malgun Gothic"/>
              </a:rPr>
              <a:t>finish gate 코드화</a:t>
            </a:r>
          </a:p>
          <a:p>
            <a:pPr marL="228600" indent="-137160">
              <a:buChar char="•"/>
            </a:pPr>
            <a:r>
              <a:rPr lang="ko-KR" sz="1230">
                <a:solidFill>
                  <a:srgbClr val="1F2937"/>
                </a:solidFill>
                <a:latin typeface="Aptos"/>
                <a:ea typeface="Malgun Gothic"/>
              </a:rPr>
              <a:t>validation node 추가</a:t>
            </a:r>
          </a:p>
          <a:p>
            <a:pPr marL="0" indent="0">
              <a:buNone/>
            </a:pPr>
            <a:r>
              <a:rPr lang="ko-KR" sz="1240">
                <a:solidFill>
                  <a:srgbClr val="334155"/>
                </a:solidFill>
                <a:latin typeface="Aptos"/>
                <a:ea typeface="Malgun Gothic"/>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매 step에 필요한 정보만 제공</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30 / 62</a:t>
            </a:r>
          </a:p>
        </p:txBody>
      </p:sp>
      <p:sp>
        <p:nvSpPr>
          <p:cNvPr id="8" name="content card 0"/>
          <p:cNvSpPr/>
          <p:nvPr/>
        </p:nvSpPr>
        <p:spPr>
          <a:xfrm>
            <a:off x="650000" y="1040000"/>
            <a:ext cx="5360000"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522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a:t>
            </a:r>
          </a:p>
          <a:p>
            <a:pPr marL="0" indent="0">
              <a:buNone/>
            </a:pPr>
            <a:r>
              <a:rPr lang="ko-KR" sz="980">
                <a:solidFill>
                  <a:srgbClr val="374151"/>
                </a:solidFill>
                <a:latin typeface="Menlo"/>
                <a:ea typeface="Malgun Gothic"/>
              </a:rPr>
              <a:t>  "step": 4,</a:t>
            </a:r>
          </a:p>
          <a:p>
            <a:pPr marL="0" indent="0">
              <a:buNone/>
            </a:pPr>
            <a:r>
              <a:rPr lang="ko-KR" sz="980">
                <a:solidFill>
                  <a:srgbClr val="374151"/>
                </a:solidFill>
                <a:latin typeface="Menlo"/>
                <a:ea typeface="Malgun Gothic"/>
              </a:rPr>
              <a:t>  "goal": "Analyze /api/login 5xx spike from web logs",</a:t>
            </a:r>
          </a:p>
          <a:p>
            <a:pPr marL="0" indent="0">
              <a:buNone/>
            </a:pPr>
            <a:r>
              <a:rPr lang="ko-KR" sz="980">
                <a:solidFill>
                  <a:srgbClr val="374151"/>
                </a:solidFill>
                <a:latin typeface="Menlo"/>
                <a:ea typeface="Malgun Gothic"/>
              </a:rPr>
              <a:t>  "progress": {</a:t>
            </a:r>
          </a:p>
          <a:p>
            <a:pPr marL="0" indent="0">
              <a:buNone/>
            </a:pPr>
            <a:r>
              <a:rPr lang="ko-KR" sz="980">
                <a:solidFill>
                  <a:srgbClr val="374151"/>
                </a:solidFill>
                <a:latin typeface="Menlo"/>
                <a:ea typeface="Malgun Gothic"/>
              </a:rPr>
              <a:t>    "request_parsed": true,</a:t>
            </a:r>
          </a:p>
          <a:p>
            <a:pPr marL="0" indent="0">
              <a:buNone/>
            </a:pPr>
            <a:r>
              <a:rPr lang="ko-KR" sz="980">
                <a:solidFill>
                  <a:srgbClr val="374151"/>
                </a:solidFill>
                <a:latin typeface="Menlo"/>
                <a:ea typeface="Malgun Gothic"/>
              </a:rPr>
              <a:t>    "logs_loaded": true,</a:t>
            </a:r>
          </a:p>
          <a:p>
            <a:pPr marL="0" indent="0">
              <a:buNone/>
            </a:pPr>
            <a:r>
              <a:rPr lang="ko-KR" sz="980">
                <a:solidFill>
                  <a:srgbClr val="374151"/>
                </a:solidFill>
                <a:latin typeface="Menlo"/>
                <a:ea typeface="Malgun Gothic"/>
              </a:rPr>
              <a:t>    "records_parsed": true,</a:t>
            </a:r>
          </a:p>
          <a:p>
            <a:pPr marL="0" indent="0">
              <a:buNone/>
            </a:pPr>
            <a:r>
              <a:rPr lang="ko-KR" sz="980">
                <a:solidFill>
                  <a:srgbClr val="374151"/>
                </a:solidFill>
                <a:latin typeface="Menlo"/>
                <a:ea typeface="Malgun Gothic"/>
              </a:rPr>
              <a:t>    "records_filtered": false,</a:t>
            </a:r>
          </a:p>
          <a:p>
            <a:pPr marL="0" indent="0">
              <a:buNone/>
            </a:pPr>
            <a:r>
              <a:rPr lang="ko-KR" sz="980">
                <a:solidFill>
                  <a:srgbClr val="374151"/>
                </a:solidFill>
                <a:latin typeface="Menlo"/>
                <a:ea typeface="Malgun Gothic"/>
              </a:rPr>
              <a:t>    "metrics_computed": false</a:t>
            </a:r>
          </a:p>
          <a:p>
            <a:pPr marL="0" indent="0">
              <a:buNone/>
            </a:pPr>
            <a:r>
              <a:rPr lang="ko-KR" sz="980">
                <a:solidFill>
                  <a:srgbClr val="374151"/>
                </a:solidFill>
                <a:latin typeface="Menlo"/>
                <a:ea typeface="Malgun Gothic"/>
              </a:rPr>
              <a:t>  },</a:t>
            </a:r>
          </a:p>
        </p:txBody>
      </p:sp>
      <p:sp>
        <p:nvSpPr>
          <p:cNvPr id="10" name="content card 1"/>
          <p:cNvSpPr/>
          <p:nvPr/>
        </p:nvSpPr>
        <p:spPr>
          <a:xfrm>
            <a:off x="6190000" y="1040000"/>
            <a:ext cx="5360000" cy="5100000"/>
          </a:xfrm>
          <a:prstGeom prst="roundRect"/>
          <a:solidFill>
            <a:srgbClr val="FFFFFF"/>
          </a:solidFill>
          <a:ln w="7620">
            <a:solidFill>
              <a:srgbClr val="E5E7EB"/>
            </a:solidFill>
          </a:ln>
        </p:spPr>
        <p:txBody>
          <a:bodyPr/>
          <a:lstStyle/>
          <a:p/>
        </p:txBody>
      </p:sp>
      <p:sp>
        <p:nvSpPr>
          <p:cNvPr id="11" name="content text 1"/>
          <p:cNvSpPr txBox="1"/>
          <p:nvPr/>
        </p:nvSpPr>
        <p:spPr>
          <a:xfrm>
            <a:off x="6260000" y="1110000"/>
            <a:ext cx="5220000"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최종 답변은 조건을 만족해야 한다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31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def can_finish(state):</a:t>
            </a:r>
          </a:p>
          <a:p>
            <a:pPr marL="0" indent="0">
              <a:buNone/>
            </a:pPr>
            <a:r>
              <a:rPr lang="ko-KR" sz="980">
                <a:solidFill>
                  <a:srgbClr val="374151"/>
                </a:solidFill>
                <a:latin typeface="Menlo"/>
                <a:ea typeface="Malgun Gothic"/>
              </a:rPr>
              <a:t>    missing = []</a:t>
            </a:r>
          </a:p>
          <a:p>
            <a:pPr marL="0" indent="0">
              <a:buNone/>
            </a:pPr>
            <a:r>
              <a:rPr lang="ko-KR" sz="980">
                <a:solidFill>
                  <a:srgbClr val="374151"/>
                </a:solidFill>
                <a:latin typeface="Menlo"/>
                <a:ea typeface="Malgun Gothic"/>
              </a:rPr>
              <a:t>    if not state.request.get("targetPath"):</a:t>
            </a:r>
          </a:p>
          <a:p>
            <a:pPr marL="0" indent="0">
              <a:buNone/>
            </a:pPr>
            <a:r>
              <a:rPr lang="ko-KR" sz="980">
                <a:solidFill>
                  <a:srgbClr val="374151"/>
                </a:solidFill>
                <a:latin typeface="Menlo"/>
                <a:ea typeface="Malgun Gothic"/>
              </a:rPr>
              <a:t>        missing.append("targetPath")</a:t>
            </a:r>
          </a:p>
          <a:p>
            <a:pPr marL="0" indent="0">
              <a:buNone/>
            </a:pPr>
            <a:r>
              <a:rPr lang="ko-KR" sz="980">
                <a:solidFill>
                  <a:srgbClr val="374151"/>
                </a:solidFill>
                <a:latin typeface="Menlo"/>
                <a:ea typeface="Malgun Gothic"/>
              </a:rPr>
              <a:t>    if not state.metrics:</a:t>
            </a:r>
          </a:p>
          <a:p>
            <a:pPr marL="0" indent="0">
              <a:buNone/>
            </a:pPr>
            <a:r>
              <a:rPr lang="ko-KR" sz="980">
                <a:solidFill>
                  <a:srgbClr val="374151"/>
                </a:solidFill>
                <a:latin typeface="Menlo"/>
                <a:ea typeface="Malgun Gothic"/>
              </a:rPr>
              <a:t>        missing.append("metrics")</a:t>
            </a:r>
          </a:p>
          <a:p>
            <a:pPr marL="0" indent="0">
              <a:buNone/>
            </a:pPr>
            <a:r>
              <a:rPr lang="ko-KR" sz="980">
                <a:solidFill>
                  <a:srgbClr val="374151"/>
                </a:solidFill>
                <a:latin typeface="Menlo"/>
                <a:ea typeface="Malgun Gothic"/>
              </a:rPr>
              <a:t>    if not state.evidence.get("logLines"):</a:t>
            </a:r>
          </a:p>
          <a:p>
            <a:pPr marL="0" indent="0">
              <a:buNone/>
            </a:pPr>
            <a:r>
              <a:rPr lang="ko-KR" sz="980">
                <a:solidFill>
                  <a:srgbClr val="374151"/>
                </a:solidFill>
                <a:latin typeface="Menlo"/>
                <a:ea typeface="Malgun Gothic"/>
              </a:rPr>
              <a:t>        missing.append("evidence")</a:t>
            </a:r>
          </a:p>
          <a:p>
            <a:pPr marL="0" indent="0">
              <a:buNone/>
            </a:pPr>
            <a:r>
              <a:rPr lang="ko-KR" sz="980">
                <a:solidFill>
                  <a:srgbClr val="374151"/>
                </a:solidFill>
                <a:latin typeface="Menlo"/>
                <a:ea typeface="Malgun Gothic"/>
              </a:rPr>
              <a:t>    if not state.ragContext:</a:t>
            </a:r>
          </a:p>
          <a:p>
            <a:pPr marL="0" indent="0">
              <a:buNone/>
            </a:pPr>
            <a:r>
              <a:rPr lang="ko-KR" sz="980">
                <a:solidFill>
                  <a:srgbClr val="374151"/>
                </a:solidFill>
                <a:latin typeface="Menlo"/>
                <a:ea typeface="Malgun Gothic"/>
              </a:rPr>
              <a:t>        missing.append("rag_context")</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450" b="1">
                <a:solidFill>
                  <a:srgbClr val="0F766E"/>
                </a:solidFill>
                <a:latin typeface="Aptos"/>
                <a:ea typeface="Malgun Gothic"/>
              </a:rPr>
              <a:t>핵심</a:t>
            </a:r>
          </a:p>
          <a:p>
            <a:pPr marL="0" indent="0">
              <a:buNone/>
            </a:pPr>
            <a:r>
              <a:rPr lang="ko-KR" sz="1240">
                <a:solidFill>
                  <a:srgbClr val="334155"/>
                </a:solidFill>
                <a:latin typeface="Aptos"/>
                <a:ea typeface="Malgun Gothic"/>
              </a:rPr>
              <a:t>Prompt로 “근거 없이 끝내지 마”라고 말하는 것보다, 코드로 finish를 막는 것이 안정적이다.</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reference_agent/weblog_agent</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32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graph.py       ReAct loop, node/edge orchestration</a:t>
            </a:r>
          </a:p>
          <a:p>
            <a:pPr marL="0" indent="0">
              <a:buNone/>
            </a:pPr>
            <a:r>
              <a:rPr lang="ko-KR" sz="980">
                <a:solidFill>
                  <a:srgbClr val="374151"/>
                </a:solidFill>
                <a:latin typeface="Menlo"/>
                <a:ea typeface="Malgun Gothic"/>
              </a:rPr>
              <a:t>state.py       WebLogAnalysisState</a:t>
            </a:r>
          </a:p>
          <a:p>
            <a:pPr marL="0" indent="0">
              <a:buNone/>
            </a:pPr>
            <a:r>
              <a:rPr lang="ko-KR" sz="980">
                <a:solidFill>
                  <a:srgbClr val="374151"/>
                </a:solidFill>
                <a:latin typeface="Menlo"/>
                <a:ea typeface="Malgun Gothic"/>
              </a:rPr>
              <a:t>prompts.py     system prompt, ReAct protocol, tool policy, output contract</a:t>
            </a:r>
          </a:p>
          <a:p>
            <a:pPr marL="0" indent="0">
              <a:buNone/>
            </a:pPr>
            <a:r>
              <a:rPr lang="ko-KR" sz="980">
                <a:solidFill>
                  <a:srgbClr val="374151"/>
                </a:solidFill>
                <a:latin typeface="Menlo"/>
                <a:ea typeface="Malgun Gothic"/>
              </a:rPr>
              <a:t>tools.py       deterministic log tools</a:t>
            </a:r>
          </a:p>
          <a:p>
            <a:pPr marL="0" indent="0">
              <a:buNone/>
            </a:pPr>
            <a:r>
              <a:rPr lang="ko-KR" sz="980">
                <a:solidFill>
                  <a:srgbClr val="374151"/>
                </a:solidFill>
                <a:latin typeface="Menlo"/>
                <a:ea typeface="Malgun Gothic"/>
              </a:rPr>
              <a:t>rag.py         LocalRunbookRetriever</a:t>
            </a:r>
          </a:p>
          <a:p>
            <a:pPr marL="0" indent="0">
              <a:buNone/>
            </a:pPr>
            <a:r>
              <a:rPr lang="ko-KR" sz="980">
                <a:solidFill>
                  <a:srgbClr val="374151"/>
                </a:solidFill>
                <a:latin typeface="Menlo"/>
                <a:ea typeface="Malgun Gothic"/>
              </a:rPr>
              <a:t>mcp.py         MCP service context client</a:t>
            </a:r>
          </a:p>
          <a:p>
            <a:pPr marL="0" indent="0">
              <a:buNone/>
            </a:pPr>
            <a:r>
              <a:rPr lang="ko-KR" sz="980">
                <a:solidFill>
                  <a:srgbClr val="374151"/>
                </a:solidFill>
                <a:latin typeface="Menlo"/>
                <a:ea typeface="Malgun Gothic"/>
              </a:rPr>
              <a:t>trace.py       trace logging</a:t>
            </a:r>
          </a:p>
          <a:p>
            <a:pPr marL="0" indent="0">
              <a:buNone/>
            </a:pPr>
            <a:r>
              <a:rPr lang="ko-KR" sz="980">
                <a:solidFill>
                  <a:srgbClr val="374151"/>
                </a:solidFill>
                <a:latin typeface="Menlo"/>
                <a:ea typeface="Malgun Gothic"/>
              </a:rPr>
              <a:t>validation.py  final validation</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구성 파일:</a:t>
            </a:r>
          </a:p>
          <a:p>
            <a:pPr marL="0" indent="0">
              <a:buNone/>
            </a:pPr>
            <a:r>
              <a:rPr lang="ko-KR" sz="1240">
                <a:solidFill>
                  <a:srgbClr val="334155"/>
                </a:solidFill>
                <a:latin typeface="Aptos"/>
                <a:ea typeface="Malgun Gothic"/>
              </a:rPr>
              <a:t>구성요소:</a:t>
            </a:r>
          </a:p>
          <a:p>
            <a:pPr marL="228600" indent="-137160">
              <a:buChar char="•"/>
            </a:pPr>
            <a:r>
              <a:rPr lang="ko-KR" sz="1230">
                <a:solidFill>
                  <a:srgbClr val="1F2937"/>
                </a:solidFill>
                <a:latin typeface="Aptos"/>
                <a:ea typeface="Malgun Gothic"/>
              </a:rPr>
              <a:t>LLM</a:t>
            </a:r>
          </a:p>
          <a:p>
            <a:pPr marL="228600" indent="-137160">
              <a:buChar char="•"/>
            </a:pPr>
            <a:r>
              <a:rPr lang="ko-KR" sz="1230">
                <a:solidFill>
                  <a:srgbClr val="1F2937"/>
                </a:solidFill>
                <a:latin typeface="Aptos"/>
                <a:ea typeface="Malgun Gothic"/>
              </a:rPr>
              <a:t>Prompt</a:t>
            </a:r>
          </a:p>
          <a:p>
            <a:pPr marL="228600" indent="-137160">
              <a:buChar char="•"/>
            </a:pPr>
            <a:r>
              <a:rPr lang="ko-KR" sz="1230">
                <a:solidFill>
                  <a:srgbClr val="1F2937"/>
                </a:solidFill>
                <a:latin typeface="Aptos"/>
                <a:ea typeface="Malgun Gothic"/>
              </a:rPr>
              <a:t>Tools</a:t>
            </a:r>
          </a:p>
          <a:p>
            <a:pPr marL="228600" indent="-137160">
              <a:buChar char="•"/>
            </a:pPr>
            <a:r>
              <a:rPr lang="ko-KR" sz="1230">
                <a:solidFill>
                  <a:srgbClr val="1F2937"/>
                </a:solidFill>
                <a:latin typeface="Aptos"/>
                <a:ea typeface="Malgun Gothic"/>
              </a:rPr>
              <a:t>MCP</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RAG</a:t>
            </a:r>
          </a:p>
          <a:p>
            <a:pPr marL="228600" indent="-137160">
              <a:buChar char="•"/>
            </a:pPr>
            <a:r>
              <a:rPr lang="ko-KR" sz="1230">
                <a:solidFill>
                  <a:srgbClr val="1F2937"/>
                </a:solidFill>
                <a:latin typeface="Aptos"/>
                <a:ea typeface="Malgun Gothic"/>
              </a:rPr>
              <a:t>State</a:t>
            </a:r>
          </a:p>
          <a:p>
            <a:pPr marL="228600" indent="-137160">
              <a:buChar char="•"/>
            </a:pPr>
            <a:r>
              <a:rPr lang="ko-KR" sz="1230">
                <a:solidFill>
                  <a:srgbClr val="1F2937"/>
                </a:solidFill>
                <a:latin typeface="Aptos"/>
                <a:ea typeface="Malgun Gothic"/>
              </a:rPr>
              <a:t>Trace</a:t>
            </a:r>
          </a:p>
          <a:p>
            <a:pPr marL="228600" indent="-137160">
              <a:buChar char="•"/>
            </a:pPr>
            <a:r>
              <a:rPr lang="ko-KR" sz="1230">
                <a:solidFill>
                  <a:srgbClr val="1F2937"/>
                </a:solidFill>
                <a:latin typeface="Aptos"/>
                <a:ea typeface="Malgun Gothic"/>
              </a:rPr>
              <a:t>Validation</a:t>
            </a:r>
          </a:p>
          <a:p>
            <a:pPr marL="0" indent="0">
              <a:buNone/>
            </a:pPr>
            <a:r>
              <a:rPr lang="ko-KR" sz="1240">
                <a:solidFill>
                  <a:srgbClr val="334155"/>
                </a:solidFill>
                <a:latin typeface="Aptos"/>
                <a:ea typeface="Malgun Gothic"/>
              </a:rPr>
              <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실행 흐름</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33 / 62</a:t>
            </a:r>
          </a:p>
        </p:txBody>
      </p:sp>
      <p:sp>
        <p:nvSpPr>
          <p:cNvPr id="8" name="diagram card"/>
          <p:cNvSpPr/>
          <p:nvPr/>
        </p:nvSpPr>
        <p:spPr>
          <a:xfrm>
            <a:off x="650000" y="1040000"/>
            <a:ext cx="6100000" cy="472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run_start</a:t>
            </a:r>
          </a:p>
          <a:p>
            <a:pPr marL="0" indent="0">
              <a:buNone/>
            </a:pPr>
            <a:r>
              <a:rPr lang="ko-KR" sz="980">
                <a:solidFill>
                  <a:srgbClr val="374151"/>
                </a:solidFill>
                <a:latin typeface="Menlo"/>
                <a:ea typeface="Malgun Gothic"/>
              </a:rPr>
              <a:t>  → instruction_snapshot</a:t>
            </a:r>
          </a:p>
          <a:p>
            <a:pPr marL="0" indent="0">
              <a:buNone/>
            </a:pPr>
            <a:r>
              <a:rPr lang="ko-KR" sz="980">
                <a:solidFill>
                  <a:srgbClr val="374151"/>
                </a:solidFill>
                <a:latin typeface="Menlo"/>
                <a:ea typeface="Malgun Gothic"/>
              </a:rPr>
              <a:t>  → initialize_agent</a:t>
            </a:r>
          </a:p>
          <a:p>
            <a:pPr marL="0" indent="0">
              <a:buNone/>
            </a:pPr>
            <a:r>
              <a:rPr lang="ko-KR" sz="980">
                <a:solidFill>
                  <a:srgbClr val="374151"/>
                </a:solidFill>
                <a:latin typeface="Menlo"/>
                <a:ea typeface="Malgun Gothic"/>
              </a:rPr>
              <a:t>  → react_agent</a:t>
            </a:r>
          </a:p>
          <a:p>
            <a:pPr marL="0" indent="0">
              <a:buNone/>
            </a:pPr>
            <a:r>
              <a:rPr lang="ko-KR" sz="980">
                <a:solidFill>
                  <a:srgbClr val="374151"/>
                </a:solidFill>
                <a:latin typeface="Menlo"/>
                <a:ea typeface="Malgun Gothic"/>
              </a:rPr>
              <a:t>      → parse_user_request</a:t>
            </a:r>
          </a:p>
          <a:p>
            <a:pPr marL="0" indent="0">
              <a:buNone/>
            </a:pPr>
            <a:r>
              <a:rPr lang="ko-KR" sz="980">
                <a:solidFill>
                  <a:srgbClr val="374151"/>
                </a:solidFill>
                <a:latin typeface="Menlo"/>
                <a:ea typeface="Malgun Gothic"/>
              </a:rPr>
              <a:t>      → read_log_file</a:t>
            </a:r>
          </a:p>
          <a:p>
            <a:pPr marL="0" indent="0">
              <a:buNone/>
            </a:pPr>
            <a:r>
              <a:rPr lang="ko-KR" sz="980">
                <a:solidFill>
                  <a:srgbClr val="374151"/>
                </a:solidFill>
                <a:latin typeface="Menlo"/>
                <a:ea typeface="Malgun Gothic"/>
              </a:rPr>
              <a:t>      → parse_access_log</a:t>
            </a:r>
          </a:p>
          <a:p>
            <a:pPr marL="0" indent="0">
              <a:buNone/>
            </a:pPr>
            <a:r>
              <a:rPr lang="ko-KR" sz="980">
                <a:solidFill>
                  <a:srgbClr val="374151"/>
                </a:solidFill>
                <a:latin typeface="Menlo"/>
                <a:ea typeface="Malgun Gothic"/>
              </a:rPr>
              <a:t>      → filter_log_records</a:t>
            </a:r>
          </a:p>
          <a:p>
            <a:pPr marL="0" indent="0">
              <a:buNone/>
            </a:pPr>
            <a:r>
              <a:rPr lang="ko-KR" sz="980">
                <a:solidFill>
                  <a:srgbClr val="374151"/>
                </a:solidFill>
                <a:latin typeface="Menlo"/>
                <a:ea typeface="Malgun Gothic"/>
              </a:rPr>
              <a:t>      → compute_log_metrics</a:t>
            </a:r>
          </a:p>
          <a:p>
            <a:pPr marL="0" indent="0">
              <a:buNone/>
            </a:pPr>
            <a:r>
              <a:rPr lang="ko-KR" sz="980">
                <a:solidFill>
                  <a:srgbClr val="374151"/>
                </a:solidFill>
                <a:latin typeface="Menlo"/>
                <a:ea typeface="Malgun Gothic"/>
              </a:rPr>
              <a:t>      → detect_log_anomalies</a:t>
            </a:r>
          </a:p>
        </p:txBody>
      </p:sp>
      <p:sp>
        <p:nvSpPr>
          <p:cNvPr id="10" name="right card 0"/>
          <p:cNvSpPr/>
          <p:nvPr/>
        </p:nvSpPr>
        <p:spPr>
          <a:xfrm>
            <a:off x="6930000" y="1040000"/>
            <a:ext cx="4620000" cy="227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15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
        <p:nvSpPr>
          <p:cNvPr id="12" name="right card 1"/>
          <p:cNvSpPr/>
          <p:nvPr/>
        </p:nvSpPr>
        <p:spPr>
          <a:xfrm>
            <a:off x="6930000" y="3490000"/>
            <a:ext cx="4620000" cy="2270000"/>
          </a:xfrm>
          <a:prstGeom prst="roundRect"/>
          <a:solidFill>
            <a:srgbClr val="FFFFFF"/>
          </a:solidFill>
          <a:ln w="7620">
            <a:solidFill>
              <a:srgbClr val="E5E7EB"/>
            </a:solidFill>
          </a:ln>
        </p:spPr>
        <p:txBody>
          <a:bodyPr/>
          <a:lstStyle/>
          <a:p/>
        </p:txBody>
      </p:sp>
      <p:sp>
        <p:nvSpPr>
          <p:cNvPr id="13" name="right text 1"/>
          <p:cNvSpPr txBox="1"/>
          <p:nvPr/>
        </p:nvSpPr>
        <p:spPr>
          <a:xfrm>
            <a:off x="6990000" y="3550000"/>
            <a:ext cx="4500000" cy="215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이 흐름은 Context Engineering과 Drift Telemetry가 결합된 좋은 예다. 각 node와 tool call은 state를 갱신하고, 동시에 trace로 기록된다. Judge Agent는 이 trace를 읽어 drift를 판단한다. ---</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Drift 판단에 필요한 상태</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34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request             사용자 요청과 targetPath</a:t>
            </a:r>
          </a:p>
          <a:p>
            <a:pPr marL="0" indent="0">
              <a:buNone/>
            </a:pPr>
            <a:r>
              <a:rPr lang="ko-KR" sz="980">
                <a:solidFill>
                  <a:srgbClr val="374151"/>
                </a:solidFill>
                <a:latin typeface="Menlo"/>
                <a:ea typeface="Malgun Gothic"/>
              </a:rPr>
              <a:t>logSource           로그 파일과 format</a:t>
            </a:r>
          </a:p>
          <a:p>
            <a:pPr marL="0" indent="0">
              <a:buNone/>
            </a:pPr>
            <a:r>
              <a:rPr lang="ko-KR" sz="980">
                <a:solidFill>
                  <a:srgbClr val="374151"/>
                </a:solidFill>
                <a:latin typeface="Menlo"/>
                <a:ea typeface="Malgun Gothic"/>
              </a:rPr>
              <a:t>rawLogs             원본 로그 count/truncated</a:t>
            </a:r>
          </a:p>
          <a:p>
            <a:pPr marL="0" indent="0">
              <a:buNone/>
            </a:pPr>
            <a:r>
              <a:rPr lang="ko-KR" sz="980">
                <a:solidFill>
                  <a:srgbClr val="374151"/>
                </a:solidFill>
                <a:latin typeface="Menlo"/>
                <a:ea typeface="Malgun Gothic"/>
              </a:rPr>
              <a:t>parsedRecords       파싱된 로그</a:t>
            </a:r>
          </a:p>
          <a:p>
            <a:pPr marL="0" indent="0">
              <a:buNone/>
            </a:pPr>
            <a:r>
              <a:rPr lang="ko-KR" sz="980">
                <a:solidFill>
                  <a:srgbClr val="374151"/>
                </a:solidFill>
                <a:latin typeface="Menlo"/>
                <a:ea typeface="Malgun Gothic"/>
              </a:rPr>
              <a:t>filteredRecords     대상 endpoint/status로 필터링된 로그</a:t>
            </a:r>
          </a:p>
          <a:p>
            <a:pPr marL="0" indent="0">
              <a:buNone/>
            </a:pPr>
            <a:r>
              <a:rPr lang="ko-KR" sz="980">
                <a:solidFill>
                  <a:srgbClr val="374151"/>
                </a:solidFill>
                <a:latin typeface="Menlo"/>
                <a:ea typeface="Malgun Gothic"/>
              </a:rPr>
              <a:t>metrics             error_rate, latency, count</a:t>
            </a:r>
          </a:p>
          <a:p>
            <a:pPr marL="0" indent="0">
              <a:buNone/>
            </a:pPr>
            <a:r>
              <a:rPr lang="ko-KR" sz="980">
                <a:solidFill>
                  <a:srgbClr val="374151"/>
                </a:solidFill>
                <a:latin typeface="Menlo"/>
                <a:ea typeface="Malgun Gothic"/>
              </a:rPr>
              <a:t>anomalies           threshold/baseline 기반 이상</a:t>
            </a:r>
          </a:p>
          <a:p>
            <a:pPr marL="0" indent="0">
              <a:buNone/>
            </a:pPr>
            <a:r>
              <a:rPr lang="ko-KR" sz="980">
                <a:solidFill>
                  <a:srgbClr val="374151"/>
                </a:solidFill>
                <a:latin typeface="Menlo"/>
                <a:ea typeface="Malgun Gothic"/>
              </a:rPr>
              <a:t>ragContext          runbook 검색 결과</a:t>
            </a:r>
          </a:p>
          <a:p>
            <a:pPr marL="0" indent="0">
              <a:buNone/>
            </a:pPr>
            <a:r>
              <a:rPr lang="ko-KR" sz="980">
                <a:solidFill>
                  <a:srgbClr val="374151"/>
                </a:solidFill>
                <a:latin typeface="Menlo"/>
                <a:ea typeface="Malgun Gothic"/>
              </a:rPr>
              <a:t>mcpContext          owner/SLO/dependency/deployment</a:t>
            </a:r>
          </a:p>
          <a:p>
            <a:pPr marL="0" indent="0">
              <a:buNone/>
            </a:pPr>
            <a:r>
              <a:rPr lang="ko-KR" sz="980">
                <a:solidFill>
                  <a:srgbClr val="374151"/>
                </a:solidFill>
                <a:latin typeface="Menlo"/>
                <a:ea typeface="Malgun Gothic"/>
              </a:rPr>
              <a:t>reactSteps          action path</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핵심:</a:t>
            </a:r>
          </a:p>
          <a:p>
            <a:pPr marL="228600" indent="-137160">
              <a:buChar char="•"/>
            </a:pPr>
            <a:r>
              <a:rPr lang="ko-KR" sz="1230">
                <a:solidFill>
                  <a:srgbClr val="1F2937"/>
                </a:solidFill>
                <a:latin typeface="Aptos"/>
                <a:ea typeface="Malgun Gothic"/>
              </a:rPr>
              <a:t>evidence와 RAG context가 분리됨</a:t>
            </a:r>
          </a:p>
          <a:p>
            <a:pPr marL="228600" indent="-137160">
              <a:buChar char="•"/>
            </a:pPr>
            <a:r>
              <a:rPr lang="ko-KR" sz="1230">
                <a:solidFill>
                  <a:srgbClr val="1F2937"/>
                </a:solidFill>
                <a:latin typeface="Aptos"/>
                <a:ea typeface="Malgun Gothic"/>
              </a:rPr>
              <a:t>metric은 tool 결과로 생성됨</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validation이 별도 state로 존재</a:t>
            </a:r>
          </a:p>
          <a:p>
            <a:pPr marL="0" indent="0">
              <a:buNone/>
            </a:pPr>
            <a:r>
              <a:rPr lang="ko-KR" sz="1240">
                <a:solidFill>
                  <a:srgbClr val="334155"/>
                </a:solidFill>
                <a:latin typeface="Aptos"/>
                <a:ea typeface="Malgun Gothic"/>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Agent 실행의 관측 데이터</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35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Drift telemetry는 에이전트가 drift를 일으켰는지 판단하기 위해 필요한 실행 로그다.</a:t>
            </a:r>
          </a:p>
          <a:p>
            <a:pPr marL="0" indent="0">
              <a:buNone/>
            </a:pPr>
            <a:r>
              <a:rPr lang="ko-KR" sz="1240">
                <a:solidFill>
                  <a:srgbClr val="334155"/>
                </a:solidFill>
                <a:latin typeface="Aptos"/>
                <a:ea typeface="Malgun Gothic"/>
              </a:rPr>
              <a:t>수집 대상:</a:t>
            </a:r>
          </a:p>
          <a:p>
            <a:pPr marL="228600" indent="-137160">
              <a:buChar char="•"/>
            </a:pPr>
            <a:r>
              <a:rPr lang="ko-KR" sz="1230">
                <a:solidFill>
                  <a:srgbClr val="1F2937"/>
                </a:solidFill>
                <a:latin typeface="Aptos"/>
                <a:ea typeface="Malgun Gothic"/>
              </a:rPr>
              <a:t>run/session lifecycle</a:t>
            </a:r>
          </a:p>
          <a:p>
            <a:pPr marL="228600" indent="-137160">
              <a:buChar char="•"/>
            </a:pPr>
            <a:r>
              <a:rPr lang="ko-KR" sz="1230">
                <a:solidFill>
                  <a:srgbClr val="1F2937"/>
                </a:solidFill>
                <a:latin typeface="Aptos"/>
                <a:ea typeface="Malgun Gothic"/>
              </a:rPr>
              <a:t>prompt/instruction snapshot</a:t>
            </a:r>
          </a:p>
          <a:p>
            <a:pPr marL="228600" indent="-137160">
              <a:buChar char="•"/>
            </a:pPr>
            <a:r>
              <a:rPr lang="ko-KR" sz="1230">
                <a:solidFill>
                  <a:srgbClr val="1F2937"/>
                </a:solidFill>
                <a:latin typeface="Aptos"/>
                <a:ea typeface="Malgun Gothic"/>
              </a:rPr>
              <a:t>graph node transition</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ReAct thought/action/observation</a:t>
            </a:r>
          </a:p>
          <a:p>
            <a:pPr marL="228600" indent="-137160">
              <a:buChar char="•"/>
            </a:pPr>
            <a:r>
              <a:rPr lang="ko-KR" sz="1230">
                <a:solidFill>
                  <a:srgbClr val="1F2937"/>
                </a:solidFill>
                <a:latin typeface="Aptos"/>
                <a:ea typeface="Malgun Gothic"/>
              </a:rPr>
              <a:t>tool call input/output/error</a:t>
            </a:r>
          </a:p>
          <a:p>
            <a:pPr marL="228600" indent="-137160">
              <a:buChar char="•"/>
            </a:pPr>
            <a:r>
              <a:rPr lang="ko-KR" sz="1230">
                <a:solidFill>
                  <a:srgbClr val="1F2937"/>
                </a:solidFill>
                <a:latin typeface="Aptos"/>
                <a:ea typeface="Malgun Gothic"/>
              </a:rPr>
              <a:t>LLM request/response/error/skipped</a:t>
            </a:r>
          </a:p>
          <a:p>
            <a:pPr marL="228600" indent="-137160">
              <a:buChar char="•"/>
            </a:pPr>
            <a:r>
              <a:rPr lang="ko-KR" sz="1230">
                <a:solidFill>
                  <a:srgbClr val="1F2937"/>
                </a:solidFill>
                <a:latin typeface="Aptos"/>
                <a:ea typeface="Malgun Gothic"/>
              </a:rPr>
              <a:t>MCP request/response/error</a:t>
            </a:r>
          </a:p>
          <a:p>
            <a:pPr marL="228600" indent="-137160">
              <a:buChar char="•"/>
            </a:pPr>
            <a:r>
              <a:rPr lang="ko-KR" sz="1230">
                <a:solidFill>
                  <a:srgbClr val="1F2937"/>
                </a:solidFill>
                <a:latin typeface="Aptos"/>
                <a:ea typeface="Malgun Gothic"/>
              </a:rPr>
              <a:t>RAG retrieval result</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validation result</a:t>
            </a:r>
          </a:p>
          <a:p>
            <a:pPr marL="228600" indent="-137160">
              <a:buChar char="•"/>
            </a:pPr>
            <a:r>
              <a:rPr lang="ko-KR" sz="1230">
                <a:solidFill>
                  <a:srgbClr val="1F2937"/>
                </a:solidFill>
                <a:latin typeface="Aptos"/>
                <a:ea typeface="Malgun Gothic"/>
              </a:rPr>
              <a:t>final output</a:t>
            </a:r>
          </a:p>
          <a:p>
            <a:pPr marL="0" indent="0">
              <a:buNone/>
            </a:pPr>
            <a:r>
              <a:rPr lang="ko-KR" sz="1450" b="1">
                <a:solidFill>
                  <a:srgbClr val="0F766E"/>
                </a:solidFill>
                <a:latin typeface="Aptos"/>
                <a:ea typeface="Malgun Gothic"/>
              </a:rPr>
              <a:t>핵심</a:t>
            </a:r>
          </a:p>
          <a:p>
            <a:pPr marL="0" indent="0">
              <a:buNone/>
            </a:pPr>
            <a:r>
              <a:rPr lang="ko-KR" sz="1250">
                <a:solidFill>
                  <a:srgbClr val="475569"/>
                </a:solidFill>
                <a:latin typeface="Aptos"/>
                <a:ea typeface="Malgun Gothic"/>
              </a:rPr>
              <a:t>“Judge Agent는 최종 답변만 보면 안 된다. 답변이 만들어진 경로를 봐야 한다.”</a:t>
            </a:r>
          </a:p>
          <a:p>
            <a:pPr marL="0" indent="0">
              <a:buNone/>
            </a:pPr>
            <a:r>
              <a:rPr lang="ko-KR" sz="1240">
                <a:solidFill>
                  <a:srgbClr val="334155"/>
                </a:solidFill>
                <a:latin typeface="Aptos"/>
                <a:ea typeface="Malgun Gothic"/>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모든 이벤트는 TraceLogger를 통과한다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36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class TraceLogger:</a:t>
            </a:r>
          </a:p>
          <a:p>
            <a:pPr marL="0" indent="0">
              <a:buNone/>
            </a:pPr>
            <a:r>
              <a:rPr lang="ko-KR" sz="980">
                <a:solidFill>
                  <a:srgbClr val="374151"/>
                </a:solidFill>
                <a:latin typeface="Menlo"/>
                <a:ea typeface="Malgun Gothic"/>
              </a:rPr>
              <a:t>    def emit(self, event_type: str, **payload):</a:t>
            </a:r>
          </a:p>
          <a:p>
            <a:pPr marL="0" indent="0">
              <a:buNone/>
            </a:pPr>
            <a:r>
              <a:rPr lang="ko-KR" sz="980">
                <a:solidFill>
                  <a:srgbClr val="374151"/>
                </a:solidFill>
                <a:latin typeface="Menlo"/>
                <a:ea typeface="Malgun Gothic"/>
              </a:rPr>
              <a:t>        event = {</a:t>
            </a:r>
          </a:p>
          <a:p>
            <a:pPr marL="0" indent="0">
              <a:buNone/>
            </a:pPr>
            <a:r>
              <a:rPr lang="ko-KR" sz="980">
                <a:solidFill>
                  <a:srgbClr val="374151"/>
                </a:solidFill>
                <a:latin typeface="Menlo"/>
                <a:ea typeface="Malgun Gothic"/>
              </a:rPr>
              <a:t>            "type": event_type,</a:t>
            </a:r>
          </a:p>
          <a:p>
            <a:pPr marL="0" indent="0">
              <a:buNone/>
            </a:pPr>
            <a:r>
              <a:rPr lang="ko-KR" sz="980">
                <a:solidFill>
                  <a:srgbClr val="374151"/>
                </a:solidFill>
                <a:latin typeface="Menlo"/>
                <a:ea typeface="Malgun Gothic"/>
              </a:rPr>
              <a:t>            "run_id": self.run_id,</a:t>
            </a:r>
          </a:p>
          <a:p>
            <a:pPr marL="0" indent="0">
              <a:buNone/>
            </a:pPr>
            <a:r>
              <a:rPr lang="ko-KR" sz="980">
                <a:solidFill>
                  <a:srgbClr val="374151"/>
                </a:solidFill>
                <a:latin typeface="Menlo"/>
                <a:ea typeface="Malgun Gothic"/>
              </a:rPr>
              <a:t>            "timestamp": ...,</a:t>
            </a:r>
          </a:p>
          <a:p>
            <a:pPr marL="0" indent="0">
              <a:buNone/>
            </a:pPr>
            <a:r>
              <a:rPr lang="ko-KR" sz="980">
                <a:solidFill>
                  <a:srgbClr val="374151"/>
                </a:solidFill>
                <a:latin typeface="Menlo"/>
                <a:ea typeface="Malgun Gothic"/>
              </a:rPr>
              <a:t>            **payload,</a:t>
            </a:r>
          </a:p>
          <a:p>
            <a:pPr marL="0" indent="0">
              <a:buNone/>
            </a:pPr>
            <a:r>
              <a:rPr lang="ko-KR" sz="980">
                <a:solidFill>
                  <a:srgbClr val="374151"/>
                </a:solidFill>
                <a:latin typeface="Menlo"/>
                <a:ea typeface="Malgun Gothic"/>
              </a:rPr>
              <a:t>        }</a:t>
            </a:r>
          </a:p>
          <a:p>
            <a:pPr marL="0" indent="0">
              <a:buNone/>
            </a:pPr>
            <a:r>
              <a:rPr lang="ko-KR" sz="980">
                <a:solidFill>
                  <a:srgbClr val="374151"/>
                </a:solidFill>
                <a:latin typeface="Menlo"/>
                <a:ea typeface="Malgun Gothic"/>
              </a:rPr>
              <a:t>        event = redact(event)</a:t>
            </a:r>
          </a:p>
          <a:p>
            <a:pPr marL="0" indent="0">
              <a:buNone/>
            </a:pPr>
            <a:r>
              <a:rPr lang="ko-KR" sz="980">
                <a:solidFill>
                  <a:srgbClr val="374151"/>
                </a:solidFill>
                <a:latin typeface="Menlo"/>
                <a:ea typeface="Malgun Gothic"/>
              </a:rPr>
              <a:t>        self._fh.write(json.dumps(event) + "\n")</a:t>
            </a:r>
          </a:p>
          <a:p>
            <a:pPr marL="0" indent="0">
              <a:buNone/>
            </a:pPr>
            <a:r>
              <a:rPr lang="ko-KR" sz="1240">
                <a:solidFill>
                  <a:srgbClr val="334155"/>
                </a:solidFill>
                <a:latin typeface="Aptos"/>
                <a:ea typeface="Malgun Gothic"/>
              </a:rPr>
              <a:t>필수 기능:</a:t>
            </a:r>
          </a:p>
          <a:p>
            <a:pPr marL="228600" indent="-137160">
              <a:buChar char="•"/>
            </a:pPr>
            <a:r>
              <a:rPr lang="ko-KR" sz="1230">
                <a:solidFill>
                  <a:srgbClr val="1F2937"/>
                </a:solidFill>
                <a:latin typeface="Aptos"/>
                <a:ea typeface="Malgun Gothic"/>
              </a:rPr>
              <a:t>run_id 생성</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JSONL trace 저장</a:t>
            </a:r>
          </a:p>
          <a:p>
            <a:pPr marL="228600" indent="-137160">
              <a:buChar char="•"/>
            </a:pPr>
            <a:r>
              <a:rPr lang="ko-KR" sz="1230">
                <a:solidFill>
                  <a:srgbClr val="1F2937"/>
                </a:solidFill>
                <a:latin typeface="Aptos"/>
                <a:ea typeface="Malgun Gothic"/>
              </a:rPr>
              <a:t>secret/token/password redaction</a:t>
            </a:r>
          </a:p>
          <a:p>
            <a:pPr marL="228600" indent="-137160">
              <a:buChar char="•"/>
            </a:pPr>
            <a:r>
              <a:rPr lang="ko-KR" sz="1230">
                <a:solidFill>
                  <a:srgbClr val="1F2937"/>
                </a:solidFill>
                <a:latin typeface="Aptos"/>
                <a:ea typeface="Malgun Gothic"/>
              </a:rPr>
              <a:t>node_start / node_end</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tool_start / tool_end / tool_error</a:t>
            </a:r>
          </a:p>
          <a:p>
            <a:pPr marL="228600" indent="-137160">
              <a:buChar char="•"/>
            </a:pPr>
            <a:r>
              <a:rPr lang="ko-KR" sz="1230">
                <a:solidFill>
                  <a:srgbClr val="1F2937"/>
                </a:solidFill>
                <a:latin typeface="Aptos"/>
                <a:ea typeface="Malgun Gothic"/>
              </a:rPr>
              <a:t>generic emit</a:t>
            </a:r>
          </a:p>
          <a:p>
            <a:pPr marL="0" indent="0">
              <a:buNone/>
            </a:pPr>
            <a:r>
              <a:rPr lang="ko-KR" sz="1240">
                <a:solidFill>
                  <a:srgbClr val="334155"/>
                </a:solidFill>
                <a:latin typeface="Aptos"/>
                <a:ea typeface="Malgun Gothic"/>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Agent 실행 시작 지점에서 주입</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37 / 62</a:t>
            </a:r>
          </a:p>
        </p:txBody>
      </p:sp>
      <p:sp>
        <p:nvSpPr>
          <p:cNvPr id="8" name="content card 0"/>
          <p:cNvSpPr/>
          <p:nvPr/>
        </p:nvSpPr>
        <p:spPr>
          <a:xfrm>
            <a:off x="650000" y="1040000"/>
            <a:ext cx="5360000"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522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logger = TraceLogger(trace_path, run_id=fixture_id)</a:t>
            </a:r>
          </a:p>
          <a:p>
            <a:pPr marL="0" indent="0">
              <a:buNone/>
            </a:pPr>
            <a:r>
              <a:rPr lang="ko-KR" sz="980">
                <a:solidFill>
                  <a:srgbClr val="374151"/>
                </a:solidFill>
                <a:latin typeface="Menlo"/>
                <a:ea typeface="Malgun Gothic"/>
              </a:rPr>
              <a:t>agent = WebLogAnalysisAgent(logger, fault=fx.fault, use_llm=use_llm)</a:t>
            </a:r>
          </a:p>
          <a:p>
            <a:pPr marL="0" indent="0">
              <a:buNone/>
            </a:pPr>
            <a:r>
              <a:rPr lang="ko-KR" sz="980">
                <a:solidFill>
                  <a:srgbClr val="374151"/>
                </a:solidFill>
                <a:latin typeface="Menlo"/>
                <a:ea typeface="Malgun Gothic"/>
              </a:rPr>
              <a:t>state = agent.run(...)</a:t>
            </a:r>
          </a:p>
          <a:p>
            <a:pPr marL="0" indent="0">
              <a:buNone/>
            </a:pPr>
            <a:r>
              <a:rPr lang="ko-KR" sz="1240">
                <a:solidFill>
                  <a:srgbClr val="334155"/>
                </a:solidFill>
                <a:latin typeface="Aptos"/>
                <a:ea typeface="Malgun Gothic"/>
              </a:rPr>
              <a:t>다른 에이전트에 이식할 때 권장 패턴:</a:t>
            </a:r>
          </a:p>
        </p:txBody>
      </p:sp>
      <p:sp>
        <p:nvSpPr>
          <p:cNvPr id="10" name="content card 1"/>
          <p:cNvSpPr/>
          <p:nvPr/>
        </p:nvSpPr>
        <p:spPr>
          <a:xfrm>
            <a:off x="6190000" y="1040000"/>
            <a:ext cx="5360000" cy="4720000"/>
          </a:xfrm>
          <a:prstGeom prst="roundRect"/>
          <a:solidFill>
            <a:srgbClr val="FFFFFF"/>
          </a:solidFill>
          <a:ln w="7620">
            <a:solidFill>
              <a:srgbClr val="E5E7EB"/>
            </a:solidFill>
          </a:ln>
        </p:spPr>
        <p:txBody>
          <a:bodyPr/>
          <a:lstStyle/>
          <a:p/>
        </p:txBody>
      </p:sp>
      <p:sp>
        <p:nvSpPr>
          <p:cNvPr id="11" name="content text 1"/>
          <p:cNvSpPr txBox="1"/>
          <p:nvPr/>
        </p:nvSpPr>
        <p:spPr>
          <a:xfrm>
            <a:off x="6260000" y="1110000"/>
            <a:ext cx="5220000" cy="458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def run_my_agent(user_input, ...):</a:t>
            </a:r>
          </a:p>
          <a:p>
            <a:pPr marL="0" indent="0">
              <a:buNone/>
            </a:pPr>
            <a:r>
              <a:rPr lang="ko-KR" sz="980">
                <a:solidFill>
                  <a:srgbClr val="374151"/>
                </a:solidFill>
                <a:latin typeface="Menlo"/>
                <a:ea typeface="Malgun Gothic"/>
              </a:rPr>
              <a:t>    trace = TraceLogger(trace_path, run_id=run_id)</a:t>
            </a:r>
          </a:p>
          <a:p>
            <a:pPr marL="0" indent="0">
              <a:buNone/>
            </a:pPr>
            <a:r>
              <a:rPr lang="ko-KR" sz="980">
                <a:solidFill>
                  <a:srgbClr val="374151"/>
                </a:solidFill>
                <a:latin typeface="Menlo"/>
                <a:ea typeface="Malgun Gothic"/>
              </a:rPr>
              <a:t>    try:</a:t>
            </a:r>
          </a:p>
          <a:p>
            <a:pPr marL="0" indent="0">
              <a:buNone/>
            </a:pPr>
            <a:r>
              <a:rPr lang="ko-KR" sz="980">
                <a:solidFill>
                  <a:srgbClr val="374151"/>
                </a:solidFill>
                <a:latin typeface="Menlo"/>
                <a:ea typeface="Malgun Gothic"/>
              </a:rPr>
              <a:t>        agent = MyAgent(trace_logger=trace)</a:t>
            </a:r>
          </a:p>
          <a:p>
            <a:pPr marL="0" indent="0">
              <a:buNone/>
            </a:pPr>
            <a:r>
              <a:rPr lang="ko-KR" sz="980">
                <a:solidFill>
                  <a:srgbClr val="374151"/>
                </a:solidFill>
                <a:latin typeface="Menlo"/>
                <a:ea typeface="Malgun Gothic"/>
              </a:rPr>
              <a:t>        return agent.run(user_input)</a:t>
            </a:r>
          </a:p>
          <a:p>
            <a:pPr marL="0" indent="0">
              <a:buNone/>
            </a:pPr>
            <a:r>
              <a:rPr lang="ko-KR" sz="980">
                <a:solidFill>
                  <a:srgbClr val="374151"/>
                </a:solidFill>
                <a:latin typeface="Menlo"/>
                <a:ea typeface="Malgun Gothic"/>
              </a:rPr>
              <a:t>    finally:</a:t>
            </a:r>
          </a:p>
          <a:p>
            <a:pPr marL="0" indent="0">
              <a:buNone/>
            </a:pPr>
            <a:r>
              <a:rPr lang="ko-KR" sz="980">
                <a:solidFill>
                  <a:srgbClr val="374151"/>
                </a:solidFill>
                <a:latin typeface="Menlo"/>
                <a:ea typeface="Malgun Gothic"/>
              </a:rPr>
              <a:t>        trace.close()</a:t>
            </a:r>
          </a:p>
        </p:txBody>
      </p:sp>
      <p:sp>
        <p:nvSpPr>
          <p:cNvPr id="12"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3"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telemetry는 나중에 붙이는 부가기능이 아니라 agent 생성 시점부터 주입되어야 한다. 그래야 run_start부터 final_output까지 동일한 run_id로 연결된다. ---</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실행 단위 식별</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38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필수 이벤트:</a:t>
            </a:r>
          </a:p>
          <a:p>
            <a:pPr marL="228600" indent="-137160">
              <a:buChar char="•"/>
            </a:pPr>
            <a:r>
              <a:rPr lang="ko-KR" sz="1230">
                <a:solidFill>
                  <a:srgbClr val="1F2937"/>
                </a:solidFill>
                <a:latin typeface="Aptos"/>
                <a:ea typeface="Malgun Gothic"/>
              </a:rPr>
              <a:t>run_start</a:t>
            </a:r>
          </a:p>
          <a:p>
            <a:pPr marL="228600" indent="-137160">
              <a:buChar char="•"/>
            </a:pPr>
            <a:r>
              <a:rPr lang="ko-KR" sz="1230">
                <a:solidFill>
                  <a:srgbClr val="1F2937"/>
                </a:solidFill>
                <a:latin typeface="Aptos"/>
                <a:ea typeface="Malgun Gothic"/>
              </a:rPr>
              <a:t>run_end</a:t>
            </a:r>
          </a:p>
          <a:p>
            <a:pPr marL="228600" indent="-137160">
              <a:buChar char="•"/>
            </a:pPr>
            <a:r>
              <a:rPr lang="ko-KR" sz="1230">
                <a:solidFill>
                  <a:srgbClr val="1F2937"/>
                </a:solidFill>
                <a:latin typeface="Aptos"/>
                <a:ea typeface="Malgun Gothic"/>
              </a:rPr>
              <a:t>final_output</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run_start payload 예:</a:t>
            </a:r>
          </a:p>
          <a:p>
            <a:pPr marL="0" indent="0">
              <a:buNone/>
            </a:pPr>
            <a:r>
              <a:rPr lang="ko-KR" sz="980">
                <a:solidFill>
                  <a:srgbClr val="374151"/>
                </a:solidFill>
                <a:latin typeface="Menlo"/>
                <a:ea typeface="Malgun Gothic"/>
              </a:rPr>
              <a:t>{</a:t>
            </a:r>
          </a:p>
          <a:p>
            <a:pPr marL="0" indent="0">
              <a:buNone/>
            </a:pPr>
            <a:r>
              <a:rPr lang="ko-KR" sz="980">
                <a:solidFill>
                  <a:srgbClr val="374151"/>
                </a:solidFill>
                <a:latin typeface="Menlo"/>
                <a:ea typeface="Malgun Gothic"/>
              </a:rPr>
              <a:t>  "type": "run_start",</a:t>
            </a:r>
          </a:p>
          <a:p>
            <a:pPr marL="0" indent="0">
              <a:buNone/>
            </a:pPr>
            <a:r>
              <a:rPr lang="ko-KR" sz="980">
                <a:solidFill>
                  <a:srgbClr val="374151"/>
                </a:solidFill>
                <a:latin typeface="Menlo"/>
                <a:ea typeface="Malgun Gothic"/>
              </a:rPr>
              <a:t>  "agent_name": "weblog-react-agent",</a:t>
            </a:r>
          </a:p>
          <a:p>
            <a:pPr marL="0" indent="0">
              <a:buNone/>
            </a:pPr>
            <a:r>
              <a:rPr lang="ko-KR" sz="980">
                <a:solidFill>
                  <a:srgbClr val="374151"/>
                </a:solidFill>
                <a:latin typeface="Menlo"/>
                <a:ea typeface="Malgun Gothic"/>
              </a:rPr>
              <a:t>  "agent_version": "0.3.0",</a:t>
            </a:r>
          </a:p>
          <a:p>
            <a:pPr marL="0" indent="0">
              <a:buNone/>
            </a:pPr>
            <a:r>
              <a:rPr lang="ko-KR" sz="980">
                <a:solidFill>
                  <a:srgbClr val="374151"/>
                </a:solidFill>
                <a:latin typeface="Menlo"/>
                <a:ea typeface="Malgun Gothic"/>
              </a:rPr>
              <a:t>  "framework": "langgraph",</a:t>
            </a:r>
          </a:p>
          <a:p>
            <a:pPr marL="0" indent="0">
              <a:buNone/>
            </a:pPr>
            <a:r>
              <a:rPr lang="ko-KR" sz="980">
                <a:solidFill>
                  <a:srgbClr val="374151"/>
                </a:solidFill>
                <a:latin typeface="Menlo"/>
                <a:ea typeface="Malgun Gothic"/>
              </a:rPr>
              <a:t>  "architecture": "react",</a:t>
            </a:r>
          </a:p>
          <a:p>
            <a:pPr marL="0" indent="0">
              <a:buNone/>
            </a:pPr>
            <a:r>
              <a:rPr lang="ko-KR" sz="980">
                <a:solidFill>
                  <a:srgbClr val="374151"/>
                </a:solidFill>
                <a:latin typeface="Menlo"/>
                <a:ea typeface="Malgun Gothic"/>
              </a:rPr>
              <a:t>  "components": ["llm", "prompt", "tools", "mcp", "rag"],</a:t>
            </a:r>
          </a:p>
          <a:p>
            <a:pPr marL="0" indent="0">
              <a:buNone/>
            </a:pPr>
            <a:r>
              <a:rPr lang="ko-KR" sz="980">
                <a:solidFill>
                  <a:srgbClr val="374151"/>
                </a:solidFill>
                <a:latin typeface="Menlo"/>
                <a:ea typeface="Malgun Gothic"/>
              </a:rPr>
              <a:t>  "user_input": "...",</a:t>
            </a:r>
          </a:p>
          <a:p>
            <a:pPr marL="0" indent="0">
              <a:buNone/>
            </a:pPr>
            <a:r>
              <a:rPr lang="ko-KR" sz="980">
                <a:solidFill>
                  <a:srgbClr val="374151"/>
                </a:solidFill>
                <a:latin typeface="Menlo"/>
                <a:ea typeface="Malgun Gothic"/>
              </a:rPr>
              <a:t>  "llm_model": "..."</a:t>
            </a:r>
          </a:p>
          <a:p>
            <a:pPr marL="0" indent="0">
              <a:buNone/>
            </a:pPr>
            <a:r>
              <a:rPr lang="ko-KR" sz="980">
                <a:solidFill>
                  <a:srgbClr val="374151"/>
                </a:solidFill>
                <a:latin typeface="Menlo"/>
                <a:ea typeface="Malgun Gothic"/>
              </a:rPr>
              <a:t>}</a:t>
            </a:r>
          </a:p>
          <a:p>
            <a:pPr marL="0" indent="0">
              <a:buNone/>
            </a:pPr>
            <a:r>
              <a:rPr lang="ko-KR" sz="1240">
                <a:solidFill>
                  <a:srgbClr val="334155"/>
                </a:solidFill>
                <a:latin typeface="Aptos"/>
                <a:ea typeface="Malgun Gothic"/>
              </a:rPr>
              <a:t>Judge Agent 활용:</a:t>
            </a:r>
          </a:p>
          <a:p>
            <a:pPr marL="228600" indent="-137160">
              <a:buChar char="•"/>
            </a:pPr>
            <a:r>
              <a:rPr lang="ko-KR" sz="1230">
                <a:solidFill>
                  <a:srgbClr val="1F2937"/>
                </a:solidFill>
                <a:latin typeface="Aptos"/>
                <a:ea typeface="Malgun Gothic"/>
              </a:rPr>
              <a:t>agent version별 drift 비교</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framework/architecture별 실패율 분석</a:t>
            </a:r>
          </a:p>
          <a:p>
            <a:pPr marL="228600" indent="-137160">
              <a:buChar char="•"/>
            </a:pPr>
            <a:r>
              <a:rPr lang="ko-KR" sz="1230">
                <a:solidFill>
                  <a:srgbClr val="1F2937"/>
                </a:solidFill>
                <a:latin typeface="Aptos"/>
                <a:ea typeface="Malgun Gothic"/>
              </a:rPr>
              <a:t>동일 입력에 대한 regression 확인</a:t>
            </a:r>
          </a:p>
          <a:p>
            <a:pPr marL="0" indent="0">
              <a:buNone/>
            </a:pPr>
            <a:r>
              <a:rPr lang="ko-KR" sz="1240">
                <a:solidFill>
                  <a:srgbClr val="334155"/>
                </a:solidFill>
                <a:latin typeface="Aptos"/>
                <a:ea typeface="Malgun Gothic"/>
              </a:rPr>
              <a: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Prompt Drift 탐지의 핵심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39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이벤트:</a:t>
            </a:r>
          </a:p>
          <a:p>
            <a:pPr marL="0" indent="0">
              <a:buNone/>
            </a:pPr>
            <a:r>
              <a:rPr lang="ko-KR" sz="980">
                <a:solidFill>
                  <a:srgbClr val="374151"/>
                </a:solidFill>
                <a:latin typeface="Menlo"/>
                <a:ea typeface="Malgun Gothic"/>
              </a:rPr>
              <a:t>instruction_snapshot</a:t>
            </a:r>
          </a:p>
          <a:p>
            <a:pPr marL="0" indent="0">
              <a:buNone/>
            </a:pPr>
            <a:r>
              <a:rPr lang="ko-KR" sz="1240">
                <a:solidFill>
                  <a:srgbClr val="334155"/>
                </a:solidFill>
                <a:latin typeface="Aptos"/>
                <a:ea typeface="Malgun Gothic"/>
              </a:rPr>
              <a:t>기록 대상:</a:t>
            </a:r>
          </a:p>
          <a:p>
            <a:pPr marL="228600" indent="-137160">
              <a:buChar char="•"/>
            </a:pPr>
            <a:r>
              <a:rPr lang="ko-KR" sz="1230">
                <a:solidFill>
                  <a:srgbClr val="1F2937"/>
                </a:solidFill>
                <a:latin typeface="Aptos"/>
                <a:ea typeface="Malgun Gothic"/>
              </a:rPr>
              <a:t>system prompt</a:t>
            </a:r>
          </a:p>
          <a:p>
            <a:pPr marL="228600" indent="-137160">
              <a:buChar char="•"/>
            </a:pPr>
            <a:r>
              <a:rPr lang="ko-KR" sz="1230">
                <a:solidFill>
                  <a:srgbClr val="1F2937"/>
                </a:solidFill>
                <a:latin typeface="Aptos"/>
                <a:ea typeface="Malgun Gothic"/>
              </a:rPr>
              <a:t>ReAct protocol</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tool policy</a:t>
            </a:r>
          </a:p>
          <a:p>
            <a:pPr marL="228600" indent="-137160">
              <a:buChar char="•"/>
            </a:pPr>
            <a:r>
              <a:rPr lang="ko-KR" sz="1230">
                <a:solidFill>
                  <a:srgbClr val="1F2937"/>
                </a:solidFill>
                <a:latin typeface="Aptos"/>
                <a:ea typeface="Malgun Gothic"/>
              </a:rPr>
              <a:t>output contract</a:t>
            </a:r>
          </a:p>
          <a:p>
            <a:pPr marL="0" indent="0">
              <a:buNone/>
            </a:pPr>
            <a:r>
              <a:rPr lang="ko-KR" sz="1240">
                <a:solidFill>
                  <a:srgbClr val="334155"/>
                </a:solidFill>
                <a:latin typeface="Aptos"/>
                <a:ea typeface="Malgun Gothic"/>
              </a:rPr>
              <a:t>탐지 가능한 문제:</a:t>
            </a:r>
          </a:p>
          <a:p>
            <a:pPr marL="228600" indent="-137160">
              <a:buChar char="•"/>
            </a:pPr>
            <a:r>
              <a:rPr lang="ko-KR" sz="1230">
                <a:solidFill>
                  <a:srgbClr val="1F2937"/>
                </a:solidFill>
                <a:latin typeface="Aptos"/>
                <a:ea typeface="Malgun Gothic"/>
              </a:rPr>
              <a:t>system prompt 변경으로 인한 행동 변화</a:t>
            </a:r>
          </a:p>
          <a:p>
            <a:pPr marL="228600" indent="-137160">
              <a:buChar char="•"/>
            </a:pPr>
            <a:r>
              <a:rPr lang="ko-KR" sz="1230">
                <a:solidFill>
                  <a:srgbClr val="1F2937"/>
                </a:solidFill>
                <a:latin typeface="Aptos"/>
                <a:ea typeface="Malgun Gothic"/>
              </a:rPr>
              <a:t>tool policy 누락</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output contract 약화</a:t>
            </a:r>
          </a:p>
          <a:p>
            <a:pPr marL="228600" indent="-137160">
              <a:buChar char="•"/>
            </a:pPr>
            <a:r>
              <a:rPr lang="ko-KR" sz="1230">
                <a:solidFill>
                  <a:srgbClr val="1F2937"/>
                </a:solidFill>
                <a:latin typeface="Aptos"/>
                <a:ea typeface="Malgun Gothic"/>
              </a:rPr>
              <a:t>안전 지시 제거</a:t>
            </a:r>
          </a:p>
          <a:p>
            <a:pPr marL="228600" indent="-137160">
              <a:buChar char="•"/>
            </a:pPr>
            <a:r>
              <a:rPr lang="ko-KR" sz="1230">
                <a:solidFill>
                  <a:srgbClr val="1F2937"/>
                </a:solidFill>
                <a:latin typeface="Aptos"/>
                <a:ea typeface="Malgun Gothic"/>
              </a:rPr>
              <a:t>ReAct protocol 위반</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에이전트가 왜 갑자기 다른 방식으로 행동하는지 분석하려면, 실행 당시 prompt가 무엇이었는지 반드시 남아 있어야 한다. ---</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Graph 실행 경로를 기록한다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40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이벤트:</a:t>
            </a:r>
          </a:p>
          <a:p>
            <a:pPr marL="228600" indent="-137160">
              <a:buChar char="•"/>
            </a:pPr>
            <a:r>
              <a:rPr lang="ko-KR" sz="1230">
                <a:solidFill>
                  <a:srgbClr val="1F2937"/>
                </a:solidFill>
                <a:latin typeface="Aptos"/>
                <a:ea typeface="Malgun Gothic"/>
              </a:rPr>
              <a:t>node_start</a:t>
            </a:r>
          </a:p>
          <a:p>
            <a:pPr marL="228600" indent="-137160">
              <a:buChar char="•"/>
            </a:pPr>
            <a:r>
              <a:rPr lang="ko-KR" sz="1230">
                <a:solidFill>
                  <a:srgbClr val="1F2937"/>
                </a:solidFill>
                <a:latin typeface="Aptos"/>
                <a:ea typeface="Malgun Gothic"/>
              </a:rPr>
              <a:t>node_end</a:t>
            </a:r>
          </a:p>
          <a:p>
            <a:pPr marL="228600" indent="-137160">
              <a:buChar char="•"/>
            </a:pPr>
            <a:r>
              <a:rPr lang="ko-KR" sz="1230">
                <a:solidFill>
                  <a:srgbClr val="1F2937"/>
                </a:solidFill>
                <a:latin typeface="Aptos"/>
                <a:ea typeface="Malgun Gothic"/>
              </a:rPr>
              <a:t>edge_selected</a:t>
            </a:r>
          </a:p>
          <a:p>
            <a:pPr marL="0" indent="0">
              <a:buNone/>
            </a:pPr>
            <a:r>
              <a:rPr lang="ko-KR" sz="1240">
                <a:solidFill>
                  <a:srgbClr val="334155"/>
                </a:solidFill>
                <a:latin typeface="Aptos"/>
                <a:ea typeface="Malgun Gothic"/>
              </a:rPr>
              <a:t>기록 대상:</a:t>
            </a:r>
          </a:p>
          <a:p>
            <a:pPr marL="228600" indent="-137160">
              <a:buChar char="•"/>
            </a:pPr>
            <a:r>
              <a:rPr lang="ko-KR" sz="1230">
                <a:solidFill>
                  <a:srgbClr val="1F2937"/>
                </a:solidFill>
                <a:latin typeface="Aptos"/>
                <a:ea typeface="Malgun Gothic"/>
              </a:rPr>
              <a:t>node name</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state snapshot before/after</a:t>
            </a:r>
          </a:p>
          <a:p>
            <a:pPr marL="228600" indent="-137160">
              <a:buChar char="•"/>
            </a:pPr>
            <a:r>
              <a:rPr lang="ko-KR" sz="1230">
                <a:solidFill>
                  <a:srgbClr val="1F2937"/>
                </a:solidFill>
                <a:latin typeface="Aptos"/>
                <a:ea typeface="Malgun Gothic"/>
              </a:rPr>
              <a:t>edge from/to</a:t>
            </a:r>
          </a:p>
          <a:p>
            <a:pPr marL="228600" indent="-137160">
              <a:buChar char="•"/>
            </a:pPr>
            <a:r>
              <a:rPr lang="ko-KR" sz="1230">
                <a:solidFill>
                  <a:srgbClr val="1F2937"/>
                </a:solidFill>
                <a:latin typeface="Aptos"/>
                <a:ea typeface="Malgun Gothic"/>
              </a:rPr>
              <a:t>edge selection reason</a:t>
            </a:r>
          </a:p>
          <a:p>
            <a:pPr marL="0" indent="0">
              <a:buNone/>
            </a:pPr>
            <a:r>
              <a:rPr lang="ko-KR" sz="1240">
                <a:solidFill>
                  <a:srgbClr val="334155"/>
                </a:solidFill>
                <a:latin typeface="Aptos"/>
                <a:ea typeface="Malgun Gothic"/>
              </a:rPr>
              <a:t>탐지 가능한 drift:</a:t>
            </a:r>
          </a:p>
          <a:p>
            <a:pPr marL="228600" indent="-137160">
              <a:buChar char="•"/>
            </a:pPr>
            <a:r>
              <a:rPr lang="ko-KR" sz="1230">
                <a:solidFill>
                  <a:srgbClr val="1F2937"/>
                </a:solidFill>
                <a:latin typeface="Aptos"/>
                <a:ea typeface="Malgun Gothic"/>
              </a:rPr>
              <a:t>필요한 node를 건너뜀</a:t>
            </a:r>
          </a:p>
          <a:p>
            <a:pPr marL="228600" indent="-137160">
              <a:buChar char="•"/>
            </a:pPr>
            <a:r>
              <a:rPr lang="ko-KR" sz="1230">
                <a:solidFill>
                  <a:srgbClr val="1F2937"/>
                </a:solidFill>
                <a:latin typeface="Aptos"/>
                <a:ea typeface="Malgun Gothic"/>
              </a:rPr>
              <a:t>validation skip</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finalize 조기 진입</a:t>
            </a:r>
          </a:p>
          <a:p>
            <a:pPr marL="228600" indent="-137160">
              <a:buChar char="•"/>
            </a:pPr>
            <a:r>
              <a:rPr lang="ko-KR" sz="1230">
                <a:solidFill>
                  <a:srgbClr val="1F2937"/>
                </a:solidFill>
                <a:latin typeface="Aptos"/>
                <a:ea typeface="Malgun Gothic"/>
              </a:rPr>
              <a:t>error handler 반복</a:t>
            </a:r>
          </a:p>
          <a:p>
            <a:pPr marL="228600" indent="-137160">
              <a:buChar char="•"/>
            </a:pPr>
            <a:r>
              <a:rPr lang="ko-KR" sz="1230">
                <a:solidFill>
                  <a:srgbClr val="1F2937"/>
                </a:solidFill>
                <a:latin typeface="Aptos"/>
                <a:ea typeface="Malgun Gothic"/>
              </a:rPr>
              <a:t>예상과 다른 branch 선택</a:t>
            </a:r>
          </a:p>
          <a:p>
            <a:pPr marL="0" indent="0">
              <a:buNone/>
            </a:pPr>
            <a:r>
              <a:rPr lang="ko-KR" sz="1240">
                <a:solidFill>
                  <a:srgbClr val="334155"/>
                </a:solidFill>
                <a:latin typeface="Aptos"/>
                <a:ea typeface="Malgun Gothic"/>
              </a:rPr>
              <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Thought / Action / Observation 경로</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41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이벤트:</a:t>
            </a:r>
          </a:p>
          <a:p>
            <a:pPr marL="0" indent="0">
              <a:buNone/>
            </a:pPr>
            <a:r>
              <a:rPr lang="ko-KR" sz="980">
                <a:solidFill>
                  <a:srgbClr val="374151"/>
                </a:solidFill>
                <a:latin typeface="Menlo"/>
                <a:ea typeface="Malgun Gothic"/>
              </a:rPr>
              <a:t>react_step</a:t>
            </a:r>
          </a:p>
          <a:p>
            <a:pPr marL="0" indent="0">
              <a:buNone/>
            </a:pPr>
            <a:r>
              <a:rPr lang="ko-KR" sz="980">
                <a:solidFill>
                  <a:srgbClr val="374151"/>
                </a:solidFill>
                <a:latin typeface="Menlo"/>
                <a:ea typeface="Malgun Gothic"/>
              </a:rPr>
              <a:t>observation</a:t>
            </a:r>
          </a:p>
          <a:p>
            <a:pPr marL="0" indent="0">
              <a:buNone/>
            </a:pPr>
            <a:r>
              <a:rPr lang="ko-KR" sz="1240">
                <a:solidFill>
                  <a:srgbClr val="334155"/>
                </a:solidFill>
                <a:latin typeface="Aptos"/>
                <a:ea typeface="Malgun Gothic"/>
              </a:rPr>
              <a:t>기록 예:</a:t>
            </a:r>
          </a:p>
          <a:p>
            <a:pPr marL="0" indent="0">
              <a:buNone/>
            </a:pPr>
            <a:r>
              <a:rPr lang="ko-KR" sz="980">
                <a:solidFill>
                  <a:srgbClr val="374151"/>
                </a:solidFill>
                <a:latin typeface="Menlo"/>
                <a:ea typeface="Malgun Gothic"/>
              </a:rPr>
              <a:t>{</a:t>
            </a:r>
          </a:p>
          <a:p>
            <a:pPr marL="0" indent="0">
              <a:buNone/>
            </a:pPr>
            <a:r>
              <a:rPr lang="ko-KR" sz="980">
                <a:solidFill>
                  <a:srgbClr val="374151"/>
                </a:solidFill>
                <a:latin typeface="Menlo"/>
                <a:ea typeface="Malgun Gothic"/>
              </a:rPr>
              <a:t>  "type": "react_step",</a:t>
            </a:r>
          </a:p>
          <a:p>
            <a:pPr marL="0" indent="0">
              <a:buNone/>
            </a:pPr>
            <a:r>
              <a:rPr lang="ko-KR" sz="980">
                <a:solidFill>
                  <a:srgbClr val="374151"/>
                </a:solidFill>
                <a:latin typeface="Menlo"/>
                <a:ea typeface="Malgun Gothic"/>
              </a:rPr>
              <a:t>  "step": 3,</a:t>
            </a:r>
          </a:p>
          <a:p>
            <a:pPr marL="0" indent="0">
              <a:buNone/>
            </a:pPr>
            <a:r>
              <a:rPr lang="ko-KR" sz="980">
                <a:solidFill>
                  <a:srgbClr val="374151"/>
                </a:solidFill>
                <a:latin typeface="Menlo"/>
                <a:ea typeface="Malgun Gothic"/>
              </a:rPr>
              <a:t>  "thought": "Need structured log records",</a:t>
            </a:r>
          </a:p>
          <a:p>
            <a:pPr marL="0" indent="0">
              <a:buNone/>
            </a:pPr>
            <a:r>
              <a:rPr lang="ko-KR" sz="980">
                <a:solidFill>
                  <a:srgbClr val="374151"/>
                </a:solidFill>
                <a:latin typeface="Menlo"/>
                <a:ea typeface="Malgun Gothic"/>
              </a:rPr>
              <a:t>  "action": "parse_access_log",</a:t>
            </a:r>
          </a:p>
          <a:p>
            <a:pPr marL="0" indent="0">
              <a:buNone/>
            </a:pPr>
            <a:r>
              <a:rPr lang="ko-KR" sz="980">
                <a:solidFill>
                  <a:srgbClr val="374151"/>
                </a:solidFill>
                <a:latin typeface="Menlo"/>
                <a:ea typeface="Malgun Gothic"/>
              </a:rPr>
              <a:t>  "action_input": {"format": "nginx_combined"}</a:t>
            </a:r>
          </a:p>
          <a:p>
            <a:pPr marL="0" indent="0">
              <a:buNone/>
            </a:pPr>
            <a:r>
              <a:rPr lang="ko-KR" sz="980">
                <a:solidFill>
                  <a:srgbClr val="374151"/>
                </a:solidFill>
                <a:latin typeface="Menlo"/>
                <a:ea typeface="Malgun Gothic"/>
              </a:rPr>
              <a:t>}</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Judge Agent 활용:</a:t>
            </a:r>
          </a:p>
          <a:p>
            <a:pPr marL="228600" indent="-137160">
              <a:buChar char="•"/>
            </a:pPr>
            <a:r>
              <a:rPr lang="ko-KR" sz="1230">
                <a:solidFill>
                  <a:srgbClr val="1F2937"/>
                </a:solidFill>
                <a:latin typeface="Aptos"/>
                <a:ea typeface="Malgun Gothic"/>
              </a:rPr>
              <a:t>action sequence가 타당한지 평가</a:t>
            </a:r>
          </a:p>
          <a:p>
            <a:pPr marL="228600" indent="-137160">
              <a:buChar char="•"/>
            </a:pPr>
            <a:r>
              <a:rPr lang="ko-KR" sz="1230">
                <a:solidFill>
                  <a:srgbClr val="1F2937"/>
                </a:solidFill>
                <a:latin typeface="Aptos"/>
                <a:ea typeface="Malgun Gothic"/>
              </a:rPr>
              <a:t>같은 tool 반복 호출 탐지</a:t>
            </a:r>
          </a:p>
          <a:p>
            <a:pPr marL="228600" indent="-137160">
              <a:buChar char="•"/>
            </a:pPr>
            <a:r>
              <a:rPr lang="ko-KR" sz="1230">
                <a:solidFill>
                  <a:srgbClr val="1F2937"/>
                </a:solidFill>
                <a:latin typeface="Aptos"/>
                <a:ea typeface="Malgun Gothic"/>
              </a:rPr>
              <a:t>finish 조건 위반 탐지</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thought와 action 불일치 탐지</a:t>
            </a:r>
          </a:p>
          <a:p>
            <a:pPr marL="0" indent="0">
              <a:buNone/>
            </a:pPr>
            <a:r>
              <a:rPr lang="ko-KR" sz="1240">
                <a:solidFill>
                  <a:srgbClr val="334155"/>
                </a:solidFill>
                <a:latin typeface="Aptos"/>
                <a:ea typeface="Malgun Gothic"/>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Evidence Drift를 막는 핵심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42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이벤트:</a:t>
            </a:r>
          </a:p>
          <a:p>
            <a:pPr marL="228600" indent="-137160">
              <a:buChar char="•"/>
            </a:pPr>
            <a:r>
              <a:rPr lang="ko-KR" sz="1230">
                <a:solidFill>
                  <a:srgbClr val="1F2937"/>
                </a:solidFill>
                <a:latin typeface="Aptos"/>
                <a:ea typeface="Malgun Gothic"/>
              </a:rPr>
              <a:t>tool_start</a:t>
            </a:r>
          </a:p>
          <a:p>
            <a:pPr marL="228600" indent="-137160">
              <a:buChar char="•"/>
            </a:pPr>
            <a:r>
              <a:rPr lang="ko-KR" sz="1230">
                <a:solidFill>
                  <a:srgbClr val="1F2937"/>
                </a:solidFill>
                <a:latin typeface="Aptos"/>
                <a:ea typeface="Malgun Gothic"/>
              </a:rPr>
              <a:t>tool_end</a:t>
            </a:r>
          </a:p>
          <a:p>
            <a:pPr marL="228600" indent="-137160">
              <a:buChar char="•"/>
            </a:pPr>
            <a:r>
              <a:rPr lang="ko-KR" sz="1230">
                <a:solidFill>
                  <a:srgbClr val="1F2937"/>
                </a:solidFill>
                <a:latin typeface="Aptos"/>
                <a:ea typeface="Malgun Gothic"/>
              </a:rPr>
              <a:t>tool_error</a:t>
            </a:r>
          </a:p>
          <a:p>
            <a:pPr marL="0" indent="0">
              <a:buNone/>
            </a:pPr>
            <a:r>
              <a:rPr lang="ko-KR" sz="1240">
                <a:solidFill>
                  <a:srgbClr val="334155"/>
                </a:solidFill>
                <a:latin typeface="Aptos"/>
                <a:ea typeface="Malgun Gothic"/>
              </a:rPr>
              <a:t>기록 대상:</a:t>
            </a:r>
          </a:p>
          <a:p>
            <a:pPr marL="228600" indent="-137160">
              <a:buChar char="•"/>
            </a:pPr>
            <a:r>
              <a:rPr lang="ko-KR" sz="1230">
                <a:solidFill>
                  <a:srgbClr val="1F2937"/>
                </a:solidFill>
                <a:latin typeface="Aptos"/>
                <a:ea typeface="Malgun Gothic"/>
              </a:rPr>
              <a:t>tool name</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arguments</a:t>
            </a:r>
          </a:p>
          <a:p>
            <a:pPr marL="228600" indent="-137160">
              <a:buChar char="•"/>
            </a:pPr>
            <a:r>
              <a:rPr lang="ko-KR" sz="1230">
                <a:solidFill>
                  <a:srgbClr val="1F2937"/>
                </a:solidFill>
                <a:latin typeface="Aptos"/>
                <a:ea typeface="Malgun Gothic"/>
              </a:rPr>
              <a:t>output summary</a:t>
            </a:r>
          </a:p>
          <a:p>
            <a:pPr marL="228600" indent="-137160">
              <a:buChar char="•"/>
            </a:pPr>
            <a:r>
              <a:rPr lang="ko-KR" sz="1230">
                <a:solidFill>
                  <a:srgbClr val="1F2937"/>
                </a:solidFill>
                <a:latin typeface="Aptos"/>
                <a:ea typeface="Malgun Gothic"/>
              </a:rPr>
              <a:t>error type/message</a:t>
            </a:r>
          </a:p>
          <a:p>
            <a:pPr marL="0" indent="0">
              <a:buNone/>
            </a:pPr>
            <a:r>
              <a:rPr lang="ko-KR" sz="1240">
                <a:solidFill>
                  <a:srgbClr val="334155"/>
                </a:solidFill>
                <a:latin typeface="Aptos"/>
                <a:ea typeface="Malgun Gothic"/>
              </a:rPr>
              <a:t>중요 원칙:</a:t>
            </a:r>
          </a:p>
          <a:p>
            <a:pPr marL="228600" indent="-137160">
              <a:buChar char="•"/>
            </a:pPr>
            <a:r>
              <a:rPr lang="ko-KR" sz="1230">
                <a:solidFill>
                  <a:srgbClr val="1F2937"/>
                </a:solidFill>
                <a:latin typeface="Aptos"/>
                <a:ea typeface="Malgun Gothic"/>
              </a:rPr>
              <a:t>raw records/logs는 redaction 또는 summary 처리</a:t>
            </a:r>
          </a:p>
          <a:p>
            <a:pPr marL="228600" indent="-137160">
              <a:buChar char="•"/>
            </a:pPr>
            <a:r>
              <a:rPr lang="ko-KR" sz="1230">
                <a:solidFill>
                  <a:srgbClr val="1F2937"/>
                </a:solidFill>
                <a:latin typeface="Aptos"/>
                <a:ea typeface="Malgun Gothic"/>
              </a:rPr>
              <a:t>metric claim은 compute tool result와 연결</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tool failure는 final limitation에 반영</a:t>
            </a:r>
          </a:p>
          <a:p>
            <a:pPr marL="0" indent="0">
              <a:buNone/>
            </a:pPr>
            <a:r>
              <a:rPr lang="ko-KR" sz="1240">
                <a:solidFill>
                  <a:srgbClr val="334155"/>
                </a:solidFill>
                <a:latin typeface="Aptos"/>
                <a:ea typeface="Malgun Gothic"/>
              </a:rPr>
              <a:t>Judge Agent 질문:</a:t>
            </a:r>
          </a:p>
          <a:p>
            <a:pPr marL="0" indent="0">
              <a:buNone/>
            </a:pPr>
            <a:r>
              <a:rPr lang="ko-KR" sz="1250">
                <a:solidFill>
                  <a:srgbClr val="475569"/>
                </a:solidFill>
                <a:latin typeface="Aptos"/>
                <a:ea typeface="Malgun Gothic"/>
              </a:rPr>
              <a:t>“최종 보고서의 수치 주장은 실제 tool output으로부터 나왔는가?”</a:t>
            </a:r>
          </a:p>
          <a:p>
            <a:pPr marL="0" indent="0">
              <a:buNone/>
            </a:pPr>
            <a:r>
              <a:rPr lang="ko-KR" sz="1240">
                <a:solidFill>
                  <a:srgbClr val="334155"/>
                </a:solidFill>
                <a:latin typeface="Aptos"/>
                <a:ea typeface="Malgun Gothic"/>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모델 호출을 재현 가능하게 만든다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43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이벤트:</a:t>
            </a:r>
          </a:p>
          <a:p>
            <a:pPr marL="228600" indent="-137160">
              <a:buChar char="•"/>
            </a:pPr>
            <a:r>
              <a:rPr lang="ko-KR" sz="1230">
                <a:solidFill>
                  <a:srgbClr val="1F2937"/>
                </a:solidFill>
                <a:latin typeface="Aptos"/>
                <a:ea typeface="Malgun Gothic"/>
              </a:rPr>
              <a:t>llm_start</a:t>
            </a:r>
          </a:p>
          <a:p>
            <a:pPr marL="228600" indent="-137160">
              <a:buChar char="•"/>
            </a:pPr>
            <a:r>
              <a:rPr lang="ko-KR" sz="1230">
                <a:solidFill>
                  <a:srgbClr val="1F2937"/>
                </a:solidFill>
                <a:latin typeface="Aptos"/>
                <a:ea typeface="Malgun Gothic"/>
              </a:rPr>
              <a:t>llm_end</a:t>
            </a:r>
          </a:p>
          <a:p>
            <a:pPr marL="228600" indent="-137160">
              <a:buChar char="•"/>
            </a:pPr>
            <a:r>
              <a:rPr lang="ko-KR" sz="1230">
                <a:solidFill>
                  <a:srgbClr val="1F2937"/>
                </a:solidFill>
                <a:latin typeface="Aptos"/>
                <a:ea typeface="Malgun Gothic"/>
              </a:rPr>
              <a:t>llm_error</a:t>
            </a:r>
          </a:p>
          <a:p>
            <a:pPr marL="228600" indent="-137160">
              <a:buChar char="•"/>
            </a:pPr>
            <a:r>
              <a:rPr lang="ko-KR" sz="1230">
                <a:solidFill>
                  <a:srgbClr val="1F2937"/>
                </a:solidFill>
                <a:latin typeface="Aptos"/>
                <a:ea typeface="Malgun Gothic"/>
              </a:rPr>
              <a:t>llm_skipped</a:t>
            </a:r>
          </a:p>
          <a:p>
            <a:pPr marL="0" indent="0">
              <a:buNone/>
            </a:pPr>
            <a:r>
              <a:rPr lang="ko-KR" sz="1240">
                <a:solidFill>
                  <a:srgbClr val="334155"/>
                </a:solidFill>
                <a:latin typeface="Aptos"/>
                <a:ea typeface="Malgun Gothic"/>
              </a:rPr>
              <a:t>기록 대상:</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model</a:t>
            </a:r>
          </a:p>
          <a:p>
            <a:pPr marL="228600" indent="-137160">
              <a:buChar char="•"/>
            </a:pPr>
            <a:r>
              <a:rPr lang="ko-KR" sz="1230">
                <a:solidFill>
                  <a:srgbClr val="1F2937"/>
                </a:solidFill>
                <a:latin typeface="Aptos"/>
                <a:ea typeface="Malgun Gothic"/>
              </a:rPr>
              <a:t>messages 또는 안전한 projection</a:t>
            </a:r>
          </a:p>
          <a:p>
            <a:pPr marL="228600" indent="-137160">
              <a:buChar char="•"/>
            </a:pPr>
            <a:r>
              <a:rPr lang="ko-KR" sz="1230">
                <a:solidFill>
                  <a:srgbClr val="1F2937"/>
                </a:solidFill>
                <a:latin typeface="Aptos"/>
                <a:ea typeface="Malgun Gothic"/>
              </a:rPr>
              <a:t>response content</a:t>
            </a:r>
          </a:p>
          <a:p>
            <a:pPr marL="228600" indent="-137160">
              <a:buChar char="•"/>
            </a:pPr>
            <a:r>
              <a:rPr lang="ko-KR" sz="1230">
                <a:solidFill>
                  <a:srgbClr val="1F2937"/>
                </a:solidFill>
                <a:latin typeface="Aptos"/>
                <a:ea typeface="Malgun Gothic"/>
              </a:rPr>
              <a:t>usage</a:t>
            </a:r>
          </a:p>
          <a:p>
            <a:pPr marL="228600" indent="-137160">
              <a:buChar char="•"/>
            </a:pPr>
            <a:r>
              <a:rPr lang="ko-KR" sz="1230">
                <a:solidFill>
                  <a:srgbClr val="1F2937"/>
                </a:solidFill>
                <a:latin typeface="Aptos"/>
                <a:ea typeface="Malgun Gothic"/>
              </a:rPr>
              <a:t>latency</a:t>
            </a:r>
          </a:p>
          <a:p>
            <a:pPr marL="228600" indent="-137160">
              <a:buChar char="•"/>
            </a:pPr>
            <a:r>
              <a:rPr lang="ko-KR" sz="1230">
                <a:solidFill>
                  <a:srgbClr val="1F2937"/>
                </a:solidFill>
                <a:latin typeface="Aptos"/>
                <a:ea typeface="Malgun Gothic"/>
              </a:rPr>
              <a:t>error</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Drift 분석 포인트:</a:t>
            </a:r>
          </a:p>
          <a:p>
            <a:pPr marL="228600" indent="-137160">
              <a:buChar char="•"/>
            </a:pPr>
            <a:r>
              <a:rPr lang="ko-KR" sz="1230">
                <a:solidFill>
                  <a:srgbClr val="1F2937"/>
                </a:solidFill>
                <a:latin typeface="Aptos"/>
                <a:ea typeface="Malgun Gothic"/>
              </a:rPr>
              <a:t>LLM이 잘못된 action을 선택했는가?</a:t>
            </a:r>
          </a:p>
          <a:p>
            <a:pPr marL="228600" indent="-137160">
              <a:buChar char="•"/>
            </a:pPr>
            <a:r>
              <a:rPr lang="ko-KR" sz="1230">
                <a:solidFill>
                  <a:srgbClr val="1F2937"/>
                </a:solidFill>
                <a:latin typeface="Aptos"/>
                <a:ea typeface="Malgun Gothic"/>
              </a:rPr>
              <a:t>fallback policy가 개입했는가?</a:t>
            </a:r>
          </a:p>
          <a:p>
            <a:pPr marL="228600" indent="-137160">
              <a:buChar char="•"/>
            </a:pPr>
            <a:r>
              <a:rPr lang="ko-KR" sz="1230">
                <a:solidFill>
                  <a:srgbClr val="1F2937"/>
                </a:solidFill>
                <a:latin typeface="Aptos"/>
                <a:ea typeface="Malgun Gothic"/>
              </a:rPr>
              <a:t>token 사용량이 급증했는가?</a:t>
            </a:r>
          </a:p>
          <a:p>
            <a:pPr marL="228600" indent="-137160">
              <a:buChar char="•"/>
            </a:pPr>
            <a:r>
              <a:rPr lang="ko-KR" sz="1230">
                <a:solidFill>
                  <a:srgbClr val="1F2937"/>
                </a:solidFill>
                <a:latin typeface="Aptos"/>
                <a:ea typeface="Malgun Gothic"/>
              </a:rPr>
              <a:t>특정 model version에서 drift가 증가했는가?</a:t>
            </a:r>
          </a:p>
          <a:p>
            <a:pPr marL="0" indent="0">
              <a:buNone/>
            </a:pPr>
            <a:r>
              <a:rPr lang="ko-KR" sz="1240">
                <a:solidFill>
                  <a:srgbClr val="334155"/>
                </a:solidFill>
                <a:latin typeface="Aptos"/>
                <a:ea typeface="Malgun Gothic"/>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외부 컨텍스트의 출처 추적</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44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RAG telemetry:</a:t>
            </a:r>
          </a:p>
          <a:p>
            <a:pPr marL="228600" indent="-137160">
              <a:buChar char="•"/>
            </a:pPr>
            <a:r>
              <a:rPr lang="ko-KR" sz="1230">
                <a:solidFill>
                  <a:srgbClr val="1F2937"/>
                </a:solidFill>
                <a:latin typeface="Aptos"/>
                <a:ea typeface="Malgun Gothic"/>
              </a:rPr>
              <a:t>query</a:t>
            </a:r>
          </a:p>
          <a:p>
            <a:pPr marL="228600" indent="-137160">
              <a:buChar char="•"/>
            </a:pPr>
            <a:r>
              <a:rPr lang="ko-KR" sz="1230">
                <a:solidFill>
                  <a:srgbClr val="1F2937"/>
                </a:solidFill>
                <a:latin typeface="Aptos"/>
                <a:ea typeface="Malgun Gothic"/>
              </a:rPr>
              <a:t>retrieved documents</a:t>
            </a:r>
          </a:p>
          <a:p>
            <a:pPr marL="228600" indent="-137160">
              <a:buChar char="•"/>
            </a:pPr>
            <a:r>
              <a:rPr lang="ko-KR" sz="1230">
                <a:solidFill>
                  <a:srgbClr val="1F2937"/>
                </a:solidFill>
                <a:latin typeface="Aptos"/>
                <a:ea typeface="Malgun Gothic"/>
              </a:rPr>
              <a:t>doc_id</a:t>
            </a:r>
          </a:p>
          <a:p>
            <a:pPr marL="228600" indent="-137160">
              <a:buChar char="•"/>
            </a:pPr>
            <a:r>
              <a:rPr lang="ko-KR" sz="1230">
                <a:solidFill>
                  <a:srgbClr val="1F2937"/>
                </a:solidFill>
                <a:latin typeface="Aptos"/>
                <a:ea typeface="Malgun Gothic"/>
              </a:rPr>
              <a:t>score</a:t>
            </a:r>
          </a:p>
          <a:p>
            <a:pPr marL="228600" indent="-137160">
              <a:buChar char="•"/>
            </a:pPr>
            <a:r>
              <a:rPr lang="ko-KR" sz="1230">
                <a:solidFill>
                  <a:srgbClr val="1F2937"/>
                </a:solidFill>
                <a:latin typeface="Aptos"/>
                <a:ea typeface="Malgun Gothic"/>
              </a:rPr>
              <a:t>source</a:t>
            </a:r>
          </a:p>
          <a:p>
            <a:pPr marL="0" indent="0">
              <a:buNone/>
            </a:pPr>
            <a:r>
              <a:rPr lang="ko-KR" sz="1240">
                <a:solidFill>
                  <a:srgbClr val="334155"/>
                </a:solidFill>
                <a:latin typeface="Aptos"/>
                <a:ea typeface="Malgun Gothic"/>
              </a:rPr>
              <a:t>MCP telemetry:</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server</a:t>
            </a:r>
          </a:p>
          <a:p>
            <a:pPr marL="228600" indent="-137160">
              <a:buChar char="•"/>
            </a:pPr>
            <a:r>
              <a:rPr lang="ko-KR" sz="1230">
                <a:solidFill>
                  <a:srgbClr val="1F2937"/>
                </a:solidFill>
                <a:latin typeface="Aptos"/>
                <a:ea typeface="Malgun Gothic"/>
              </a:rPr>
              <a:t>method</a:t>
            </a:r>
          </a:p>
          <a:p>
            <a:pPr marL="228600" indent="-137160">
              <a:buChar char="•"/>
            </a:pPr>
            <a:r>
              <a:rPr lang="ko-KR" sz="1230">
                <a:solidFill>
                  <a:srgbClr val="1F2937"/>
                </a:solidFill>
                <a:latin typeface="Aptos"/>
                <a:ea typeface="Malgun Gothic"/>
              </a:rPr>
              <a:t>tool name</a:t>
            </a:r>
          </a:p>
          <a:p>
            <a:pPr marL="228600" indent="-137160">
              <a:buChar char="•"/>
            </a:pPr>
            <a:r>
              <a:rPr lang="ko-KR" sz="1230">
                <a:solidFill>
                  <a:srgbClr val="1F2937"/>
                </a:solidFill>
                <a:latin typeface="Aptos"/>
                <a:ea typeface="Malgun Gothic"/>
              </a:rPr>
              <a:t>arguments</a:t>
            </a:r>
          </a:p>
          <a:p>
            <a:pPr marL="228600" indent="-137160">
              <a:buChar char="•"/>
            </a:pPr>
            <a:r>
              <a:rPr lang="ko-KR" sz="1230">
                <a:solidFill>
                  <a:srgbClr val="1F2937"/>
                </a:solidFill>
                <a:latin typeface="Aptos"/>
                <a:ea typeface="Malgun Gothic"/>
              </a:rPr>
              <a:t>output</a:t>
            </a:r>
          </a:p>
          <a:p>
            <a:pPr marL="228600" indent="-137160">
              <a:buChar char="•"/>
            </a:pPr>
            <a:r>
              <a:rPr lang="ko-KR" sz="1230">
                <a:solidFill>
                  <a:srgbClr val="1F2937"/>
                </a:solidFill>
                <a:latin typeface="Aptos"/>
                <a:ea typeface="Malgun Gothic"/>
              </a:rPr>
              <a:t>error</a:t>
            </a:r>
          </a:p>
          <a:p>
            <a:pPr marL="0" indent="0">
              <a:buNone/>
            </a:pPr>
            <a:r>
              <a:rPr lang="ko-KR" sz="1240">
                <a:solidFill>
                  <a:srgbClr val="334155"/>
                </a:solidFill>
                <a:latin typeface="Aptos"/>
                <a:ea typeface="Malgun Gothic"/>
              </a:rPr>
              <a:t>탐지 가능한 문제:</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관련 없는 runbook 검색</a:t>
            </a:r>
          </a:p>
          <a:p>
            <a:pPr marL="228600" indent="-137160">
              <a:buChar char="•"/>
            </a:pPr>
            <a:r>
              <a:rPr lang="ko-KR" sz="1230">
                <a:solidFill>
                  <a:srgbClr val="1F2937"/>
                </a:solidFill>
                <a:latin typeface="Aptos"/>
                <a:ea typeface="Malgun Gothic"/>
              </a:rPr>
              <a:t>낮은 score 문서를 근거로 사용</a:t>
            </a:r>
          </a:p>
          <a:p>
            <a:pPr marL="228600" indent="-137160">
              <a:buChar char="•"/>
            </a:pPr>
            <a:r>
              <a:rPr lang="ko-KR" sz="1230">
                <a:solidFill>
                  <a:srgbClr val="1F2937"/>
                </a:solidFill>
                <a:latin typeface="Aptos"/>
                <a:ea typeface="Malgun Gothic"/>
              </a:rPr>
              <a:t>MCP owner/SLO 정보 누락</a:t>
            </a:r>
          </a:p>
          <a:p>
            <a:pPr marL="228600" indent="-137160">
              <a:buChar char="•"/>
            </a:pPr>
            <a:r>
              <a:rPr lang="ko-KR" sz="1230">
                <a:solidFill>
                  <a:srgbClr val="1F2937"/>
                </a:solidFill>
                <a:latin typeface="Aptos"/>
                <a:ea typeface="Malgun Gothic"/>
              </a:rPr>
              <a:t>service metadata와 final report 불일치</a:t>
            </a:r>
          </a:p>
          <a:p>
            <a:pPr marL="0" indent="0">
              <a:buNone/>
            </a:pPr>
            <a:r>
              <a:rPr lang="ko-KR" sz="1240">
                <a:solidFill>
                  <a:srgbClr val="334155"/>
                </a:solidFill>
                <a:latin typeface="Aptos"/>
                <a:ea typeface="Malgun Gothic"/>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최종 품질 Gate</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45 / 62</a:t>
            </a:r>
          </a:p>
        </p:txBody>
      </p:sp>
      <p:sp>
        <p:nvSpPr>
          <p:cNvPr id="8" name="content card 0"/>
          <p:cNvSpPr/>
          <p:nvPr/>
        </p:nvSpPr>
        <p:spPr>
          <a:xfrm>
            <a:off x="650000" y="1040000"/>
            <a:ext cx="3513333" cy="472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이벤트:</a:t>
            </a:r>
          </a:p>
          <a:p>
            <a:pPr marL="0" indent="0">
              <a:buNone/>
            </a:pPr>
            <a:r>
              <a:rPr lang="ko-KR" sz="980">
                <a:solidFill>
                  <a:srgbClr val="374151"/>
                </a:solidFill>
                <a:latin typeface="Menlo"/>
                <a:ea typeface="Malgun Gothic"/>
              </a:rPr>
              <a:t>validation_result</a:t>
            </a:r>
          </a:p>
          <a:p>
            <a:pPr marL="0" indent="0">
              <a:buNone/>
            </a:pPr>
            <a:r>
              <a:rPr lang="ko-KR" sz="1240">
                <a:solidFill>
                  <a:srgbClr val="334155"/>
                </a:solidFill>
                <a:latin typeface="Aptos"/>
                <a:ea typeface="Malgun Gothic"/>
              </a:rPr>
              <a:t>검증 항목 예:</a:t>
            </a:r>
          </a:p>
          <a:p>
            <a:pPr marL="228600" indent="-137160">
              <a:buChar char="•"/>
            </a:pPr>
            <a:r>
              <a:rPr lang="ko-KR" sz="1230">
                <a:solidFill>
                  <a:srgbClr val="1F2937"/>
                </a:solidFill>
                <a:latin typeface="Aptos"/>
                <a:ea typeface="Malgun Gothic"/>
              </a:rPr>
              <a:t>metrics_present</a:t>
            </a:r>
          </a:p>
        </p:txBody>
      </p:sp>
      <p:sp>
        <p:nvSpPr>
          <p:cNvPr id="10" name="content card 1"/>
          <p:cNvSpPr/>
          <p:nvPr/>
        </p:nvSpPr>
        <p:spPr>
          <a:xfrm>
            <a:off x="4343333" y="1040000"/>
            <a:ext cx="3513333" cy="472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58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anomalies_have_evidence</a:t>
            </a:r>
          </a:p>
          <a:p>
            <a:pPr marL="228600" indent="-137160">
              <a:buChar char="•"/>
            </a:pPr>
            <a:r>
              <a:rPr lang="ko-KR" sz="1230">
                <a:solidFill>
                  <a:srgbClr val="1F2937"/>
                </a:solidFill>
                <a:latin typeface="Aptos"/>
                <a:ea typeface="Malgun Gothic"/>
              </a:rPr>
              <a:t>rag_context_present</a:t>
            </a:r>
          </a:p>
          <a:p>
            <a:pPr marL="228600" indent="-137160">
              <a:buChar char="•"/>
            </a:pPr>
            <a:r>
              <a:rPr lang="ko-KR" sz="1230">
                <a:solidFill>
                  <a:srgbClr val="1F2937"/>
                </a:solidFill>
                <a:latin typeface="Aptos"/>
                <a:ea typeface="Malgun Gothic"/>
              </a:rPr>
              <a:t>mcp_context_present</a:t>
            </a:r>
          </a:p>
          <a:p>
            <a:pPr marL="228600" indent="-137160">
              <a:buChar char="•"/>
            </a:pPr>
            <a:r>
              <a:rPr lang="ko-KR" sz="1230">
                <a:solidFill>
                  <a:srgbClr val="1F2937"/>
                </a:solidFill>
                <a:latin typeface="Aptos"/>
                <a:ea typeface="Malgun Gothic"/>
              </a:rPr>
              <a:t>output_contract</a:t>
            </a:r>
          </a:p>
        </p:txBody>
      </p:sp>
      <p:sp>
        <p:nvSpPr>
          <p:cNvPr id="12" name="content card 2"/>
          <p:cNvSpPr/>
          <p:nvPr/>
        </p:nvSpPr>
        <p:spPr>
          <a:xfrm>
            <a:off x="8036666" y="1040000"/>
            <a:ext cx="3513333" cy="472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58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payload:</a:t>
            </a:r>
          </a:p>
          <a:p>
            <a:pPr marL="0" indent="0">
              <a:buNone/>
            </a:pPr>
            <a:r>
              <a:rPr lang="ko-KR" sz="980">
                <a:solidFill>
                  <a:srgbClr val="374151"/>
                </a:solidFill>
                <a:latin typeface="Menlo"/>
                <a:ea typeface="Malgun Gothic"/>
              </a:rPr>
              <a:t>{</a:t>
            </a:r>
          </a:p>
          <a:p>
            <a:pPr marL="0" indent="0">
              <a:buNone/>
            </a:pPr>
            <a:r>
              <a:rPr lang="ko-KR" sz="980">
                <a:solidFill>
                  <a:srgbClr val="374151"/>
                </a:solidFill>
                <a:latin typeface="Menlo"/>
                <a:ea typeface="Malgun Gothic"/>
              </a:rPr>
              <a:t>  "passed": false,</a:t>
            </a:r>
          </a:p>
          <a:p>
            <a:pPr marL="0" indent="0">
              <a:buNone/>
            </a:pPr>
            <a:r>
              <a:rPr lang="ko-KR" sz="980">
                <a:solidFill>
                  <a:srgbClr val="374151"/>
                </a:solidFill>
                <a:latin typeface="Menlo"/>
                <a:ea typeface="Malgun Gothic"/>
              </a:rPr>
              <a:t>  "checks": ["metrics_present", "output_contract"],</a:t>
            </a:r>
          </a:p>
          <a:p>
            <a:pPr marL="0" indent="0">
              <a:buNone/>
            </a:pPr>
            <a:r>
              <a:rPr lang="ko-KR" sz="980">
                <a:solidFill>
                  <a:srgbClr val="374151"/>
                </a:solidFill>
                <a:latin typeface="Menlo"/>
                <a:ea typeface="Malgun Gothic"/>
              </a:rPr>
              <a:t>  "issues": ["final report missing Evidence section"]</a:t>
            </a:r>
          </a:p>
          <a:p>
            <a:pPr marL="0" indent="0">
              <a:buNone/>
            </a:pPr>
            <a:r>
              <a:rPr lang="ko-KR" sz="980">
                <a:solidFill>
                  <a:srgbClr val="374151"/>
                </a:solidFill>
                <a:latin typeface="Menlo"/>
                <a:ea typeface="Malgun Gothic"/>
              </a:rPr>
              <a:t>}</a:t>
            </a:r>
          </a:p>
        </p:txBody>
      </p:sp>
      <p:sp>
        <p:nvSpPr>
          <p:cNvPr id="14" name="note card"/>
          <p:cNvSpPr/>
          <p:nvPr/>
        </p:nvSpPr>
        <p:spPr>
          <a:xfrm>
            <a:off x="650000" y="6100000"/>
            <a:ext cx="9700000" cy="430000"/>
          </a:xfrm>
          <a:prstGeom prst="roundRect"/>
          <a:solidFill>
            <a:srgbClr val="F8FAFC"/>
          </a:solidFill>
          <a:ln w="7620">
            <a:solidFill>
              <a:srgbClr val="E2E8F0"/>
            </a:solidFill>
          </a:ln>
        </p:spPr>
        <p:txBody>
          <a:bodyPr/>
          <a:lstStyle/>
          <a:p/>
        </p:txBody>
      </p:sp>
      <p:sp>
        <p:nvSpPr>
          <p:cNvPr id="15" name="note text"/>
          <p:cNvSpPr txBox="1"/>
          <p:nvPr/>
        </p:nvSpPr>
        <p:spPr>
          <a:xfrm>
            <a:off x="720000" y="6170000"/>
            <a:ext cx="9560000" cy="300000"/>
          </a:xfrm>
          <a:prstGeom prst="rect"/>
          <a:noFill/>
          <a:ln>
            <a:noFill/>
          </a:ln>
        </p:spPr>
        <p:txBody>
          <a:bodyPr wrap="square" lIns="91440" tIns="68580" rIns="91440" bIns="68580"/>
          <a:lstStyle/>
          <a:p>
            <a:pPr marL="0" indent="0">
              <a:buNone/>
            </a:pPr>
            <a:r>
              <a:rPr lang="ko-KR" sz="950">
                <a:solidFill>
                  <a:srgbClr val="64748B"/>
                </a:solidFill>
                <a:latin typeface="Aptos"/>
                <a:ea typeface="Malgun Gothic"/>
              </a:rPr>
              <a:t>발표자 노트 · Validation telemetry는 Judge Agent의 1차 입력이자, 운영 대시보드에서 품질 회귀를 보는 핵심 지표다. ---</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어떤 telemetry가 어떤 drift를 잡는가</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46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Drift 유형 | 필요한 이벤트</a:t>
            </a:r>
          </a:p>
          <a:p>
            <a:pPr marL="0" indent="0">
              <a:buNone/>
            </a:pPr>
            <a:r>
              <a:rPr lang="ko-KR" sz="1120">
                <a:solidFill>
                  <a:srgbClr val="1F2937"/>
                </a:solidFill>
                <a:latin typeface="Aptos"/>
                <a:ea typeface="Malgun Gothic"/>
              </a:rPr>
              <a:t>Goal drift | run_start, final_output, validation_result</a:t>
            </a:r>
          </a:p>
          <a:p>
            <a:pPr marL="0" indent="0">
              <a:buNone/>
            </a:pPr>
            <a:r>
              <a:rPr lang="ko-KR" sz="1120">
                <a:solidFill>
                  <a:srgbClr val="1F2937"/>
                </a:solidFill>
                <a:latin typeface="Aptos"/>
                <a:ea typeface="Malgun Gothic"/>
              </a:rPr>
              <a:t>Prompt drift | instruction_snapshot</a:t>
            </a:r>
          </a:p>
          <a:p>
            <a:pPr marL="0" indent="0">
              <a:buNone/>
            </a:pPr>
            <a:r>
              <a:rPr lang="ko-KR" sz="1120">
                <a:solidFill>
                  <a:srgbClr val="1F2937"/>
                </a:solidFill>
                <a:latin typeface="Aptos"/>
                <a:ea typeface="Malgun Gothic"/>
              </a:rPr>
              <a:t>Tool drift | react_step, tool_start/end</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Evidence drift | tool_end, final_output, validation_result</a:t>
            </a:r>
          </a:p>
          <a:p>
            <a:pPr marL="0" indent="0">
              <a:buNone/>
            </a:pPr>
            <a:r>
              <a:rPr lang="ko-KR" sz="1120">
                <a:solidFill>
                  <a:srgbClr val="1F2937"/>
                </a:solidFill>
                <a:latin typeface="Aptos"/>
                <a:ea typeface="Malgun Gothic"/>
              </a:rPr>
              <a:t>RAG drift | retrieval result, final_output</a:t>
            </a:r>
          </a:p>
          <a:p>
            <a:pPr marL="0" indent="0">
              <a:buNone/>
            </a:pPr>
            <a:r>
              <a:rPr lang="ko-KR" sz="1120">
                <a:solidFill>
                  <a:srgbClr val="1F2937"/>
                </a:solidFill>
                <a:latin typeface="Aptos"/>
                <a:ea typeface="Malgun Gothic"/>
              </a:rPr>
              <a:t>MCP drift | mcp_end, final_output</a:t>
            </a:r>
          </a:p>
          <a:p>
            <a:pPr marL="0" indent="0">
              <a:buNone/>
            </a:pPr>
            <a:r>
              <a:rPr lang="ko-KR" sz="1120">
                <a:solidFill>
                  <a:srgbClr val="1F2937"/>
                </a:solidFill>
                <a:latin typeface="Aptos"/>
                <a:ea typeface="Malgun Gothic"/>
              </a:rPr>
              <a:t>Handoff drift | node_start/end, edge_selected</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120">
                <a:solidFill>
                  <a:srgbClr val="1F2937"/>
                </a:solidFill>
                <a:latin typeface="Aptos"/>
                <a:ea typeface="Malgun Gothic"/>
              </a:rPr>
              <a:t>Context bloat | llm_start messages, token usage, state snapshot</a:t>
            </a:r>
          </a:p>
          <a:p>
            <a:pPr marL="0" indent="0">
              <a:buNone/>
            </a:pPr>
            <a:r>
              <a:rPr lang="ko-KR" sz="1120">
                <a:solidFill>
                  <a:srgbClr val="1F2937"/>
                </a:solidFill>
                <a:latin typeface="Aptos"/>
                <a:ea typeface="Malgun Gothic"/>
              </a:rPr>
              <a:t>Context poisoning | checkpoints, node state diff, errors</a:t>
            </a:r>
          </a:p>
          <a:p>
            <a:pPr marL="0" indent="0">
              <a:buNone/>
            </a:pPr>
            <a:r>
              <a:rPr lang="ko-KR" sz="1240">
                <a:solidFill>
                  <a:srgbClr val="334155"/>
                </a:solidFill>
                <a:latin typeface="Aptos"/>
                <a:ea typeface="Malgun Gothic"/>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최소 구현</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47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TraceLogger 또는 호환 sink 구현</a:t>
            </a:r>
          </a:p>
          <a:p>
            <a:pPr marL="228600" indent="-137160">
              <a:buChar char="•"/>
            </a:pPr>
            <a:r>
              <a:rPr lang="ko-KR" sz="1230">
                <a:solidFill>
                  <a:srgbClr val="1F2937"/>
                </a:solidFill>
                <a:latin typeface="Aptos"/>
                <a:ea typeface="Malgun Gothic"/>
              </a:rPr>
              <a:t>run_start / run_end 기록</a:t>
            </a:r>
          </a:p>
          <a:p>
            <a:pPr marL="228600" indent="-137160">
              <a:buChar char="•"/>
            </a:pPr>
            <a:r>
              <a:rPr lang="ko-KR" sz="1230">
                <a:solidFill>
                  <a:srgbClr val="1F2937"/>
                </a:solidFill>
                <a:latin typeface="Aptos"/>
                <a:ea typeface="Malgun Gothic"/>
              </a:rPr>
              <a:t>instruction_snapshot 기록</a:t>
            </a:r>
          </a:p>
          <a:p>
            <a:pPr marL="228600" indent="-137160">
              <a:buChar char="•"/>
            </a:pPr>
            <a:r>
              <a:rPr lang="ko-KR" sz="1230">
                <a:solidFill>
                  <a:srgbClr val="1F2937"/>
                </a:solidFill>
                <a:latin typeface="Aptos"/>
                <a:ea typeface="Malgun Gothic"/>
              </a:rPr>
              <a:t>LLM call start/end/error 기록</a:t>
            </a:r>
          </a:p>
          <a:p>
            <a:pPr marL="228600" indent="-137160">
              <a:buChar char="•"/>
            </a:pPr>
            <a:r>
              <a:rPr lang="ko-KR" sz="1230">
                <a:solidFill>
                  <a:srgbClr val="1F2937"/>
                </a:solidFill>
                <a:latin typeface="Aptos"/>
                <a:ea typeface="Malgun Gothic"/>
              </a:rPr>
              <a:t>tool call start/end/error 기록</a:t>
            </a:r>
          </a:p>
          <a:p>
            <a:pPr marL="228600" indent="-137160">
              <a:buChar char="•"/>
            </a:pPr>
            <a:r>
              <a:rPr lang="ko-KR" sz="1230">
                <a:solidFill>
                  <a:srgbClr val="1F2937"/>
                </a:solidFill>
                <a:latin typeface="Aptos"/>
                <a:ea typeface="Malgun Gothic"/>
              </a:rPr>
              <a:t>final_output 기록</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validation_result 기록</a:t>
            </a:r>
          </a:p>
          <a:p>
            <a:pPr marL="228600" indent="-137160">
              <a:buChar char="•"/>
            </a:pPr>
            <a:r>
              <a:rPr lang="ko-KR" sz="1230">
                <a:solidFill>
                  <a:srgbClr val="1F2937"/>
                </a:solidFill>
                <a:latin typeface="Aptos"/>
                <a:ea typeface="Malgun Gothic"/>
              </a:rPr>
              <a:t>redaction 적용</a:t>
            </a:r>
          </a:p>
          <a:p>
            <a:pPr marL="0" indent="0">
              <a:buNone/>
            </a:pPr>
            <a:r>
              <a:rPr lang="ko-KR" sz="1240">
                <a:solidFill>
                  <a:srgbClr val="334155"/>
                </a:solidFill>
                <a:latin typeface="Aptos"/>
                <a:ea typeface="Malgun Gothic"/>
              </a:rPr>
              <a:t>권장 추가:</a:t>
            </a:r>
          </a:p>
          <a:p>
            <a:pPr marL="228600" indent="-137160">
              <a:buChar char="•"/>
            </a:pPr>
            <a:r>
              <a:rPr lang="ko-KR" sz="1230">
                <a:solidFill>
                  <a:srgbClr val="1F2937"/>
                </a:solidFill>
                <a:latin typeface="Aptos"/>
                <a:ea typeface="Malgun Gothic"/>
              </a:rPr>
              <a:t>node_start / node_end</a:t>
            </a:r>
          </a:p>
          <a:p>
            <a:pPr marL="228600" indent="-137160">
              <a:buChar char="•"/>
            </a:pPr>
            <a:r>
              <a:rPr lang="ko-KR" sz="1230">
                <a:solidFill>
                  <a:srgbClr val="1F2937"/>
                </a:solidFill>
                <a:latin typeface="Aptos"/>
                <a:ea typeface="Malgun Gothic"/>
              </a:rPr>
              <a:t>edge_selected</a:t>
            </a:r>
          </a:p>
          <a:p>
            <a:pPr marL="228600" indent="-137160">
              <a:buChar char="•"/>
            </a:pPr>
            <a:r>
              <a:rPr lang="ko-KR" sz="1230">
                <a:solidFill>
                  <a:srgbClr val="1F2937"/>
                </a:solidFill>
                <a:latin typeface="Aptos"/>
                <a:ea typeface="Malgun Gothic"/>
              </a:rPr>
              <a:t>react_step / observation</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RAG retrieval result</a:t>
            </a:r>
          </a:p>
          <a:p>
            <a:pPr marL="228600" indent="-137160">
              <a:buChar char="•"/>
            </a:pPr>
            <a:r>
              <a:rPr lang="ko-KR" sz="1230">
                <a:solidFill>
                  <a:srgbClr val="1F2937"/>
                </a:solidFill>
                <a:latin typeface="Aptos"/>
                <a:ea typeface="Malgun Gothic"/>
              </a:rPr>
              <a:t>MCP request/response</a:t>
            </a:r>
          </a:p>
          <a:p>
            <a:pPr marL="228600" indent="-137160">
              <a:buChar char="•"/>
            </a:pPr>
            <a:r>
              <a:rPr lang="ko-KR" sz="1230">
                <a:solidFill>
                  <a:srgbClr val="1F2937"/>
                </a:solidFill>
                <a:latin typeface="Aptos"/>
                <a:ea typeface="Malgun Gothic"/>
              </a:rPr>
              <a:t>context budget</a:t>
            </a:r>
          </a:p>
          <a:p>
            <a:pPr marL="228600" indent="-137160">
              <a:buChar char="•"/>
            </a:pPr>
            <a:r>
              <a:rPr lang="ko-KR" sz="1230">
                <a:solidFill>
                  <a:srgbClr val="1F2937"/>
                </a:solidFill>
                <a:latin typeface="Aptos"/>
                <a:ea typeface="Malgun Gothic"/>
              </a:rPr>
              <a:t>checkpoint id</a:t>
            </a:r>
          </a:p>
          <a:p>
            <a:pPr marL="0" indent="0">
              <a:buNone/>
            </a:pPr>
            <a:r>
              <a:rPr lang="ko-KR" sz="1240">
                <a:solidFill>
                  <a:srgbClr val="334155"/>
                </a:solidFill>
                <a:latin typeface="Aptos"/>
                <a:ea typeface="Malgun Gothic"/>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Telemetry는 민감 데이터가 될 수 있다</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48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주의 대상:</a:t>
            </a:r>
          </a:p>
          <a:p>
            <a:pPr marL="228600" indent="-137160">
              <a:buChar char="•"/>
            </a:pPr>
            <a:r>
              <a:rPr lang="ko-KR" sz="1230">
                <a:solidFill>
                  <a:srgbClr val="1F2937"/>
                </a:solidFill>
                <a:latin typeface="Aptos"/>
                <a:ea typeface="Malgun Gothic"/>
              </a:rPr>
              <a:t>API keys</a:t>
            </a:r>
          </a:p>
          <a:p>
            <a:pPr marL="228600" indent="-137160">
              <a:buChar char="•"/>
            </a:pPr>
            <a:r>
              <a:rPr lang="ko-KR" sz="1230">
                <a:solidFill>
                  <a:srgbClr val="1F2937"/>
                </a:solidFill>
                <a:latin typeface="Aptos"/>
                <a:ea typeface="Malgun Gothic"/>
              </a:rPr>
              <a:t>tokens</a:t>
            </a:r>
          </a:p>
          <a:p>
            <a:pPr marL="228600" indent="-137160">
              <a:buChar char="•"/>
            </a:pPr>
            <a:r>
              <a:rPr lang="ko-KR" sz="1230">
                <a:solidFill>
                  <a:srgbClr val="1F2937"/>
                </a:solidFill>
                <a:latin typeface="Aptos"/>
                <a:ea typeface="Malgun Gothic"/>
              </a:rPr>
              <a:t>passwords</a:t>
            </a:r>
          </a:p>
          <a:p>
            <a:pPr marL="228600" indent="-137160">
              <a:buChar char="•"/>
            </a:pPr>
            <a:r>
              <a:rPr lang="ko-KR" sz="1230">
                <a:solidFill>
                  <a:srgbClr val="1F2937"/>
                </a:solidFill>
                <a:latin typeface="Aptos"/>
                <a:ea typeface="Malgun Gothic"/>
              </a:rPr>
              <a:t>secrets</a:t>
            </a:r>
          </a:p>
          <a:p>
            <a:pPr marL="228600" indent="-137160">
              <a:buChar char="•"/>
            </a:pPr>
            <a:r>
              <a:rPr lang="ko-KR" sz="1230">
                <a:solidFill>
                  <a:srgbClr val="1F2937"/>
                </a:solidFill>
                <a:latin typeface="Aptos"/>
                <a:ea typeface="Malgun Gothic"/>
              </a:rPr>
              <a:t>PII</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raw logs</a:t>
            </a:r>
          </a:p>
          <a:p>
            <a:pPr marL="228600" indent="-137160">
              <a:buChar char="•"/>
            </a:pPr>
            <a:r>
              <a:rPr lang="ko-KR" sz="1230">
                <a:solidFill>
                  <a:srgbClr val="1F2937"/>
                </a:solidFill>
                <a:latin typeface="Aptos"/>
                <a:ea typeface="Malgun Gothic"/>
              </a:rPr>
              <a:t>customer messages</a:t>
            </a:r>
          </a:p>
          <a:p>
            <a:pPr marL="228600" indent="-137160">
              <a:buChar char="•"/>
            </a:pPr>
            <a:r>
              <a:rPr lang="ko-KR" sz="1230">
                <a:solidFill>
                  <a:srgbClr val="1F2937"/>
                </a:solidFill>
                <a:latin typeface="Aptos"/>
                <a:ea typeface="Malgun Gothic"/>
              </a:rPr>
              <a:t>internal service metadata</a:t>
            </a:r>
          </a:p>
          <a:p>
            <a:pPr marL="0" indent="0">
              <a:buNone/>
            </a:pPr>
            <a:r>
              <a:rPr lang="ko-KR" sz="1240">
                <a:solidFill>
                  <a:srgbClr val="334155"/>
                </a:solidFill>
                <a:latin typeface="Aptos"/>
                <a:ea typeface="Malgun Gothic"/>
              </a:rPr>
              <a:t>보안 원칙:</a:t>
            </a:r>
          </a:p>
          <a:p>
            <a:pPr marL="228600" indent="-137160">
              <a:buChar char="•"/>
            </a:pPr>
            <a:r>
              <a:rPr lang="ko-KR" sz="1230">
                <a:solidFill>
                  <a:srgbClr val="1F2937"/>
                </a:solidFill>
                <a:latin typeface="Aptos"/>
                <a:ea typeface="Malgun Gothic"/>
              </a:rPr>
              <a:t>redaction 기본 적용</a:t>
            </a:r>
          </a:p>
          <a:p>
            <a:pPr marL="228600" indent="-137160">
              <a:buChar char="•"/>
            </a:pPr>
            <a:r>
              <a:rPr lang="ko-KR" sz="1230">
                <a:solidFill>
                  <a:srgbClr val="1F2937"/>
                </a:solidFill>
                <a:latin typeface="Aptos"/>
                <a:ea typeface="Malgun Gothic"/>
              </a:rPr>
              <a:t>raw output은 artifact ref로 대체</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trace 접근 권한 제한</a:t>
            </a:r>
          </a:p>
          <a:p>
            <a:pPr marL="228600" indent="-137160">
              <a:buChar char="•"/>
            </a:pPr>
            <a:r>
              <a:rPr lang="ko-KR" sz="1230">
                <a:solidFill>
                  <a:srgbClr val="1F2937"/>
                </a:solidFill>
                <a:latin typeface="Aptos"/>
                <a:ea typeface="Malgun Gothic"/>
              </a:rPr>
              <a:t>외부 collector 전송 시 암호화</a:t>
            </a:r>
          </a:p>
          <a:p>
            <a:pPr marL="228600" indent="-137160">
              <a:buChar char="•"/>
            </a:pPr>
            <a:r>
              <a:rPr lang="ko-KR" sz="1230">
                <a:solidFill>
                  <a:srgbClr val="1F2937"/>
                </a:solidFill>
                <a:latin typeface="Aptos"/>
                <a:ea typeface="Malgun Gothic"/>
              </a:rPr>
              <a:t>retention 정책 설정</a:t>
            </a:r>
          </a:p>
          <a:p>
            <a:pPr marL="228600" indent="-137160">
              <a:buChar char="•"/>
            </a:pPr>
            <a:r>
              <a:rPr lang="ko-KR" sz="1230">
                <a:solidFill>
                  <a:srgbClr val="1F2937"/>
                </a:solidFill>
                <a:latin typeface="Aptos"/>
                <a:ea typeface="Malgun Gothic"/>
              </a:rPr>
              <a:t>민감 field allowlist/denylist 적용</a:t>
            </a:r>
          </a:p>
          <a:p>
            <a:pPr marL="0" indent="0">
              <a:buNone/>
            </a:pPr>
            <a:r>
              <a:rPr lang="ko-KR" sz="1240">
                <a:solidFill>
                  <a:srgbClr val="334155"/>
                </a:solidFill>
                <a:latin typeface="Aptos"/>
                <a:ea typeface="Malgun Gothic"/>
              </a:rPr>
              <a: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Observe → Judge → Improve</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49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Agent Run</a:t>
            </a:r>
          </a:p>
          <a:p>
            <a:pPr marL="0" indent="0">
              <a:buNone/>
            </a:pPr>
            <a:r>
              <a:rPr lang="ko-KR" sz="980">
                <a:solidFill>
                  <a:srgbClr val="374151"/>
                </a:solidFill>
                <a:latin typeface="Menlo"/>
                <a:ea typeface="Malgun Gothic"/>
              </a:rPr>
              <a:t>  → TraceLogger JSONL</a:t>
            </a:r>
          </a:p>
          <a:p>
            <a:pPr marL="0" indent="0">
              <a:buNone/>
            </a:pPr>
            <a:r>
              <a:rPr lang="ko-KR" sz="980">
                <a:solidFill>
                  <a:srgbClr val="374151"/>
                </a:solidFill>
                <a:latin typeface="Menlo"/>
                <a:ea typeface="Malgun Gothic"/>
              </a:rPr>
              <a:t>  → Judge Agent</a:t>
            </a:r>
          </a:p>
          <a:p>
            <a:pPr marL="0" indent="0">
              <a:buNone/>
            </a:pPr>
            <a:r>
              <a:rPr lang="ko-KR" sz="980">
                <a:solidFill>
                  <a:srgbClr val="374151"/>
                </a:solidFill>
                <a:latin typeface="Menlo"/>
                <a:ea typeface="Malgun Gothic"/>
              </a:rPr>
              <a:t>      → Drift 유형 분류</a:t>
            </a:r>
          </a:p>
          <a:p>
            <a:pPr marL="0" indent="0">
              <a:buNone/>
            </a:pPr>
            <a:r>
              <a:rPr lang="ko-KR" sz="980">
                <a:solidFill>
                  <a:srgbClr val="374151"/>
                </a:solidFill>
                <a:latin typeface="Menlo"/>
                <a:ea typeface="Malgun Gothic"/>
              </a:rPr>
              <a:t>      → Evidence alignment 검사</a:t>
            </a:r>
          </a:p>
          <a:p>
            <a:pPr marL="0" indent="0">
              <a:buNone/>
            </a:pPr>
            <a:r>
              <a:rPr lang="ko-KR" sz="980">
                <a:solidFill>
                  <a:srgbClr val="374151"/>
                </a:solidFill>
                <a:latin typeface="Menlo"/>
                <a:ea typeface="Malgun Gothic"/>
              </a:rPr>
              <a:t>      → Context bloat 측정</a:t>
            </a:r>
          </a:p>
          <a:p>
            <a:pPr marL="0" indent="0">
              <a:buNone/>
            </a:pPr>
            <a:r>
              <a:rPr lang="ko-KR" sz="980">
                <a:solidFill>
                  <a:srgbClr val="374151"/>
                </a:solidFill>
                <a:latin typeface="Menlo"/>
                <a:ea typeface="Malgun Gothic"/>
              </a:rPr>
              <a:t>      → Tool/RAG/Memory 사용 평가</a:t>
            </a:r>
          </a:p>
          <a:p>
            <a:pPr marL="0" indent="0">
              <a:buNone/>
            </a:pPr>
            <a:r>
              <a:rPr lang="ko-KR" sz="980">
                <a:solidFill>
                  <a:srgbClr val="374151"/>
                </a:solidFill>
                <a:latin typeface="Menlo"/>
                <a:ea typeface="Malgun Gothic"/>
              </a:rPr>
              <a:t>      → Validation issue 생성</a:t>
            </a:r>
          </a:p>
          <a:p>
            <a:pPr marL="0" indent="0">
              <a:buNone/>
            </a:pPr>
            <a:r>
              <a:rPr lang="ko-KR" sz="980">
                <a:solidFill>
                  <a:srgbClr val="374151"/>
                </a:solidFill>
                <a:latin typeface="Menlo"/>
                <a:ea typeface="Malgun Gothic"/>
              </a:rPr>
              <a:t>  → Developer Feedback</a:t>
            </a:r>
          </a:p>
          <a:p>
            <a:pPr marL="0" indent="0">
              <a:buNone/>
            </a:pPr>
            <a:r>
              <a:rPr lang="ko-KR" sz="980">
                <a:solidFill>
                  <a:srgbClr val="374151"/>
                </a:solidFill>
                <a:latin typeface="Menlo"/>
                <a:ea typeface="Malgun Gothic"/>
              </a:rPr>
              <a:t>  → Context Policy / Graph / Prompt / Tool 개선</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핵심:</a:t>
            </a:r>
          </a:p>
          <a:p>
            <a:pPr marL="228600" indent="-137160">
              <a:buChar char="•"/>
            </a:pPr>
            <a:r>
              <a:rPr lang="ko-KR" sz="1230">
                <a:solidFill>
                  <a:srgbClr val="1F2937"/>
                </a:solidFill>
                <a:latin typeface="Aptos"/>
                <a:ea typeface="Malgun Gothic"/>
              </a:rPr>
              <a:t>Judge Agent는 최종 응답만 평가하지 않는다.</a:t>
            </a:r>
          </a:p>
          <a:p>
            <a:pPr marL="228600" indent="-137160">
              <a:buChar char="•"/>
            </a:pPr>
            <a:r>
              <a:rPr lang="ko-KR" sz="1230">
                <a:solidFill>
                  <a:srgbClr val="1F2937"/>
                </a:solidFill>
                <a:latin typeface="Aptos"/>
                <a:ea typeface="Malgun Gothic"/>
              </a:rPr>
              <a:t>실행 경로와 state 변화, tool evidence를 함께 평가한다.</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drift 탐지는 context engineering 개선으로 이어져야 한다.</a:t>
            </a:r>
          </a:p>
          <a:p>
            <a:pPr marL="0" indent="0">
              <a:buNone/>
            </a:pPr>
            <a:r>
              <a:rPr lang="ko-KR" sz="1240">
                <a:solidFill>
                  <a:srgbClr val="334155"/>
                </a:solidFill>
                <a:latin typeface="Aptos"/>
                <a:ea typeface="Malgun Gothic"/>
              </a:rPr>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Context Engineering + LangGraph + Telemetry</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50 / 62</a:t>
            </a:r>
          </a:p>
        </p:txBody>
      </p:sp>
      <p:sp>
        <p:nvSpPr>
          <p:cNvPr id="8" name="diagram card"/>
          <p:cNvSpPr/>
          <p:nvPr/>
        </p:nvSpPr>
        <p:spPr>
          <a:xfrm>
            <a:off x="650000" y="1040000"/>
            <a:ext cx="6100000" cy="5100000"/>
          </a:xfrm>
          <a:prstGeom prst="roundRect"/>
          <a:solidFill>
            <a:srgbClr val="F8FAFC"/>
          </a:solidFill>
          <a:ln w="7620">
            <a:solidFill>
              <a:srgbClr val="CBD5E1"/>
            </a:solidFill>
          </a:ln>
        </p:spPr>
        <p:txBody>
          <a:bodyPr/>
          <a:lstStyle/>
          <a:p/>
        </p:txBody>
      </p:sp>
      <p:sp>
        <p:nvSpPr>
          <p:cNvPr id="9" name="diagram text"/>
          <p:cNvSpPr txBox="1"/>
          <p:nvPr/>
        </p:nvSpPr>
        <p:spPr>
          <a:xfrm>
            <a:off x="720000" y="1110000"/>
            <a:ext cx="5960000" cy="4960000"/>
          </a:xfrm>
          <a:prstGeom prst="rect"/>
          <a:noFill/>
          <a:ln>
            <a:noFill/>
          </a:ln>
        </p:spPr>
        <p:txBody>
          <a:bodyPr wrap="square" lIns="91440" tIns="68580" rIns="91440" bIns="68580"/>
          <a:lstStyle/>
          <a:p>
            <a:pPr marL="0" indent="0">
              <a:buNone/>
            </a:pPr>
            <a:r>
              <a:rPr lang="ko-KR" sz="980">
                <a:solidFill>
                  <a:srgbClr val="374151"/>
                </a:solidFill>
                <a:latin typeface="Menlo"/>
                <a:ea typeface="Malgun Gothic"/>
              </a:rPr>
              <a:t>User Request</a:t>
            </a:r>
          </a:p>
          <a:p>
            <a:pPr marL="0" indent="0">
              <a:buNone/>
            </a:pPr>
            <a:r>
              <a:rPr lang="ko-KR" sz="980">
                <a:solidFill>
                  <a:srgbClr val="374151"/>
                </a:solidFill>
                <a:latin typeface="Menlo"/>
                <a:ea typeface="Malgun Gothic"/>
              </a:rPr>
              <a:t>  ↓</a:t>
            </a:r>
          </a:p>
          <a:p>
            <a:pPr marL="0" indent="0">
              <a:buNone/>
            </a:pPr>
            <a:r>
              <a:rPr lang="ko-KR" sz="980">
                <a:solidFill>
                  <a:srgbClr val="374151"/>
                </a:solidFill>
                <a:latin typeface="Menlo"/>
                <a:ea typeface="Malgun Gothic"/>
              </a:rPr>
              <a:t>LangGraph Input State</a:t>
            </a:r>
          </a:p>
          <a:p>
            <a:pPr marL="0" indent="0">
              <a:buNone/>
            </a:pPr>
            <a:r>
              <a:rPr lang="ko-KR" sz="980">
                <a:solidFill>
                  <a:srgbClr val="374151"/>
                </a:solidFill>
                <a:latin typeface="Menlo"/>
                <a:ea typeface="Malgun Gothic"/>
              </a:rPr>
              <a:t>  ↓</a:t>
            </a:r>
          </a:p>
          <a:p>
            <a:pPr marL="0" indent="0">
              <a:buNone/>
            </a:pPr>
            <a:r>
              <a:rPr lang="ko-KR" sz="980">
                <a:solidFill>
                  <a:srgbClr val="374151"/>
                </a:solidFill>
                <a:latin typeface="Menlo"/>
                <a:ea typeface="Malgun Gothic"/>
              </a:rPr>
              <a:t>Context Engineering Layer</a:t>
            </a:r>
          </a:p>
          <a:p>
            <a:pPr marL="0" indent="0">
              <a:buNone/>
            </a:pPr>
            <a:r>
              <a:rPr lang="ko-KR" sz="980">
                <a:solidFill>
                  <a:srgbClr val="374151"/>
                </a:solidFill>
                <a:latin typeface="Menlo"/>
                <a:ea typeface="Malgun Gothic"/>
              </a:rPr>
              <a:t>  - state projection</a:t>
            </a:r>
          </a:p>
          <a:p>
            <a:pPr marL="0" indent="0">
              <a:buNone/>
            </a:pPr>
            <a:r>
              <a:rPr lang="ko-KR" sz="980">
                <a:solidFill>
                  <a:srgbClr val="374151"/>
                </a:solidFill>
                <a:latin typeface="Menlo"/>
                <a:ea typeface="Malgun Gothic"/>
              </a:rPr>
              <a:t>  - tool selection</a:t>
            </a:r>
          </a:p>
          <a:p>
            <a:pPr marL="0" indent="0">
              <a:buNone/>
            </a:pPr>
            <a:r>
              <a:rPr lang="ko-KR" sz="980">
                <a:solidFill>
                  <a:srgbClr val="374151"/>
                </a:solidFill>
                <a:latin typeface="Menlo"/>
                <a:ea typeface="Malgun Gothic"/>
              </a:rPr>
              <a:t>  - RAG selection</a:t>
            </a:r>
          </a:p>
          <a:p>
            <a:pPr marL="0" indent="0">
              <a:buNone/>
            </a:pPr>
            <a:r>
              <a:rPr lang="ko-KR" sz="980">
                <a:solidFill>
                  <a:srgbClr val="374151"/>
                </a:solidFill>
                <a:latin typeface="Menlo"/>
                <a:ea typeface="Malgun Gothic"/>
              </a:rPr>
              <a:t>  - memory selection</a:t>
            </a:r>
          </a:p>
          <a:p>
            <a:pPr marL="0" indent="0">
              <a:buNone/>
            </a:pPr>
            <a:r>
              <a:rPr lang="ko-KR" sz="980">
                <a:solidFill>
                  <a:srgbClr val="374151"/>
                </a:solidFill>
                <a:latin typeface="Menlo"/>
                <a:ea typeface="Malgun Gothic"/>
              </a:rPr>
              <a:t>  - compression</a:t>
            </a:r>
          </a:p>
        </p:txBody>
      </p:sp>
      <p:sp>
        <p:nvSpPr>
          <p:cNvPr id="10" name="right card 0"/>
          <p:cNvSpPr/>
          <p:nvPr/>
        </p:nvSpPr>
        <p:spPr>
          <a:xfrm>
            <a:off x="6930000" y="1040000"/>
            <a:ext cx="4620000" cy="2460000"/>
          </a:xfrm>
          <a:prstGeom prst="roundRect"/>
          <a:solidFill>
            <a:srgbClr val="FFFFFF"/>
          </a:solidFill>
          <a:ln w="7620">
            <a:solidFill>
              <a:srgbClr val="E5E7EB"/>
            </a:solidFill>
          </a:ln>
        </p:spPr>
        <p:txBody>
          <a:bodyPr/>
          <a:lstStyle/>
          <a:p/>
        </p:txBody>
      </p:sp>
      <p:sp>
        <p:nvSpPr>
          <p:cNvPr id="11" name="right text 0"/>
          <p:cNvSpPr txBox="1"/>
          <p:nvPr/>
        </p:nvSpPr>
        <p:spPr>
          <a:xfrm>
            <a:off x="6990000" y="1100000"/>
            <a:ext cx="4500000" cy="234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
        <p:nvSpPr>
          <p:cNvPr id="12" name="right card 1"/>
          <p:cNvSpPr/>
          <p:nvPr/>
        </p:nvSpPr>
        <p:spPr>
          <a:xfrm>
            <a:off x="6930000" y="3680000"/>
            <a:ext cx="4620000" cy="2460000"/>
          </a:xfrm>
          <a:prstGeom prst="roundRect"/>
          <a:solidFill>
            <a:srgbClr val="FFFFFF"/>
          </a:solidFill>
          <a:ln w="7620">
            <a:solidFill>
              <a:srgbClr val="E5E7EB"/>
            </a:solidFill>
          </a:ln>
        </p:spPr>
        <p:txBody>
          <a:bodyPr/>
          <a:lstStyle/>
          <a:p/>
        </p:txBody>
      </p:sp>
      <p:sp>
        <p:nvSpPr>
          <p:cNvPr id="13" name="right text 1"/>
          <p:cNvSpPr txBox="1"/>
          <p:nvPr/>
        </p:nvSpPr>
        <p:spPr>
          <a:xfrm>
            <a:off x="6990000" y="3740000"/>
            <a:ext cx="4500000" cy="2340000"/>
          </a:xfrm>
          <a:prstGeom prst="rect"/>
          <a:noFill/>
          <a:ln>
            <a:noFill/>
          </a:ln>
        </p:spPr>
        <p:txBody>
          <a:bodyPr wrap="square" lIns="91440" tIns="68580" rIns="91440" bIns="68580"/>
          <a:lstStyle/>
          <a:p>
            <a:pPr marL="0" indent="0">
              <a:buNone/>
            </a:pPr>
            <a:r>
              <a:rPr lang="ko-KR" sz="1200">
                <a:solidFill>
                  <a:srgbClr val="1F2937"/>
                </a:solidFill>
                <a:latin typeface="Aptos"/>
                <a:ea typeface="Malgun Gothic"/>
              </a:rPr>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1단계: Trace 표준화</a:t>
            </a:r>
          </a:p>
        </p:txBody>
      </p:sp>
      <p:sp>
        <p:nvSpPr>
          <p:cNvPr id="7" name="subtitle"/>
          <p:cNvSpPr txBox="1"/>
          <p:nvPr/>
        </p:nvSpPr>
        <p:spPr>
          <a:xfrm>
            <a:off x="650000" y="790000"/>
            <a:ext cx="9700000" cy="280000"/>
          </a:xfrm>
          <a:prstGeom prst="rect"/>
          <a:noFill/>
          <a:ln>
            <a:noFill/>
          </a:ln>
        </p:spPr>
        <p:txBody>
          <a:bodyPr wrap="square" lIns="91440" tIns="68580" rIns="91440" bIns="68580"/>
          <a:lstStyle/>
          <a:p>
            <a:pPr marL="0" indent="0">
              <a:buNone/>
            </a:pPr>
            <a:r>
              <a:rPr lang="ko-KR" sz="1050">
                <a:solidFill>
                  <a:srgbClr val="64748B"/>
                </a:solidFill>
                <a:latin typeface="Aptos"/>
                <a:ea typeface="Malgun Gothic"/>
              </a:rPr>
              <a:t>2단계: Context 구조화</a:t>
            </a:r>
          </a:p>
        </p:txBody>
      </p:sp>
      <p:sp>
        <p:nvSpPr>
          <p:cNvPr id="8"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51 / 62</a:t>
            </a:r>
          </a:p>
        </p:txBody>
      </p:sp>
      <p:sp>
        <p:nvSpPr>
          <p:cNvPr id="9" name="content card 0"/>
          <p:cNvSpPr/>
          <p:nvPr/>
        </p:nvSpPr>
        <p:spPr>
          <a:xfrm>
            <a:off x="650000" y="1160000"/>
            <a:ext cx="3513333" cy="5100000"/>
          </a:xfrm>
          <a:prstGeom prst="roundRect"/>
          <a:solidFill>
            <a:srgbClr val="FFFFFF"/>
          </a:solidFill>
          <a:ln w="7620">
            <a:solidFill>
              <a:srgbClr val="E5E7EB"/>
            </a:solidFill>
          </a:ln>
        </p:spPr>
        <p:txBody>
          <a:bodyPr/>
          <a:lstStyle/>
          <a:p/>
        </p:txBody>
      </p:sp>
      <p:sp>
        <p:nvSpPr>
          <p:cNvPr id="10" name="content text 0"/>
          <p:cNvSpPr txBox="1"/>
          <p:nvPr/>
        </p:nvSpPr>
        <p:spPr>
          <a:xfrm>
            <a:off x="720000" y="123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TraceLogger 인터페이스 고정</a:t>
            </a:r>
          </a:p>
          <a:p>
            <a:pPr marL="228600" indent="-137160">
              <a:buChar char="•"/>
            </a:pPr>
            <a:r>
              <a:rPr lang="ko-KR" sz="1230">
                <a:solidFill>
                  <a:srgbClr val="1F2937"/>
                </a:solidFill>
                <a:latin typeface="Aptos"/>
                <a:ea typeface="Malgun Gothic"/>
              </a:rPr>
              <a:t>event schema 문서화</a:t>
            </a:r>
          </a:p>
          <a:p>
            <a:pPr marL="228600" indent="-137160">
              <a:buChar char="•"/>
            </a:pPr>
            <a:r>
              <a:rPr lang="ko-KR" sz="1230">
                <a:solidFill>
                  <a:srgbClr val="1F2937"/>
                </a:solidFill>
                <a:latin typeface="Aptos"/>
                <a:ea typeface="Malgun Gothic"/>
              </a:rPr>
              <a:t>redaction 강화</a:t>
            </a:r>
          </a:p>
          <a:p>
            <a:pPr marL="228600" indent="-137160">
              <a:buChar char="•"/>
            </a:pPr>
            <a:r>
              <a:rPr lang="ko-KR" sz="1230">
                <a:solidFill>
                  <a:srgbClr val="1F2937"/>
                </a:solidFill>
                <a:latin typeface="Aptos"/>
                <a:ea typeface="Malgun Gothic"/>
              </a:rPr>
              <a:t>JSONL + collector 이중화 준비</a:t>
            </a:r>
          </a:p>
          <a:p>
            <a:pPr marL="228600" indent="-137160">
              <a:buChar char="•"/>
            </a:pPr>
            <a:r>
              <a:rPr lang="ko-KR" sz="1230">
                <a:solidFill>
                  <a:srgbClr val="1F2937"/>
                </a:solidFill>
                <a:latin typeface="Aptos"/>
                <a:ea typeface="Malgun Gothic"/>
              </a:rPr>
              <a:t>State schema 정리</a:t>
            </a:r>
          </a:p>
          <a:p>
            <a:pPr marL="228600" indent="-137160">
              <a:buChar char="•"/>
            </a:pPr>
            <a:r>
              <a:rPr lang="ko-KR" sz="1230">
                <a:solidFill>
                  <a:srgbClr val="1F2937"/>
                </a:solidFill>
                <a:latin typeface="Aptos"/>
                <a:ea typeface="Malgun Gothic"/>
              </a:rPr>
              <a:t>raw/summary 분리</a:t>
            </a:r>
          </a:p>
        </p:txBody>
      </p:sp>
      <p:sp>
        <p:nvSpPr>
          <p:cNvPr id="11" name="content card 1"/>
          <p:cNvSpPr/>
          <p:nvPr/>
        </p:nvSpPr>
        <p:spPr>
          <a:xfrm>
            <a:off x="4343333" y="1160000"/>
            <a:ext cx="3513333" cy="5100000"/>
          </a:xfrm>
          <a:prstGeom prst="roundRect"/>
          <a:solidFill>
            <a:srgbClr val="FFFFFF"/>
          </a:solidFill>
          <a:ln w="7620">
            <a:solidFill>
              <a:srgbClr val="E5E7EB"/>
            </a:solidFill>
          </a:ln>
        </p:spPr>
        <p:txBody>
          <a:bodyPr/>
          <a:lstStyle/>
          <a:p/>
        </p:txBody>
      </p:sp>
      <p:sp>
        <p:nvSpPr>
          <p:cNvPr id="12" name="content text 1"/>
          <p:cNvSpPr txBox="1"/>
          <p:nvPr/>
        </p:nvSpPr>
        <p:spPr>
          <a:xfrm>
            <a:off x="4413333" y="123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evidence/hypothesis 분리</a:t>
            </a:r>
          </a:p>
          <a:p>
            <a:pPr marL="228600" indent="-137160">
              <a:buChar char="•"/>
            </a:pPr>
            <a:r>
              <a:rPr lang="ko-KR" sz="1230">
                <a:solidFill>
                  <a:srgbClr val="1F2937"/>
                </a:solidFill>
                <a:latin typeface="Aptos"/>
                <a:ea typeface="Malgun Gothic"/>
              </a:rPr>
              <a:t>node별 context projection 구현</a:t>
            </a:r>
          </a:p>
          <a:p>
            <a:pPr marL="0" indent="0">
              <a:buNone/>
            </a:pPr>
            <a:r>
              <a:rPr lang="ko-KR" sz="1450" b="1">
                <a:solidFill>
                  <a:srgbClr val="0F766E"/>
                </a:solidFill>
                <a:latin typeface="Aptos"/>
                <a:ea typeface="Malgun Gothic"/>
              </a:rPr>
              <a:t>3단계: Drift Judge 강화</a:t>
            </a:r>
          </a:p>
          <a:p>
            <a:pPr marL="228600" indent="-137160">
              <a:buChar char="•"/>
            </a:pPr>
            <a:r>
              <a:rPr lang="ko-KR" sz="1230">
                <a:solidFill>
                  <a:srgbClr val="1F2937"/>
                </a:solidFill>
                <a:latin typeface="Aptos"/>
                <a:ea typeface="Malgun Gothic"/>
              </a:rPr>
              <a:t>trace 기반 drift rule 구현</a:t>
            </a:r>
          </a:p>
          <a:p>
            <a:pPr marL="228600" indent="-137160">
              <a:buChar char="•"/>
            </a:pPr>
            <a:r>
              <a:rPr lang="ko-KR" sz="1230">
                <a:solidFill>
                  <a:srgbClr val="1F2937"/>
                </a:solidFill>
                <a:latin typeface="Aptos"/>
                <a:ea typeface="Malgun Gothic"/>
              </a:rPr>
              <a:t>LLM-as-a-Judge 평가 추가</a:t>
            </a:r>
          </a:p>
          <a:p>
            <a:pPr marL="228600" indent="-137160">
              <a:buChar char="•"/>
            </a:pPr>
            <a:r>
              <a:rPr lang="ko-KR" sz="1230">
                <a:solidFill>
                  <a:srgbClr val="1F2937"/>
                </a:solidFill>
                <a:latin typeface="Aptos"/>
                <a:ea typeface="Malgun Gothic"/>
              </a:rPr>
              <a:t>regression fixture 구성</a:t>
            </a:r>
          </a:p>
        </p:txBody>
      </p:sp>
      <p:sp>
        <p:nvSpPr>
          <p:cNvPr id="13" name="content card 2"/>
          <p:cNvSpPr/>
          <p:nvPr/>
        </p:nvSpPr>
        <p:spPr>
          <a:xfrm>
            <a:off x="8036666" y="1160000"/>
            <a:ext cx="3513333" cy="5100000"/>
          </a:xfrm>
          <a:prstGeom prst="roundRect"/>
          <a:solidFill>
            <a:srgbClr val="FFFFFF"/>
          </a:solidFill>
          <a:ln w="7620">
            <a:solidFill>
              <a:srgbClr val="E5E7EB"/>
            </a:solidFill>
          </a:ln>
        </p:spPr>
        <p:txBody>
          <a:bodyPr/>
          <a:lstStyle/>
          <a:p/>
        </p:txBody>
      </p:sp>
      <p:sp>
        <p:nvSpPr>
          <p:cNvPr id="14" name="content text 2"/>
          <p:cNvSpPr txBox="1"/>
          <p:nvPr/>
        </p:nvSpPr>
        <p:spPr>
          <a:xfrm>
            <a:off x="8106666" y="1230000"/>
            <a:ext cx="3373333" cy="4960000"/>
          </a:xfrm>
          <a:prstGeom prst="rect"/>
          <a:noFill/>
          <a:ln>
            <a:noFill/>
          </a:ln>
        </p:spPr>
        <p:txBody>
          <a:bodyPr wrap="square" lIns="91440" tIns="68580" rIns="91440" bIns="68580"/>
          <a:lstStyle/>
          <a:p>
            <a:pPr marL="0" indent="0">
              <a:buNone/>
            </a:pPr>
            <a:r>
              <a:rPr lang="ko-KR" sz="1450" b="1">
                <a:solidFill>
                  <a:srgbClr val="0F766E"/>
                </a:solidFill>
                <a:latin typeface="Aptos"/>
                <a:ea typeface="Malgun Gothic"/>
              </a:rPr>
              <a:t>4단계: 운영화</a:t>
            </a:r>
          </a:p>
          <a:p>
            <a:pPr marL="228600" indent="-137160">
              <a:buChar char="•"/>
            </a:pPr>
            <a:r>
              <a:rPr lang="ko-KR" sz="1230">
                <a:solidFill>
                  <a:srgbClr val="1F2937"/>
                </a:solidFill>
                <a:latin typeface="Aptos"/>
                <a:ea typeface="Malgun Gothic"/>
              </a:rPr>
              <a:t>dashboard</a:t>
            </a:r>
          </a:p>
          <a:p>
            <a:pPr marL="228600" indent="-137160">
              <a:buChar char="•"/>
            </a:pPr>
            <a:r>
              <a:rPr lang="ko-KR" sz="1230">
                <a:solidFill>
                  <a:srgbClr val="1F2937"/>
                </a:solidFill>
                <a:latin typeface="Aptos"/>
                <a:ea typeface="Malgun Gothic"/>
              </a:rPr>
              <a:t>alert</a:t>
            </a:r>
          </a:p>
          <a:p>
            <a:pPr marL="228600" indent="-137160">
              <a:buChar char="•"/>
            </a:pPr>
            <a:r>
              <a:rPr lang="ko-KR" sz="1230">
                <a:solidFill>
                  <a:srgbClr val="1F2937"/>
                </a:solidFill>
                <a:latin typeface="Aptos"/>
                <a:ea typeface="Malgun Gothic"/>
              </a:rPr>
              <a:t>prompt/tool/version 비교</a:t>
            </a:r>
          </a:p>
          <a:p>
            <a:pPr marL="228600" indent="-137160">
              <a:buChar char="•"/>
            </a:pPr>
            <a:r>
              <a:rPr lang="ko-KR" sz="1230">
                <a:solidFill>
                  <a:srgbClr val="1F2937"/>
                </a:solidFill>
                <a:latin typeface="Aptos"/>
                <a:ea typeface="Malgun Gothic"/>
              </a:rPr>
              <a:t>context budget 추적</a:t>
            </a:r>
          </a:p>
          <a:p>
            <a:pPr marL="0" indent="0">
              <a:buNone/>
            </a:pPr>
            <a:r>
              <a:rPr lang="ko-KR" sz="1240">
                <a:solidFill>
                  <a:srgbClr val="334155"/>
                </a:solidFill>
                <a:latin typeface="Aptos"/>
                <a:ea typeface="Malgun Gothic"/>
              </a:rPr>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설계 체크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52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목표와 성공 기준이 명확한가?</a:t>
            </a:r>
          </a:p>
          <a:p>
            <a:pPr marL="228600" indent="-137160">
              <a:buChar char="•"/>
            </a:pPr>
            <a:r>
              <a:rPr lang="ko-KR" sz="1230">
                <a:solidFill>
                  <a:srgbClr val="1F2937"/>
                </a:solidFill>
                <a:latin typeface="Aptos"/>
                <a:ea typeface="Malgun Gothic"/>
              </a:rPr>
              <a:t>[ ] context inventory가 있는가?</a:t>
            </a:r>
          </a:p>
          <a:p>
            <a:pPr marL="228600" indent="-137160">
              <a:buChar char="•"/>
            </a:pPr>
            <a:r>
              <a:rPr lang="ko-KR" sz="1230">
                <a:solidFill>
                  <a:srgbClr val="1F2937"/>
                </a:solidFill>
                <a:latin typeface="Aptos"/>
                <a:ea typeface="Malgun Gothic"/>
              </a:rPr>
              <a:t>[ ] always/relevant/never include가 분리되었는가?</a:t>
            </a:r>
          </a:p>
          <a:p>
            <a:pPr marL="228600" indent="-137160">
              <a:buChar char="•"/>
            </a:pPr>
            <a:r>
              <a:rPr lang="ko-KR" sz="1230">
                <a:solidFill>
                  <a:srgbClr val="1F2937"/>
                </a:solidFill>
                <a:latin typeface="Aptos"/>
                <a:ea typeface="Malgun Gothic"/>
              </a:rPr>
              <a:t>[ ] state schema가 구조화되어 있는가?</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tool output이 raw와 summary로 분리되는가?</a:t>
            </a:r>
          </a:p>
          <a:p>
            <a:pPr marL="228600" indent="-137160">
              <a:buChar char="•"/>
            </a:pPr>
            <a:r>
              <a:rPr lang="ko-KR" sz="1230">
                <a:solidFill>
                  <a:srgbClr val="1F2937"/>
                </a:solidFill>
                <a:latin typeface="Aptos"/>
                <a:ea typeface="Malgun Gothic"/>
              </a:rPr>
              <a:t>[ ] RAG source와 score가 유지되는가?</a:t>
            </a:r>
          </a:p>
          <a:p>
            <a:pPr marL="228600" indent="-137160">
              <a:buChar char="•"/>
            </a:pPr>
            <a:r>
              <a:rPr lang="ko-KR" sz="1230">
                <a:solidFill>
                  <a:srgbClr val="1F2937"/>
                </a:solidFill>
                <a:latin typeface="Aptos"/>
                <a:ea typeface="Malgun Gothic"/>
              </a:rPr>
              <a:t>[ ] memory retrieval policy가 있는가?</a:t>
            </a:r>
          </a:p>
          <a:p>
            <a:pPr marL="228600" indent="-137160">
              <a:buChar char="•"/>
            </a:pPr>
            <a:r>
              <a:rPr lang="ko-KR" sz="1230">
                <a:solidFill>
                  <a:srgbClr val="1F2937"/>
                </a:solidFill>
                <a:latin typeface="Aptos"/>
                <a:ea typeface="Malgun Gothic"/>
              </a:rPr>
              <a:t>[ ] compression trigger가 있는가?</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validation gate가 있는가?</a:t>
            </a:r>
          </a:p>
          <a:p>
            <a:pPr marL="228600" indent="-137160">
              <a:buChar char="•"/>
            </a:pPr>
            <a:r>
              <a:rPr lang="ko-KR" sz="1230">
                <a:solidFill>
                  <a:srgbClr val="1F2937"/>
                </a:solidFill>
                <a:latin typeface="Aptos"/>
                <a:ea typeface="Malgun Gothic"/>
              </a:rPr>
              <a:t>[ ] observability trace가 있는가?</a:t>
            </a:r>
          </a:p>
          <a:p>
            <a:pPr marL="0" indent="0">
              <a:buNone/>
            </a:pPr>
            <a:r>
              <a:rPr lang="ko-KR" sz="1240">
                <a:solidFill>
                  <a:srgbClr val="334155"/>
                </a:solidFill>
                <a:latin typeface="Aptos"/>
                <a:ea typeface="Malgun Gothic"/>
              </a:rPr>
              <a: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구현 체크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53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input/internal/output schema가 분리되어 있는가?</a:t>
            </a:r>
          </a:p>
          <a:p>
            <a:pPr marL="228600" indent="-137160">
              <a:buChar char="•"/>
            </a:pPr>
            <a:r>
              <a:rPr lang="ko-KR" sz="1230">
                <a:solidFill>
                  <a:srgbClr val="1F2937"/>
                </a:solidFill>
                <a:latin typeface="Aptos"/>
                <a:ea typeface="Malgun Gothic"/>
              </a:rPr>
              <a:t>[ ] node별 read/write contract가 있는가?</a:t>
            </a:r>
          </a:p>
          <a:p>
            <a:pPr marL="228600" indent="-137160">
              <a:buChar char="•"/>
            </a:pPr>
            <a:r>
              <a:rPr lang="ko-KR" sz="1230">
                <a:solidFill>
                  <a:srgbClr val="1F2937"/>
                </a:solidFill>
                <a:latin typeface="Aptos"/>
                <a:ea typeface="Malgun Gothic"/>
              </a:rPr>
              <a:t>[ ] deterministic node와 LLM node가 분리되어 있는가?</a:t>
            </a:r>
          </a:p>
          <a:p>
            <a:pPr marL="228600" indent="-137160">
              <a:buChar char="•"/>
            </a:pPr>
            <a:r>
              <a:rPr lang="ko-KR" sz="1230">
                <a:solidFill>
                  <a:srgbClr val="1F2937"/>
                </a:solidFill>
                <a:latin typeface="Aptos"/>
                <a:ea typeface="Malgun Gothic"/>
              </a:rPr>
              <a:t>[ ] conditional edge가 불필요한 context 수집을 막는가?</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max_steps가 있는가?</a:t>
            </a:r>
          </a:p>
          <a:p>
            <a:pPr marL="228600" indent="-137160">
              <a:buChar char="•"/>
            </a:pPr>
            <a:r>
              <a:rPr lang="ko-KR" sz="1230">
                <a:solidFill>
                  <a:srgbClr val="1F2937"/>
                </a:solidFill>
                <a:latin typeface="Aptos"/>
                <a:ea typeface="Malgun Gothic"/>
              </a:rPr>
              <a:t>[ ] finish gate가 코드로 강제되는가?</a:t>
            </a:r>
          </a:p>
          <a:p>
            <a:pPr marL="228600" indent="-137160">
              <a:buChar char="•"/>
            </a:pPr>
            <a:r>
              <a:rPr lang="ko-KR" sz="1230">
                <a:solidFill>
                  <a:srgbClr val="1F2937"/>
                </a:solidFill>
                <a:latin typeface="Aptos"/>
                <a:ea typeface="Malgun Gothic"/>
              </a:rPr>
              <a:t>[ ] checkpointer와 thread_id가 적용되는가?</a:t>
            </a:r>
          </a:p>
          <a:p>
            <a:pPr marL="228600" indent="-137160">
              <a:buChar char="•"/>
            </a:pPr>
            <a:r>
              <a:rPr lang="ko-KR" sz="1230">
                <a:solidFill>
                  <a:srgbClr val="1F2937"/>
                </a:solidFill>
                <a:latin typeface="Aptos"/>
                <a:ea typeface="Malgun Gothic"/>
              </a:rPr>
              <a:t>[ ] subgraph 또는 tool scope로 isolation이 되는가?</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validation node가 final output 전에 실행되는가?</a:t>
            </a:r>
          </a:p>
          <a:p>
            <a:pPr marL="0" indent="0">
              <a:buNone/>
            </a:pPr>
            <a:r>
              <a:rPr lang="ko-KR" sz="1240">
                <a:solidFill>
                  <a:srgbClr val="334155"/>
                </a:solidFill>
                <a:latin typeface="Aptos"/>
                <a:ea typeface="Malgun Gothic"/>
              </a:rPr>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관측 체크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54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run_start/run_end/final_output이 있는가?</a:t>
            </a:r>
          </a:p>
          <a:p>
            <a:pPr marL="228600" indent="-137160">
              <a:buChar char="•"/>
            </a:pPr>
            <a:r>
              <a:rPr lang="ko-KR" sz="1230">
                <a:solidFill>
                  <a:srgbClr val="1F2937"/>
                </a:solidFill>
                <a:latin typeface="Aptos"/>
                <a:ea typeface="Malgun Gothic"/>
              </a:rPr>
              <a:t>[ ] instruction_snapshot이 있는가?</a:t>
            </a:r>
          </a:p>
          <a:p>
            <a:pPr marL="228600" indent="-137160">
              <a:buChar char="•"/>
            </a:pPr>
            <a:r>
              <a:rPr lang="ko-KR" sz="1230">
                <a:solidFill>
                  <a:srgbClr val="1F2937"/>
                </a:solidFill>
                <a:latin typeface="Aptos"/>
                <a:ea typeface="Malgun Gothic"/>
              </a:rPr>
              <a:t>[ ] node_start/node_end가 있는가?</a:t>
            </a:r>
          </a:p>
          <a:p>
            <a:pPr marL="228600" indent="-137160">
              <a:buChar char="•"/>
            </a:pPr>
            <a:r>
              <a:rPr lang="ko-KR" sz="1230">
                <a:solidFill>
                  <a:srgbClr val="1F2937"/>
                </a:solidFill>
                <a:latin typeface="Aptos"/>
                <a:ea typeface="Malgun Gothic"/>
              </a:rPr>
              <a:t>[ ] edge_selected reason이 있는가?</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react_step과 observation이 있는가?</a:t>
            </a:r>
          </a:p>
          <a:p>
            <a:pPr marL="228600" indent="-137160">
              <a:buChar char="•"/>
            </a:pPr>
            <a:r>
              <a:rPr lang="ko-KR" sz="1230">
                <a:solidFill>
                  <a:srgbClr val="1F2937"/>
                </a:solidFill>
                <a:latin typeface="Aptos"/>
                <a:ea typeface="Malgun Gothic"/>
              </a:rPr>
              <a:t>[ ] tool input/output/error가 있는가?</a:t>
            </a:r>
          </a:p>
          <a:p>
            <a:pPr marL="228600" indent="-137160">
              <a:buChar char="•"/>
            </a:pPr>
            <a:r>
              <a:rPr lang="ko-KR" sz="1230">
                <a:solidFill>
                  <a:srgbClr val="1F2937"/>
                </a:solidFill>
                <a:latin typeface="Aptos"/>
                <a:ea typeface="Malgun Gothic"/>
              </a:rPr>
              <a:t>[ ] LLM messages/usage/latency가 있는가?</a:t>
            </a:r>
          </a:p>
          <a:p>
            <a:pPr marL="228600" indent="-137160">
              <a:buChar char="•"/>
            </a:pPr>
            <a:r>
              <a:rPr lang="ko-KR" sz="1230">
                <a:solidFill>
                  <a:srgbClr val="1F2937"/>
                </a:solidFill>
                <a:latin typeface="Aptos"/>
                <a:ea typeface="Malgun Gothic"/>
              </a:rPr>
              <a:t>[ ] RAG query/result가 있는가?</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 ] MCP call/result가 있는가?</a:t>
            </a:r>
          </a:p>
          <a:p>
            <a:pPr marL="228600" indent="-137160">
              <a:buChar char="•"/>
            </a:pPr>
            <a:r>
              <a:rPr lang="ko-KR" sz="1230">
                <a:solidFill>
                  <a:srgbClr val="1F2937"/>
                </a:solidFill>
                <a:latin typeface="Aptos"/>
                <a:ea typeface="Malgun Gothic"/>
              </a:rPr>
              <a:t>[ ] validation_result가 있는가?</a:t>
            </a:r>
          </a:p>
          <a:p>
            <a:pPr marL="228600" indent="-137160">
              <a:buChar char="•"/>
            </a:pPr>
            <a:r>
              <a:rPr lang="ko-KR" sz="1230">
                <a:solidFill>
                  <a:srgbClr val="1F2937"/>
                </a:solidFill>
                <a:latin typeface="Aptos"/>
                <a:ea typeface="Malgun Gothic"/>
              </a:rPr>
              <a:t>[ ] redaction이 적용되는가?</a:t>
            </a:r>
          </a:p>
          <a:p>
            <a:pPr marL="0" indent="0">
              <a:buNone/>
            </a:pPr>
            <a:r>
              <a:rPr lang="ko-KR" sz="1240">
                <a:solidFill>
                  <a:srgbClr val="334155"/>
                </a:solidFill>
                <a:latin typeface="Aptos"/>
                <a:ea typeface="Malgun Gothic"/>
              </a:rPr>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피해야 할 설계</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55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전체 state를 매번 LLM에 넣기</a:t>
            </a:r>
          </a:p>
          <a:p>
            <a:pPr marL="228600" indent="-137160">
              <a:buChar char="•"/>
            </a:pPr>
            <a:r>
              <a:rPr lang="ko-KR" sz="1230">
                <a:solidFill>
                  <a:srgbClr val="1F2937"/>
                </a:solidFill>
                <a:latin typeface="Aptos"/>
                <a:ea typeface="Malgun Gothic"/>
              </a:rPr>
              <a:t>messages를 memory로 무한 누적하기</a:t>
            </a:r>
          </a:p>
          <a:p>
            <a:pPr marL="228600" indent="-137160">
              <a:buChar char="•"/>
            </a:pPr>
            <a:r>
              <a:rPr lang="ko-KR" sz="1230">
                <a:solidFill>
                  <a:srgbClr val="1F2937"/>
                </a:solidFill>
                <a:latin typeface="Aptos"/>
                <a:ea typeface="Malgun Gothic"/>
              </a:rPr>
              <a:t>모든 tool을 항상 노출하기</a:t>
            </a:r>
          </a:p>
          <a:p>
            <a:pPr marL="228600" indent="-137160">
              <a:buChar char="•"/>
            </a:pPr>
            <a:r>
              <a:rPr lang="ko-KR" sz="1230">
                <a:solidFill>
                  <a:srgbClr val="1F2937"/>
                </a:solidFill>
                <a:latin typeface="Aptos"/>
                <a:ea typeface="Malgun Gothic"/>
              </a:rPr>
              <a:t>RAG 문서를 측정 근거처럼 사용하기</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validation을 prompt에만 맡기기</a:t>
            </a:r>
          </a:p>
          <a:p>
            <a:pPr marL="228600" indent="-137160">
              <a:buChar char="•"/>
            </a:pPr>
            <a:r>
              <a:rPr lang="ko-KR" sz="1230">
                <a:solidFill>
                  <a:srgbClr val="1F2937"/>
                </a:solidFill>
                <a:latin typeface="Aptos"/>
                <a:ea typeface="Malgun Gothic"/>
              </a:rPr>
              <a:t>checkpoint 없이 장기 실행하기</a:t>
            </a:r>
          </a:p>
          <a:p>
            <a:pPr marL="228600" indent="-137160">
              <a:buChar char="•"/>
            </a:pPr>
            <a:r>
              <a:rPr lang="ko-KR" sz="1230">
                <a:solidFill>
                  <a:srgbClr val="1F2937"/>
                </a:solidFill>
                <a:latin typeface="Aptos"/>
                <a:ea typeface="Malgun Gothic"/>
              </a:rPr>
              <a:t>final output만 저장하고 중간 경로를 잃어버리기</a:t>
            </a:r>
          </a:p>
          <a:p>
            <a:pPr marL="228600" indent="-137160">
              <a:buChar char="•"/>
            </a:pPr>
            <a:r>
              <a:rPr lang="ko-KR" sz="1230">
                <a:solidFill>
                  <a:srgbClr val="1F2937"/>
                </a:solidFill>
                <a:latin typeface="Aptos"/>
                <a:ea typeface="Malgun Gothic"/>
              </a:rPr>
              <a:t>trace에 secret/raw PII를 그대로 남기기</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tool error를 limitation에 반영하지 않기</a:t>
            </a:r>
          </a:p>
          <a:p>
            <a:pPr marL="228600" indent="-137160">
              <a:buChar char="•"/>
            </a:pPr>
            <a:r>
              <a:rPr lang="ko-KR" sz="1230">
                <a:solidFill>
                  <a:srgbClr val="1F2937"/>
                </a:solidFill>
                <a:latin typeface="Aptos"/>
                <a:ea typeface="Malgun Gothic"/>
              </a:rPr>
              <a:t>prompt 변경 이력을 남기지 않기</a:t>
            </a:r>
          </a:p>
          <a:p>
            <a:pPr marL="0" indent="0">
              <a:buNone/>
            </a:pPr>
            <a:r>
              <a:rPr lang="ko-KR" sz="1240">
                <a:solidFill>
                  <a:srgbClr val="334155"/>
                </a:solidFill>
                <a:latin typeface="Aptos"/>
                <a:ea typeface="Malgun Gothic"/>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세 문서의 결론을 하나로 묶으면</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56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Context Engineering</a:t>
            </a:r>
          </a:p>
          <a:p>
            <a:pPr marL="0" indent="0">
              <a:buNone/>
            </a:pPr>
            <a:r>
              <a:rPr lang="ko-KR" sz="1240">
                <a:solidFill>
                  <a:srgbClr val="334155"/>
                </a:solidFill>
                <a:latin typeface="Aptos"/>
                <a:ea typeface="Malgun Gothic"/>
              </a:rPr>
              <a:t>모델이 무엇을 보고 판단할지 설계하는 discipline</a:t>
            </a:r>
          </a:p>
          <a:p>
            <a:pPr marL="228600" indent="-137160">
              <a:buChar char="•"/>
            </a:pPr>
            <a:r>
              <a:rPr lang="ko-KR" sz="1230">
                <a:solidFill>
                  <a:srgbClr val="1F2937"/>
                </a:solidFill>
                <a:latin typeface="Aptos"/>
                <a:ea typeface="Malgun Gothic"/>
              </a:rPr>
              <a:t>LangGraph Architecture</a:t>
            </a:r>
          </a:p>
          <a:p>
            <a:pPr marL="0" indent="0">
              <a:buNone/>
            </a:pPr>
            <a:r>
              <a:rPr lang="ko-KR" sz="1240">
                <a:solidFill>
                  <a:srgbClr val="334155"/>
                </a:solidFill>
                <a:latin typeface="Aptos"/>
                <a:ea typeface="Malgun Gothic"/>
              </a:rPr>
              <a:t>context를 state/node/edge/checkpoint 단위로 통제하는 구현 구조</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Drift Telemetry</a:t>
            </a:r>
          </a:p>
          <a:p>
            <a:pPr marL="0" indent="0">
              <a:buNone/>
            </a:pPr>
            <a:r>
              <a:rPr lang="ko-KR" sz="1240">
                <a:solidFill>
                  <a:srgbClr val="334155"/>
                </a:solidFill>
                <a:latin typeface="Aptos"/>
                <a:ea typeface="Malgun Gothic"/>
              </a:rPr>
              <a:t>agent가 실제로 어떤 context와 도구를 사용했는지 기록하는 증거 계층</a:t>
            </a:r>
          </a:p>
          <a:p>
            <a:pPr marL="228600" indent="-137160">
              <a:buChar char="•"/>
            </a:pPr>
            <a:r>
              <a:rPr lang="ko-KR" sz="1230">
                <a:solidFill>
                  <a:srgbClr val="1F2937"/>
                </a:solidFill>
                <a:latin typeface="Aptos"/>
                <a:ea typeface="Malgun Gothic"/>
              </a:rPr>
              <a:t>Judge Agent</a:t>
            </a:r>
          </a:p>
          <a:p>
            <a:pPr marL="0" indent="0">
              <a:buNone/>
            </a:pPr>
            <a:r>
              <a:rPr lang="ko-KR" sz="1240">
                <a:solidFill>
                  <a:srgbClr val="334155"/>
                </a:solidFill>
                <a:latin typeface="Aptos"/>
                <a:ea typeface="Malgun Gothic"/>
              </a:rPr>
              <a:t>trace를 기반으로 drift, evidence alignment, output contract 위반을 평가하는 검증자</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450" b="1">
                <a:solidFill>
                  <a:srgbClr val="0F766E"/>
                </a:solidFill>
                <a:latin typeface="Aptos"/>
                <a:ea typeface="Malgun Gothic"/>
              </a:rPr>
              <a:t>핵심 문장</a:t>
            </a:r>
          </a:p>
          <a:p>
            <a:pPr marL="0" indent="0">
              <a:buNone/>
            </a:pPr>
            <a:r>
              <a:rPr lang="ko-KR" sz="1250">
                <a:solidFill>
                  <a:srgbClr val="475569"/>
                </a:solidFill>
                <a:latin typeface="Aptos"/>
                <a:ea typeface="Malgun Gothic"/>
              </a:rPr>
              <a:t>“운영 가능한 AI Agent는 좋은 답을 한 번 생성하는 시스템이 아니라, 왜 그 답이 나왔는지 재현·검증·개선할 수 있는 시스템이다.”</a:t>
            </a:r>
          </a:p>
          <a:p>
            <a:pPr marL="0" indent="0">
              <a:buNone/>
            </a:pPr>
            <a:r>
              <a:rPr lang="ko-KR" sz="1240">
                <a:solidFill>
                  <a:srgbClr val="334155"/>
                </a:solidFill>
                <a:latin typeface="Aptos"/>
                <a:ea typeface="Malgun Gothic"/>
              </a:rPr>
              <a: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Q1. Prompt만 잘 쓰면 안 되나요?</a:t>
            </a:r>
          </a:p>
        </p:txBody>
      </p:sp>
      <p:sp>
        <p:nvSpPr>
          <p:cNvPr id="7" name="subtitle"/>
          <p:cNvSpPr txBox="1"/>
          <p:nvPr/>
        </p:nvSpPr>
        <p:spPr>
          <a:xfrm>
            <a:off x="650000" y="790000"/>
            <a:ext cx="9700000" cy="280000"/>
          </a:xfrm>
          <a:prstGeom prst="rect"/>
          <a:noFill/>
          <a:ln>
            <a:noFill/>
          </a:ln>
        </p:spPr>
        <p:txBody>
          <a:bodyPr wrap="square" lIns="91440" tIns="68580" rIns="91440" bIns="68580"/>
          <a:lstStyle/>
          <a:p>
            <a:pPr marL="0" indent="0">
              <a:buNone/>
            </a:pPr>
            <a:r>
              <a:rPr lang="ko-KR" sz="1050">
                <a:solidFill>
                  <a:srgbClr val="64748B"/>
                </a:solidFill>
                <a:latin typeface="Aptos"/>
                <a:ea typeface="Malgun Gothic"/>
              </a:rPr>
              <a:t>Q2. 모든 trace를 저장하면 비용과 보안 문제가 크지 않나요?</a:t>
            </a:r>
          </a:p>
        </p:txBody>
      </p:sp>
      <p:sp>
        <p:nvSpPr>
          <p:cNvPr id="8"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57 / 62</a:t>
            </a:r>
          </a:p>
        </p:txBody>
      </p:sp>
      <p:sp>
        <p:nvSpPr>
          <p:cNvPr id="9" name="content card 0"/>
          <p:cNvSpPr/>
          <p:nvPr/>
        </p:nvSpPr>
        <p:spPr>
          <a:xfrm>
            <a:off x="650000" y="1160000"/>
            <a:ext cx="3513333" cy="5100000"/>
          </a:xfrm>
          <a:prstGeom prst="roundRect"/>
          <a:solidFill>
            <a:srgbClr val="FFFFFF"/>
          </a:solidFill>
          <a:ln w="7620">
            <a:solidFill>
              <a:srgbClr val="E5E7EB"/>
            </a:solidFill>
          </a:ln>
        </p:spPr>
        <p:txBody>
          <a:bodyPr/>
          <a:lstStyle/>
          <a:p/>
        </p:txBody>
      </p:sp>
      <p:sp>
        <p:nvSpPr>
          <p:cNvPr id="10" name="content text 0"/>
          <p:cNvSpPr txBox="1"/>
          <p:nvPr/>
        </p:nvSpPr>
        <p:spPr>
          <a:xfrm>
            <a:off x="720000" y="123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Prompt는 필요하지만 충분하지 않다. 운영 agent는 RAG, memory, tool, state, checkpoint, validation이 함께 작동한다. Drift는 prompt보다 context flow에서 더 자주 발생한다.</a:t>
            </a:r>
          </a:p>
          <a:p>
            <a:pPr marL="0" indent="0">
              <a:buNone/>
            </a:pPr>
            <a:r>
              <a:rPr lang="ko-KR" sz="1240">
                <a:solidFill>
                  <a:srgbClr val="334155"/>
                </a:solidFill>
                <a:latin typeface="Aptos"/>
                <a:ea typeface="Malgun Gothic"/>
              </a:rPr>
              <a:t>맞다. 그래서 raw data가 아니라 summary와 artifact reference를 저장하고, redaction과 retention 정책을 적용해야 한다.</a:t>
            </a:r>
          </a:p>
          <a:p>
            <a:pPr marL="0" indent="0">
              <a:buNone/>
            </a:pPr>
            <a:r>
              <a:rPr lang="ko-KR" sz="1450" b="1">
                <a:solidFill>
                  <a:srgbClr val="0F766E"/>
                </a:solidFill>
                <a:latin typeface="Aptos"/>
                <a:ea typeface="Malgun Gothic"/>
              </a:rPr>
              <a:t>Q3. Judge Agent는 rule-based여야 하나요, LLM-based여야 하나요?</a:t>
            </a:r>
          </a:p>
        </p:txBody>
      </p:sp>
      <p:sp>
        <p:nvSpPr>
          <p:cNvPr id="11" name="content card 1"/>
          <p:cNvSpPr/>
          <p:nvPr/>
        </p:nvSpPr>
        <p:spPr>
          <a:xfrm>
            <a:off x="4343333" y="1160000"/>
            <a:ext cx="3513333" cy="5100000"/>
          </a:xfrm>
          <a:prstGeom prst="roundRect"/>
          <a:solidFill>
            <a:srgbClr val="FFFFFF"/>
          </a:solidFill>
          <a:ln w="7620">
            <a:solidFill>
              <a:srgbClr val="E5E7EB"/>
            </a:solidFill>
          </a:ln>
        </p:spPr>
        <p:txBody>
          <a:bodyPr/>
          <a:lstStyle/>
          <a:p/>
        </p:txBody>
      </p:sp>
      <p:sp>
        <p:nvSpPr>
          <p:cNvPr id="12" name="content text 1"/>
          <p:cNvSpPr txBox="1"/>
          <p:nvPr/>
        </p:nvSpPr>
        <p:spPr>
          <a:xfrm>
            <a:off x="4413333" y="123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둘 다 필요하다. metric 존재 여부, output section 누락 등은 rule-based가 좋고, goal drift나 reasoning consistency는 LLM-as-a-Judge가 유용하다.</a:t>
            </a:r>
          </a:p>
          <a:p>
            <a:pPr marL="0" indent="0">
              <a:buNone/>
            </a:pPr>
            <a:r>
              <a:rPr lang="ko-KR" sz="1450" b="1">
                <a:solidFill>
                  <a:srgbClr val="0F766E"/>
                </a:solidFill>
                <a:latin typeface="Aptos"/>
                <a:ea typeface="Malgun Gothic"/>
              </a:rPr>
              <a:t>Q4. LangGraph가 꼭 필요한가요?</a:t>
            </a:r>
          </a:p>
          <a:p>
            <a:pPr marL="0" indent="0">
              <a:buNone/>
            </a:pPr>
            <a:r>
              <a:rPr lang="ko-KR" sz="1240">
                <a:solidFill>
                  <a:srgbClr val="334155"/>
                </a:solidFill>
                <a:latin typeface="Aptos"/>
                <a:ea typeface="Malgun Gothic"/>
              </a:rPr>
              <a:t>필수는 아니지만, state/node/edge/checkpoint를 명시적으로 다룰 수 있어 Context Engineering과 Drift Telemetry를 구현하기 좋다.</a:t>
            </a:r>
          </a:p>
        </p:txBody>
      </p:sp>
      <p:sp>
        <p:nvSpPr>
          <p:cNvPr id="13" name="content card 2"/>
          <p:cNvSpPr/>
          <p:nvPr/>
        </p:nvSpPr>
        <p:spPr>
          <a:xfrm>
            <a:off x="8036666" y="1160000"/>
            <a:ext cx="3513333" cy="5100000"/>
          </a:xfrm>
          <a:prstGeom prst="roundRect"/>
          <a:solidFill>
            <a:srgbClr val="FFFFFF"/>
          </a:solidFill>
          <a:ln w="7620">
            <a:solidFill>
              <a:srgbClr val="E5E7EB"/>
            </a:solidFill>
          </a:ln>
        </p:spPr>
        <p:txBody>
          <a:bodyPr/>
          <a:lstStyle/>
          <a:p/>
        </p:txBody>
      </p:sp>
      <p:sp>
        <p:nvSpPr>
          <p:cNvPr id="14" name="content text 2"/>
          <p:cNvSpPr txBox="1"/>
          <p:nvPr/>
        </p:nvSpPr>
        <p:spPr>
          <a:xfrm>
            <a:off x="8106666" y="123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내부 문서</a:t>
            </a:r>
          </a:p>
        </p:txBody>
      </p:sp>
      <p:sp>
        <p:nvSpPr>
          <p:cNvPr id="7" name="subtitle"/>
          <p:cNvSpPr txBox="1"/>
          <p:nvPr/>
        </p:nvSpPr>
        <p:spPr>
          <a:xfrm>
            <a:off x="650000" y="790000"/>
            <a:ext cx="9700000" cy="280000"/>
          </a:xfrm>
          <a:prstGeom prst="rect"/>
          <a:noFill/>
          <a:ln>
            <a:noFill/>
          </a:ln>
        </p:spPr>
        <p:txBody>
          <a:bodyPr wrap="square" lIns="91440" tIns="68580" rIns="91440" bIns="68580"/>
          <a:lstStyle/>
          <a:p>
            <a:pPr marL="0" indent="0">
              <a:buNone/>
            </a:pPr>
            <a:r>
              <a:rPr lang="ko-KR" sz="1050">
                <a:solidFill>
                  <a:srgbClr val="64748B"/>
                </a:solidFill>
                <a:latin typeface="Aptos"/>
                <a:ea typeface="Malgun Gothic"/>
              </a:rPr>
              <a:t>주요 외부 자료</a:t>
            </a:r>
          </a:p>
        </p:txBody>
      </p:sp>
      <p:sp>
        <p:nvSpPr>
          <p:cNvPr id="8"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58 / 62</a:t>
            </a:r>
          </a:p>
        </p:txBody>
      </p:sp>
      <p:sp>
        <p:nvSpPr>
          <p:cNvPr id="9" name="content card 0"/>
          <p:cNvSpPr/>
          <p:nvPr/>
        </p:nvSpPr>
        <p:spPr>
          <a:xfrm>
            <a:off x="650000" y="1160000"/>
            <a:ext cx="3513333" cy="5100000"/>
          </a:xfrm>
          <a:prstGeom prst="roundRect"/>
          <a:solidFill>
            <a:srgbClr val="FFFFFF"/>
          </a:solidFill>
          <a:ln w="7620">
            <a:solidFill>
              <a:srgbClr val="E5E7EB"/>
            </a:solidFill>
          </a:ln>
        </p:spPr>
        <p:txBody>
          <a:bodyPr/>
          <a:lstStyle/>
          <a:p/>
        </p:txBody>
      </p:sp>
      <p:sp>
        <p:nvSpPr>
          <p:cNvPr id="10" name="content text 0"/>
          <p:cNvSpPr txBox="1"/>
          <p:nvPr/>
        </p:nvSpPr>
        <p:spPr>
          <a:xfrm>
            <a:off x="720000" y="123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docs/context-engineering-guide.md</a:t>
            </a:r>
          </a:p>
          <a:p>
            <a:pPr marL="228600" indent="-137160">
              <a:buChar char="•"/>
            </a:pPr>
            <a:r>
              <a:rPr lang="ko-KR" sz="1230">
                <a:solidFill>
                  <a:srgbClr val="1F2937"/>
                </a:solidFill>
                <a:latin typeface="Aptos"/>
                <a:ea typeface="Malgun Gothic"/>
              </a:rPr>
              <a:t>docs/langchain-langgraph-context-engineering-guide.md</a:t>
            </a:r>
          </a:p>
          <a:p>
            <a:pPr marL="228600" indent="-137160">
              <a:buChar char="•"/>
            </a:pPr>
            <a:r>
              <a:rPr lang="ko-KR" sz="1230">
                <a:solidFill>
                  <a:srgbClr val="1F2937"/>
                </a:solidFill>
                <a:latin typeface="Aptos"/>
                <a:ea typeface="Malgun Gothic"/>
              </a:rPr>
              <a:t>docs/DRIFT_TELEMETRY_INTEGRATION_GUIDE.md</a:t>
            </a:r>
          </a:p>
          <a:p>
            <a:pPr marL="228600" indent="-137160">
              <a:buChar char="•"/>
            </a:pPr>
            <a:r>
              <a:rPr lang="ko-KR" sz="1230">
                <a:solidFill>
                  <a:srgbClr val="1F2937"/>
                </a:solidFill>
                <a:latin typeface="Aptos"/>
                <a:ea typeface="Malgun Gothic"/>
              </a:rPr>
              <a:t>LangChain Blog, “Context Engineering for Agents”</a:t>
            </a:r>
          </a:p>
        </p:txBody>
      </p:sp>
      <p:sp>
        <p:nvSpPr>
          <p:cNvPr id="11" name="content card 1"/>
          <p:cNvSpPr/>
          <p:nvPr/>
        </p:nvSpPr>
        <p:spPr>
          <a:xfrm>
            <a:off x="4343333" y="1160000"/>
            <a:ext cx="3513333" cy="5100000"/>
          </a:xfrm>
          <a:prstGeom prst="roundRect"/>
          <a:solidFill>
            <a:srgbClr val="FFFFFF"/>
          </a:solidFill>
          <a:ln w="7620">
            <a:solidFill>
              <a:srgbClr val="E5E7EB"/>
            </a:solidFill>
          </a:ln>
        </p:spPr>
        <p:txBody>
          <a:bodyPr/>
          <a:lstStyle/>
          <a:p/>
        </p:txBody>
      </p:sp>
      <p:sp>
        <p:nvSpPr>
          <p:cNvPr id="12" name="content text 1"/>
          <p:cNvSpPr txBox="1"/>
          <p:nvPr/>
        </p:nvSpPr>
        <p:spPr>
          <a:xfrm>
            <a:off x="4413333" y="123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LangGraph Graph API / Persistence / Memory docs</a:t>
            </a:r>
          </a:p>
          <a:p>
            <a:pPr marL="228600" indent="-137160">
              <a:buChar char="•"/>
            </a:pPr>
            <a:r>
              <a:rPr lang="ko-KR" sz="1230">
                <a:solidFill>
                  <a:srgbClr val="1F2937"/>
                </a:solidFill>
                <a:latin typeface="Aptos"/>
                <a:ea typeface="Malgun Gothic"/>
              </a:rPr>
              <a:t>Anthropic, “Building effective agents”</a:t>
            </a:r>
          </a:p>
          <a:p>
            <a:pPr marL="228600" indent="-137160">
              <a:buChar char="•"/>
            </a:pPr>
            <a:r>
              <a:rPr lang="ko-KR" sz="1230">
                <a:solidFill>
                  <a:srgbClr val="1F2937"/>
                </a:solidFill>
                <a:latin typeface="Aptos"/>
                <a:ea typeface="Malgun Gothic"/>
              </a:rPr>
              <a:t>Anthropic, “How we built our multi-agent research system”</a:t>
            </a:r>
          </a:p>
          <a:p>
            <a:pPr marL="228600" indent="-137160">
              <a:buChar char="•"/>
            </a:pPr>
            <a:r>
              <a:rPr lang="ko-KR" sz="1230">
                <a:solidFill>
                  <a:srgbClr val="1F2937"/>
                </a:solidFill>
                <a:latin typeface="Aptos"/>
                <a:ea typeface="Malgun Gothic"/>
              </a:rPr>
              <a:t>Drew Breunig, “How Long Contexts Fail”</a:t>
            </a:r>
          </a:p>
        </p:txBody>
      </p:sp>
      <p:sp>
        <p:nvSpPr>
          <p:cNvPr id="13" name="content card 2"/>
          <p:cNvSpPr/>
          <p:nvPr/>
        </p:nvSpPr>
        <p:spPr>
          <a:xfrm>
            <a:off x="8036666" y="1160000"/>
            <a:ext cx="3513333" cy="5100000"/>
          </a:xfrm>
          <a:prstGeom prst="roundRect"/>
          <a:solidFill>
            <a:srgbClr val="FFFFFF"/>
          </a:solidFill>
          <a:ln w="7620">
            <a:solidFill>
              <a:srgbClr val="E5E7EB"/>
            </a:solidFill>
          </a:ln>
        </p:spPr>
        <p:txBody>
          <a:bodyPr/>
          <a:lstStyle/>
          <a:p/>
        </p:txBody>
      </p:sp>
      <p:sp>
        <p:nvSpPr>
          <p:cNvPr id="14" name="content text 2"/>
          <p:cNvSpPr txBox="1"/>
          <p:nvPr/>
        </p:nvSpPr>
        <p:spPr>
          <a:xfrm>
            <a:off x="8106666" y="123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Model Context Protocol documentation</a:t>
            </a:r>
          </a:p>
          <a:p>
            <a:pPr marL="228600" indent="-137160">
              <a:buChar char="•"/>
            </a:pPr>
            <a:r>
              <a:rPr lang="ko-KR" sz="1230">
                <a:solidFill>
                  <a:srgbClr val="1F2937"/>
                </a:solidFill>
                <a:latin typeface="Aptos"/>
                <a:ea typeface="Malgun Gothic"/>
              </a:rPr>
              <a:t>HumanLayer, “12-Factor Agents”</a:t>
            </a:r>
          </a:p>
          <a:p>
            <a:pPr marL="0" indent="0">
              <a:buNone/>
            </a:pPr>
            <a:r>
              <a:rPr lang="ko-KR" sz="1240">
                <a:solidFill>
                  <a:srgbClr val="334155"/>
                </a:solidFill>
                <a:latin typeface="Aptos"/>
                <a:ea typeface="Malgun Gothic"/>
              </a:rPr>
              <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20분 발표 구성</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59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Slide 1~4: 발표 개요 — 2분</a:t>
            </a:r>
          </a:p>
          <a:p>
            <a:pPr marL="228600" indent="-137160">
              <a:buChar char="•"/>
            </a:pPr>
            <a:r>
              <a:rPr lang="ko-KR" sz="1230">
                <a:solidFill>
                  <a:srgbClr val="1F2937"/>
                </a:solidFill>
                <a:latin typeface="Aptos"/>
                <a:ea typeface="Malgun Gothic"/>
              </a:rPr>
              <a:t>Slide 5~10: Context Engineering 필요성 — 4분</a:t>
            </a:r>
          </a:p>
          <a:p>
            <a:pPr marL="228600" indent="-137160">
              <a:buChar char="•"/>
            </a:pPr>
            <a:r>
              <a:rPr lang="ko-KR" sz="1230">
                <a:solidFill>
                  <a:srgbClr val="1F2937"/>
                </a:solidFill>
                <a:latin typeface="Aptos"/>
                <a:ea typeface="Malgun Gothic"/>
              </a:rPr>
              <a:t>Slide 16~24: LangGraph 설계 핵심 — 5분</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Slide 32~35: Reference Agent 구조 — 3분</a:t>
            </a:r>
          </a:p>
          <a:p>
            <a:pPr marL="228600" indent="-137160">
              <a:buChar char="•"/>
            </a:pPr>
            <a:r>
              <a:rPr lang="ko-KR" sz="1230">
                <a:solidFill>
                  <a:srgbClr val="1F2937"/>
                </a:solidFill>
                <a:latin typeface="Aptos"/>
                <a:ea typeface="Malgun Gothic"/>
              </a:rPr>
              <a:t>Slide 36~46: Drift Telemetry — 4분</a:t>
            </a:r>
          </a:p>
          <a:p>
            <a:pPr marL="228600" indent="-137160">
              <a:buChar char="•"/>
            </a:pPr>
            <a:r>
              <a:rPr lang="ko-KR" sz="1230">
                <a:solidFill>
                  <a:srgbClr val="1F2937"/>
                </a:solidFill>
                <a:latin typeface="Aptos"/>
                <a:ea typeface="Malgun Gothic"/>
              </a:rPr>
              <a:t>Slide 49~56: 통합 아키텍처와 결론 — 2분</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40분 발표 구성</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60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문제 정의와 Agent Drift — 5분</a:t>
            </a:r>
          </a:p>
          <a:p>
            <a:pPr marL="228600" indent="-137160">
              <a:buChar char="•"/>
            </a:pPr>
            <a:r>
              <a:rPr lang="ko-KR" sz="1230">
                <a:solidFill>
                  <a:srgbClr val="1F2937"/>
                </a:solidFill>
                <a:latin typeface="Aptos"/>
                <a:ea typeface="Malgun Gothic"/>
              </a:rPr>
              <a:t>Context Engineering 기본 개념 — 8분</a:t>
            </a:r>
          </a:p>
          <a:p>
            <a:pPr marL="228600" indent="-137160">
              <a:buChar char="•"/>
            </a:pPr>
            <a:r>
              <a:rPr lang="ko-KR" sz="1230">
                <a:solidFill>
                  <a:srgbClr val="1F2937"/>
                </a:solidFill>
                <a:latin typeface="Aptos"/>
                <a:ea typeface="Malgun Gothic"/>
              </a:rPr>
              <a:t>LangGraph Context 설계 — 12분</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Reference Agent 구조 해설 — 5분</a:t>
            </a:r>
          </a:p>
          <a:p>
            <a:pPr marL="228600" indent="-137160">
              <a:buChar char="•"/>
            </a:pPr>
            <a:r>
              <a:rPr lang="ko-KR" sz="1230">
                <a:solidFill>
                  <a:srgbClr val="1F2937"/>
                </a:solidFill>
                <a:latin typeface="Aptos"/>
                <a:ea typeface="Malgun Gothic"/>
              </a:rPr>
              <a:t>Drift Telemetry 수집 구조 — 7분</a:t>
            </a:r>
          </a:p>
          <a:p>
            <a:pPr marL="228600" indent="-137160">
              <a:buChar char="•"/>
            </a:pPr>
            <a:r>
              <a:rPr lang="ko-KR" sz="1230">
                <a:solidFill>
                  <a:srgbClr val="1F2937"/>
                </a:solidFill>
                <a:latin typeface="Aptos"/>
                <a:ea typeface="Malgun Gothic"/>
              </a:rPr>
              <a:t>Judge Agent 평가 루프와 Q&amp;A — 3분</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바로 실행할 수 있는 개선 항목</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61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reference_agent/weblog_agent의 LLM call에 context budget trace 추가</a:t>
            </a:r>
          </a:p>
          <a:p>
            <a:pPr marL="228600" indent="-137160">
              <a:buChar char="•"/>
            </a:pPr>
            <a:r>
              <a:rPr lang="ko-KR" sz="1230">
                <a:solidFill>
                  <a:srgbClr val="1F2937"/>
                </a:solidFill>
                <a:latin typeface="Aptos"/>
                <a:ea typeface="Malgun Gothic"/>
              </a:rPr>
              <a:t>state.snapshot()을 용도별 projection 함수로 분리</a:t>
            </a:r>
          </a:p>
          <a:p>
            <a:pPr marL="228600" indent="-137160">
              <a:buChar char="•"/>
            </a:pPr>
            <a:r>
              <a:rPr lang="ko-KR" sz="1230">
                <a:solidFill>
                  <a:srgbClr val="1F2937"/>
                </a:solidFill>
                <a:latin typeface="Aptos"/>
                <a:ea typeface="Malgun Gothic"/>
              </a:rPr>
              <a:t>ReAct step에서 dynamic tool selection 적용</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finish gate를 코드로 강제</a:t>
            </a:r>
          </a:p>
          <a:p>
            <a:pPr marL="228600" indent="-137160">
              <a:buChar char="•"/>
            </a:pPr>
            <a:r>
              <a:rPr lang="ko-KR" sz="1230">
                <a:solidFill>
                  <a:srgbClr val="1F2937"/>
                </a:solidFill>
                <a:latin typeface="Aptos"/>
                <a:ea typeface="Malgun Gothic"/>
              </a:rPr>
              <a:t>RAG context와 measured evidence를 final report schema에서 더 명확히 분리</a:t>
            </a:r>
          </a:p>
          <a:p>
            <a:pPr marL="228600" indent="-137160">
              <a:buChar char="•"/>
            </a:pPr>
            <a:r>
              <a:rPr lang="ko-KR" sz="1230">
                <a:solidFill>
                  <a:srgbClr val="1F2937"/>
                </a:solidFill>
                <a:latin typeface="Aptos"/>
                <a:ea typeface="Malgun Gothic"/>
              </a:rPr>
              <a:t>TraceLogger collector payload schema를 별도 JSON schema로 정의</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Judge Agent drift rule을 이벤트 매핑 기반으로 확장</a:t>
            </a:r>
          </a:p>
          <a:p>
            <a:pPr marL="228600" indent="-137160">
              <a:buChar char="•"/>
            </a:pPr>
            <a:r>
              <a:rPr lang="ko-KR" sz="1230">
                <a:solidFill>
                  <a:srgbClr val="1F2937"/>
                </a:solidFill>
                <a:latin typeface="Aptos"/>
                <a:ea typeface="Malgun Gothic"/>
              </a:rPr>
              <a:t>regression fixture에 context bloat / RAG drift / tool drift 케이스 추가</a:t>
            </a:r>
          </a:p>
          <a:p>
            <a:pPr marL="0" indent="0">
              <a:buNone/>
            </a:pPr>
            <a:r>
              <a:rPr lang="ko-KR" sz="1240">
                <a:solidFill>
                  <a:srgbClr val="334155"/>
                </a:solidFill>
                <a:latin typeface="Aptos"/>
                <a:ea typeface="Malgun Gothic"/>
              </a:rPr>
              <a: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solidFill>
            <a:srgbClr val="FAFAFA"/>
          </a:solidFill>
          <a:ln w="7620">
            <a:solidFill>
              <a:srgbClr val="FAFAFA"/>
            </a:solidFill>
          </a:ln>
        </p:spPr>
        <p:txBody>
          <a:bodyPr/>
          <a:lstStyle/>
          <a:p/>
        </p:txBody>
      </p:sp>
      <p:sp>
        <p:nvSpPr>
          <p:cNvPr id="3" name="line"/>
          <p:cNvSpPr/>
          <p:nvPr/>
        </p:nvSpPr>
        <p:spPr>
          <a:xfrm>
            <a:off x="0" y="0"/>
            <a:ext cx="12192000" cy="55000"/>
          </a:xfrm>
          <a:prstGeom prst="rect"/>
          <a:solidFill>
            <a:srgbClr val="2563EB"/>
          </a:solidFill>
          <a:ln>
            <a:noFill/>
          </a:ln>
        </p:spPr>
        <p:txBody>
          <a:bodyPr/>
          <a:lstStyle/>
          <a:p/>
        </p:txBody>
      </p:sp>
      <p:sp>
        <p:nvSpPr>
          <p:cNvPr id="4" name="line"/>
          <p:cNvSpPr/>
          <p:nvPr/>
        </p:nvSpPr>
        <p:spPr>
          <a:xfrm>
            <a:off x="520000" y="410000"/>
            <a:ext cx="90000" cy="410000"/>
          </a:xfrm>
          <a:prstGeom prst="rect"/>
          <a:solidFill>
            <a:srgbClr val="0F766E"/>
          </a:solidFill>
          <a:ln>
            <a:noFill/>
          </a:ln>
        </p:spPr>
        <p:txBody>
          <a:bodyPr/>
          <a:lstStyle/>
          <a:p/>
        </p:txBody>
      </p:sp>
      <p:sp>
        <p:nvSpPr>
          <p:cNvPr id="5" name="section label"/>
          <p:cNvSpPr txBox="1"/>
          <p:nvPr/>
        </p:nvSpPr>
        <p:spPr>
          <a:xfrm>
            <a:off x="650000" y="230000"/>
            <a:ext cx="7600000" cy="220000"/>
          </a:xfrm>
          <a:prstGeom prst="rect"/>
          <a:noFill/>
          <a:ln>
            <a:noFill/>
          </a:ln>
        </p:spPr>
        <p:txBody>
          <a:bodyPr wrap="square" lIns="91440" tIns="68580" rIns="91440" bIns="68580"/>
          <a:lstStyle/>
          <a:p>
            <a:pPr marL="0" indent="0">
              <a:buNone/>
            </a:pPr>
            <a:r>
              <a:rPr lang="ko-KR" sz="820" b="1">
                <a:solidFill>
                  <a:srgbClr val="64748B"/>
                </a:solidFill>
                <a:latin typeface="Aptos"/>
                <a:ea typeface="Malgun Gothic"/>
              </a:rPr>
              <a:t>JUDGE AGENT · CONTEXT ENGINEERING · LANGGRAPH · TELEMETRY</a:t>
            </a:r>
          </a:p>
        </p:txBody>
      </p:sp>
      <p:sp>
        <p:nvSpPr>
          <p:cNvPr id="6" name="title"/>
          <p:cNvSpPr txBox="1"/>
          <p:nvPr/>
        </p:nvSpPr>
        <p:spPr>
          <a:xfrm>
            <a:off x="650000" y="420000"/>
            <a:ext cx="9200000" cy="420000"/>
          </a:xfrm>
          <a:prstGeom prst="rect"/>
          <a:noFill/>
          <a:ln>
            <a:noFill/>
          </a:ln>
        </p:spPr>
        <p:txBody>
          <a:bodyPr wrap="square" lIns="91440" tIns="68580" rIns="91440" bIns="68580"/>
          <a:lstStyle/>
          <a:p>
            <a:pPr marL="0" indent="0">
              <a:buNone/>
            </a:pPr>
            <a:r>
              <a:rPr lang="ko-KR" sz="1880" b="1">
                <a:solidFill>
                  <a:srgbClr val="0F172A"/>
                </a:solidFill>
                <a:latin typeface="Aptos"/>
                <a:ea typeface="Malgun Gothic"/>
              </a:rPr>
              <a:t>발표 마무리</a:t>
            </a:r>
          </a:p>
        </p:txBody>
      </p:sp>
      <p:sp>
        <p:nvSpPr>
          <p:cNvPr id="7" name="footer"/>
          <p:cNvSpPr txBox="1"/>
          <p:nvPr/>
        </p:nvSpPr>
        <p:spPr>
          <a:xfrm>
            <a:off x="10600000" y="6500000"/>
            <a:ext cx="1050000" cy="180000"/>
          </a:xfrm>
          <a:prstGeom prst="rect"/>
          <a:noFill/>
          <a:ln>
            <a:noFill/>
          </a:ln>
        </p:spPr>
        <p:txBody>
          <a:bodyPr wrap="square" lIns="91440" tIns="68580" rIns="91440" bIns="68580"/>
          <a:lstStyle/>
          <a:p>
            <a:pPr marL="0" indent="0">
              <a:buNone/>
            </a:pPr>
            <a:r>
              <a:rPr lang="ko-KR" sz="850">
                <a:solidFill>
                  <a:srgbClr val="94A3B8"/>
                </a:solidFill>
                <a:latin typeface="Aptos"/>
                <a:ea typeface="Malgun Gothic"/>
              </a:rPr>
              <a:t>62 / 62</a:t>
            </a:r>
          </a:p>
        </p:txBody>
      </p:sp>
      <p:sp>
        <p:nvSpPr>
          <p:cNvPr id="8" name="content card 0"/>
          <p:cNvSpPr/>
          <p:nvPr/>
        </p:nvSpPr>
        <p:spPr>
          <a:xfrm>
            <a:off x="650000" y="1040000"/>
            <a:ext cx="3513333" cy="5100000"/>
          </a:xfrm>
          <a:prstGeom prst="roundRect"/>
          <a:solidFill>
            <a:srgbClr val="FFFFFF"/>
          </a:solidFill>
          <a:ln w="7620">
            <a:solidFill>
              <a:srgbClr val="E5E7EB"/>
            </a:solidFill>
          </a:ln>
        </p:spPr>
        <p:txBody>
          <a:bodyPr/>
          <a:lstStyle/>
          <a:p/>
        </p:txBody>
      </p:sp>
      <p:sp>
        <p:nvSpPr>
          <p:cNvPr id="9" name="content text 0"/>
          <p:cNvSpPr txBox="1"/>
          <p:nvPr/>
        </p:nvSpPr>
        <p:spPr>
          <a:xfrm>
            <a:off x="720000" y="1110000"/>
            <a:ext cx="3373333" cy="4960000"/>
          </a:xfrm>
          <a:prstGeom prst="rect"/>
          <a:noFill/>
          <a:ln>
            <a:noFill/>
          </a:ln>
        </p:spPr>
        <p:txBody>
          <a:bodyPr wrap="square" lIns="91440" tIns="68580" rIns="91440" bIns="68580"/>
          <a:lstStyle/>
          <a:p>
            <a:pPr marL="0" indent="0">
              <a:buNone/>
            </a:pPr>
            <a:r>
              <a:rPr lang="ko-KR" sz="1240">
                <a:solidFill>
                  <a:srgbClr val="334155"/>
                </a:solidFill>
                <a:latin typeface="Aptos"/>
                <a:ea typeface="Malgun Gothic"/>
              </a:rPr>
              <a:t>AI Agent를 production에 올린다는 것은 LLM 호출 코드를 작성하는 것보다 훨씬 넓은 문제다.</a:t>
            </a:r>
          </a:p>
          <a:p>
            <a:pPr marL="0" indent="0">
              <a:buNone/>
            </a:pPr>
            <a:r>
              <a:rPr lang="ko-KR" sz="1240">
                <a:solidFill>
                  <a:srgbClr val="334155"/>
                </a:solidFill>
                <a:latin typeface="Aptos"/>
                <a:ea typeface="Malgun Gothic"/>
              </a:rPr>
              <a:t>운영 가능한 Agent에는 다음이 필요하다.</a:t>
            </a:r>
          </a:p>
          <a:p>
            <a:pPr marL="228600" indent="-137160">
              <a:buChar char="•"/>
            </a:pPr>
            <a:r>
              <a:rPr lang="ko-KR" sz="1230">
                <a:solidFill>
                  <a:srgbClr val="1F2937"/>
                </a:solidFill>
                <a:latin typeface="Aptos"/>
                <a:ea typeface="Malgun Gothic"/>
              </a:rPr>
              <a:t>명확한 context policy</a:t>
            </a:r>
          </a:p>
          <a:p>
            <a:pPr marL="228600" indent="-137160">
              <a:buChar char="•"/>
            </a:pPr>
            <a:r>
              <a:rPr lang="ko-KR" sz="1230">
                <a:solidFill>
                  <a:srgbClr val="1F2937"/>
                </a:solidFill>
                <a:latin typeface="Aptos"/>
                <a:ea typeface="Malgun Gothic"/>
              </a:rPr>
              <a:t>구조화된 graph state</a:t>
            </a:r>
          </a:p>
        </p:txBody>
      </p:sp>
      <p:sp>
        <p:nvSpPr>
          <p:cNvPr id="10" name="content card 1"/>
          <p:cNvSpPr/>
          <p:nvPr/>
        </p:nvSpPr>
        <p:spPr>
          <a:xfrm>
            <a:off x="4343333" y="1040000"/>
            <a:ext cx="3513333" cy="5100000"/>
          </a:xfrm>
          <a:prstGeom prst="roundRect"/>
          <a:solidFill>
            <a:srgbClr val="FFFFFF"/>
          </a:solidFill>
          <a:ln w="7620">
            <a:solidFill>
              <a:srgbClr val="E5E7EB"/>
            </a:solidFill>
          </a:ln>
        </p:spPr>
        <p:txBody>
          <a:bodyPr/>
          <a:lstStyle/>
          <a:p/>
        </p:txBody>
      </p:sp>
      <p:sp>
        <p:nvSpPr>
          <p:cNvPr id="11" name="content text 1"/>
          <p:cNvSpPr txBox="1"/>
          <p:nvPr/>
        </p:nvSpPr>
        <p:spPr>
          <a:xfrm>
            <a:off x="4413333"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제한된 tool exposure</a:t>
            </a:r>
          </a:p>
          <a:p>
            <a:pPr marL="228600" indent="-137160">
              <a:buChar char="•"/>
            </a:pPr>
            <a:r>
              <a:rPr lang="ko-KR" sz="1230">
                <a:solidFill>
                  <a:srgbClr val="1F2937"/>
                </a:solidFill>
                <a:latin typeface="Aptos"/>
                <a:ea typeface="Malgun Gothic"/>
              </a:rPr>
              <a:t>출처가 보존된 RAG</a:t>
            </a:r>
          </a:p>
          <a:p>
            <a:pPr marL="228600" indent="-137160">
              <a:buChar char="•"/>
            </a:pPr>
            <a:r>
              <a:rPr lang="ko-KR" sz="1230">
                <a:solidFill>
                  <a:srgbClr val="1F2937"/>
                </a:solidFill>
                <a:latin typeface="Aptos"/>
                <a:ea typeface="Malgun Gothic"/>
              </a:rPr>
              <a:t>압축 가능한 observation</a:t>
            </a:r>
          </a:p>
          <a:p>
            <a:pPr marL="228600" indent="-137160">
              <a:buChar char="•"/>
            </a:pPr>
            <a:r>
              <a:rPr lang="ko-KR" sz="1230">
                <a:solidFill>
                  <a:srgbClr val="1F2937"/>
                </a:solidFill>
                <a:latin typeface="Aptos"/>
                <a:ea typeface="Malgun Gothic"/>
              </a:rPr>
              <a:t>checkpoint 기반 복구</a:t>
            </a:r>
          </a:p>
        </p:txBody>
      </p:sp>
      <p:sp>
        <p:nvSpPr>
          <p:cNvPr id="12" name="content card 2"/>
          <p:cNvSpPr/>
          <p:nvPr/>
        </p:nvSpPr>
        <p:spPr>
          <a:xfrm>
            <a:off x="8036666" y="1040000"/>
            <a:ext cx="3513333" cy="5100000"/>
          </a:xfrm>
          <a:prstGeom prst="roundRect"/>
          <a:solidFill>
            <a:srgbClr val="FFFFFF"/>
          </a:solidFill>
          <a:ln w="7620">
            <a:solidFill>
              <a:srgbClr val="E5E7EB"/>
            </a:solidFill>
          </a:ln>
        </p:spPr>
        <p:txBody>
          <a:bodyPr/>
          <a:lstStyle/>
          <a:p/>
        </p:txBody>
      </p:sp>
      <p:sp>
        <p:nvSpPr>
          <p:cNvPr id="13" name="content text 2"/>
          <p:cNvSpPr txBox="1"/>
          <p:nvPr/>
        </p:nvSpPr>
        <p:spPr>
          <a:xfrm>
            <a:off x="8106666" y="1110000"/>
            <a:ext cx="3373333" cy="4960000"/>
          </a:xfrm>
          <a:prstGeom prst="rect"/>
          <a:noFill/>
          <a:ln>
            <a:noFill/>
          </a:ln>
        </p:spPr>
        <p:txBody>
          <a:bodyPr wrap="square" lIns="91440" tIns="68580" rIns="91440" bIns="68580"/>
          <a:lstStyle/>
          <a:p>
            <a:pPr marL="228600" indent="-137160">
              <a:buChar char="•"/>
            </a:pPr>
            <a:r>
              <a:rPr lang="ko-KR" sz="1230">
                <a:solidFill>
                  <a:srgbClr val="1F2937"/>
                </a:solidFill>
                <a:latin typeface="Aptos"/>
                <a:ea typeface="Malgun Gothic"/>
              </a:rPr>
              <a:t>validation gate</a:t>
            </a:r>
          </a:p>
          <a:p>
            <a:pPr marL="228600" indent="-137160">
              <a:buChar char="•"/>
            </a:pPr>
            <a:r>
              <a:rPr lang="ko-KR" sz="1230">
                <a:solidFill>
                  <a:srgbClr val="1F2937"/>
                </a:solidFill>
                <a:latin typeface="Aptos"/>
                <a:ea typeface="Malgun Gothic"/>
              </a:rPr>
              <a:t>drift telemetry</a:t>
            </a:r>
          </a:p>
          <a:p>
            <a:pPr marL="228600" indent="-137160">
              <a:buChar char="•"/>
            </a:pPr>
            <a:r>
              <a:rPr lang="ko-KR" sz="1230">
                <a:solidFill>
                  <a:srgbClr val="1F2937"/>
                </a:solidFill>
                <a:latin typeface="Aptos"/>
                <a:ea typeface="Malgun Gothic"/>
              </a:rPr>
              <a:t>Judge Agent 기반 피드백 루프</a:t>
            </a:r>
          </a:p>
          <a:p>
            <a:pPr marL="0" indent="0">
              <a:buNone/>
            </a:pPr>
            <a:r>
              <a:rPr lang="ko-KR" sz="1240">
                <a:solidFill>
                  <a:srgbClr val="334155"/>
                </a:solidFill>
                <a:latin typeface="Aptos"/>
                <a:ea typeface="Malgun Gothic"/>
              </a:rPr>
              <a:t>최종적으로 우리가 만들고자 하는 것은 단순한 챗봇이 아니라, 자신의 실행 과정을 설명하고 검증받을 수 있는 에이전트 시스템이다.</a:t>
            </a:r>
          </a:p>
        </p:txBody>
      </p:sp>
    </p:spTree>
  </p:cSld>
  <p:clrMapOvr>
    <a:masterClrMapping/>
  </p:clrMapOvr>
</p:sld>
</file>

<file path=ppt/theme/theme1.xml><?xml version="1.0" encoding="utf-8"?>
<a:theme xmlns:a="http://schemas.openxmlformats.org/drawingml/2006/main" name="DenseWhiteTech">
  <a:themeElements>
    <a:clrScheme name="DenseWhiteTech">
      <a:dk1>
        <a:srgbClr val="0F172A"/>
      </a:dk1>
      <a:lt1>
        <a:srgbClr val="FAFAFA"/>
      </a:lt1>
      <a:dk2>
        <a:srgbClr val="1F2937"/>
      </a:dk2>
      <a:lt2>
        <a:srgbClr val="F3F4F6"/>
      </a:lt2>
      <a:accent1>
        <a:srgbClr val="2563EB"/>
      </a:accent1>
      <a:accent2>
        <a:srgbClr val="0F766E"/>
      </a:accent2>
      <a:accent3>
        <a:srgbClr val="F59E0B"/>
      </a:accent3>
      <a:accent4>
        <a:srgbClr val="DC2626"/>
      </a:accent4>
      <a:accent5>
        <a:srgbClr val="7C3AED"/>
      </a:accent5>
      <a:accent6>
        <a:srgbClr val="0891B2"/>
      </a:accent6>
      <a:hlink>
        <a:srgbClr val="2563EB"/>
      </a:hlink>
      <a:folHlink>
        <a:srgbClr val="7C3AED"/>
      </a:folHlink>
    </a:clrScheme>
    <a:fontScheme name="DenseWhiteTech">
      <a:majorFont>
        <a:latin typeface="Aptos"/>
        <a:ea typeface="Malgun Gothic"/>
      </a:majorFont>
      <a:minorFont>
        <a:latin typeface="Aptos"/>
        <a:ea typeface="Malgun Gothic"/>
      </a:minorFont>
    </a:fontScheme>
    <a:fmtScheme name="DenseWhiteTech">
      <a:fillStyleLst>
        <a:solidFill>
          <a:schemeClr val="phClr"/>
        </a:solidFill>
      </a:fillStyleLst>
      <a:lnStyleLst>
        <a:ln w="7620">
          <a:solidFill>
            <a:schemeClr val="phClr"/>
          </a:solidFill>
        </a:ln>
      </a:lnStyleLst>
      <a:effectStyle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OpenClaw Dense PPTX Generator</Application>
  <PresentationFormat>On-screen Show (16:9)</PresentationFormat>
  <Slides>62</Slides>
</Properties>
</file>

<file path=docProps/core.xml><?xml version="1.0" encoding="utf-8"?>
<cp:coreProperties xmlns:cp="http://schemas.openxmlformats.org/package/2006/metadata/core-properties" xmlns:dc="http://purl.org/dc/elements/1.1/" xmlns:dcterms="http://purl.org/dc/terms/" xmlns:xsi="http://www.w3.org/2001/XMLSchema-instance">
  <dc:title>Judge Agent Context Engineering Tech Presentation</dc:title>
  <dc:creator>OpenClaw</dc:creator>
  <cp:lastModifiedBy>OpenClaw</cp:lastModifiedBy>
  <dcterms:created xsi:type="dcterms:W3CDTF">2026-05-15T00:37:09Z</dcterms:created>
  <dcterms:modified xsi:type="dcterms:W3CDTF">2026-05-15T00:37:09Z</dcterms:modified>
</cp:coreProperties>
</file>