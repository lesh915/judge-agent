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EDITABLE WHITE TECHNICAL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Judge Agent를 위한 Context Engineering &amp; Drift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운영 가능한 AI Agent를 위한 컨텍스트 설계 · LangGraph 구조화 · Drift 관측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01/20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89611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Apple SD Gothic Neo"/>
              </a:rPr>
              <a:t>좋은 Agent는 답변 생성기가 아니라, 상태와 근거와 실행 경로로 설명 가능한 시스템입니다.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3246120" cy="13258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5029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953512"/>
            <a:ext cx="247802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ple SD Gothic Neo"/>
              </a:rPr>
              <a:t>Context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37560"/>
            <a:ext cx="245973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0">
                <a:solidFill>
                  <a:srgbClr val="263244"/>
                </a:solidFill>
                <a:latin typeface="Apple SD Gothic Neo"/>
              </a:rPr>
              <a:t>• 무엇을 보고 판단할지 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788920"/>
            <a:ext cx="3246120" cy="132588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2788920"/>
            <a:ext cx="50292" cy="1325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90872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953512"/>
            <a:ext cx="247802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ple SD Gothic Neo"/>
              </a:rPr>
              <a:t>LangGraph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3337560"/>
            <a:ext cx="245973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0">
                <a:solidFill>
                  <a:srgbClr val="263244"/>
                </a:solidFill>
                <a:latin typeface="Apple SD Gothic Neo"/>
              </a:rPr>
              <a:t>• State/Node/Edge로 흐름 통제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788920"/>
            <a:ext cx="3246120" cy="132588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788920"/>
            <a:ext cx="5029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85632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2953512"/>
            <a:ext cx="247802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ple SD Gothic Neo"/>
              </a:rPr>
              <a:t>Drift 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3337560"/>
            <a:ext cx="245973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0">
                <a:solidFill>
                  <a:srgbClr val="263244"/>
                </a:solidFill>
                <a:latin typeface="Apple SD Gothic Neo"/>
              </a:rPr>
              <a:t>• 실행 증거를 trace로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074920"/>
            <a:ext cx="10287000" cy="640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5303520"/>
            <a:ext cx="96012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50" b="1">
                <a:solidFill>
                  <a:srgbClr val="111827"/>
                </a:solidFill>
                <a:latin typeface="Apple SD Gothic Neo"/>
              </a:rPr>
              <a:t>핵심 질문: Judge Agent는 무엇을 근거로 “정상 동작”과 “Drift”를 구분할 수 있는가?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운영 Agent가 실패하는 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최종 답변만으로는 실패 원인을 판단할 수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02/20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892040" cy="15087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5029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16002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733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1581912"/>
            <a:ext cx="4123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Goal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1965960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사용자 목표에서 벗어난 작업 수행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2276856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필요 증거: run_start ↔ final_output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17320"/>
            <a:ext cx="4892040" cy="150876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50292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65392" y="16002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733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1581912"/>
            <a:ext cx="4123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Tool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965960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상태와 맞지 않는 tool 선택/반복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276856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필요 증거: react_step + tool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4892040" cy="150876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50292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" y="36576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7307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" y="3639312"/>
            <a:ext cx="4123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Evidence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4023359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근거 없는 수치·원인 claim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9304" y="4334255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필요 증거: tool output ↔ final claim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74720"/>
            <a:ext cx="4892040" cy="15087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65392" y="36576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7307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4304" y="3639312"/>
            <a:ext cx="4123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Context Bloat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023359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raw log와 observation이 과도하게 누적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4334255"/>
            <a:ext cx="4105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필요 증거: llm_start context size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세 문서가 만드는 하나의 운영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설계 → 구현 → 관측 → 평가 →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03/20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2971800" cy="14173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5029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039112"/>
            <a:ext cx="220370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Context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2423160"/>
            <a:ext cx="2185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context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2734056"/>
            <a:ext cx="2185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packing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13632" y="2578608"/>
            <a:ext cx="585216" cy="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17720" y="1874519"/>
            <a:ext cx="2971800" cy="14173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874519"/>
            <a:ext cx="5029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231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039112"/>
            <a:ext cx="220370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LangGraph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423160"/>
            <a:ext cx="2185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state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734056"/>
            <a:ext cx="2185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node boundary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62671" y="2578608"/>
            <a:ext cx="585217" cy="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66759" y="1874519"/>
            <a:ext cx="2971800" cy="141732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59" y="1874519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31351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1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3" y="2039112"/>
            <a:ext cx="220370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Drift 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3" y="2423160"/>
            <a:ext cx="2185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TraceLogger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3" y="2734056"/>
            <a:ext cx="2185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Judge input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389120"/>
            <a:ext cx="1001268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690872"/>
            <a:ext cx="9326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ple SD Gothic Neo"/>
              </a:rPr>
              <a:t>이 세 층위가 연결되어야 Agent 행동을 재현하고, 평가하고, 개선할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Context는 하나가 아니라 계층이다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LLM에 직접 넣는 정보와 시스템이 보관하는 정보를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04/20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207008"/>
            <a:ext cx="10287000" cy="49377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2563EB"/>
                </a:solidFill>
                <a:latin typeface="Apple SD Gothic Neo"/>
              </a:rPr>
              <a:t>Instruction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71600"/>
            <a:ext cx="6766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19" b="0">
                <a:solidFill>
                  <a:srgbClr val="263244"/>
                </a:solidFill>
                <a:latin typeface="Apple SD Gothic Neo"/>
              </a:rPr>
              <a:t>역할, 정책, 금지사항, output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10287000" cy="49377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84832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0F766E"/>
                </a:solidFill>
                <a:latin typeface="Apple SD Gothic Neo"/>
              </a:rPr>
              <a:t>Task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2"/>
            <a:ext cx="6766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19" b="0">
                <a:solidFill>
                  <a:srgbClr val="263244"/>
                </a:solidFill>
                <a:latin typeface="Apple SD Gothic Neo"/>
              </a:rPr>
              <a:t>현재 요청, 목표, 제약, 성공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33472"/>
            <a:ext cx="10287000" cy="49377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98064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7C3AED"/>
                </a:solidFill>
                <a:latin typeface="Apple SD Gothic Neo"/>
              </a:rPr>
              <a:t>Knowledge /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98064"/>
            <a:ext cx="6766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19" b="0">
                <a:solidFill>
                  <a:srgbClr val="263244"/>
                </a:solidFill>
                <a:latin typeface="Apple SD Gothic Neo"/>
              </a:rPr>
              <a:t>문서, 코드, runbook, 검색 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46704"/>
            <a:ext cx="10287000" cy="493776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11296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D97706"/>
                </a:solidFill>
                <a:latin typeface="Apple SD Gothic Neo"/>
              </a:rPr>
              <a:t>Memory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511296"/>
            <a:ext cx="6766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19" b="0">
                <a:solidFill>
                  <a:srgbClr val="263244"/>
                </a:solidFill>
                <a:latin typeface="Apple SD Gothic Neo"/>
              </a:rPr>
              <a:t>사용자 선호, 과거 결정, 절차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59936"/>
            <a:ext cx="10287000" cy="493776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24528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0891B2"/>
                </a:solidFill>
                <a:latin typeface="Apple SD Gothic Neo"/>
              </a:rPr>
              <a:t>Tool 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24528"/>
            <a:ext cx="6766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19" b="0">
                <a:solidFill>
                  <a:srgbClr val="263244"/>
                </a:solidFill>
                <a:latin typeface="Apple SD Gothic Neo"/>
              </a:rPr>
              <a:t>도구 호출 결과, 로그 분석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773168"/>
            <a:ext cx="10287000" cy="493776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37760"/>
            <a:ext cx="2468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DC2626"/>
                </a:solidFill>
                <a:latin typeface="Apple SD Gothic Neo"/>
              </a:rPr>
              <a:t>State /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37760"/>
            <a:ext cx="67665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19" b="0">
                <a:solidFill>
                  <a:srgbClr val="263244"/>
                </a:solidFill>
                <a:latin typeface="Apple SD Gothic Neo"/>
              </a:rPr>
              <a:t>진행 상태, evidence, validation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Context Inventory: 무엇을 보여줄 수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항상 포함 / 관련 시 포함 / 절대 제외를 먼저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05/20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98448"/>
            <a:ext cx="3337560" cy="13716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98448"/>
            <a:ext cx="5029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63039"/>
            <a:ext cx="29717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Always Include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core instruction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57984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output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298448"/>
            <a:ext cx="3337560" cy="13716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298448"/>
            <a:ext cx="50292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463039"/>
            <a:ext cx="2971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Relevant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847088"/>
            <a:ext cx="295351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retrieved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57984"/>
            <a:ext cx="295351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selected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298448"/>
            <a:ext cx="3337560" cy="13716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298448"/>
            <a:ext cx="5029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463039"/>
            <a:ext cx="29717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Never Include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1847088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2157984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raw PII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264408"/>
            <a:ext cx="3337560" cy="13716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264408"/>
            <a:ext cx="5029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429000"/>
            <a:ext cx="29717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Evidence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813048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tool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123944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source 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264408"/>
            <a:ext cx="3337560" cy="13716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3264408"/>
            <a:ext cx="50292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429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Compression Targets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813048"/>
            <a:ext cx="295351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raw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123944"/>
            <a:ext cx="295351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long observations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3264408"/>
            <a:ext cx="3337560" cy="137160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3264408"/>
            <a:ext cx="50292" cy="137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67928" y="3429000"/>
            <a:ext cx="297179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Audit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3813048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run_id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123944"/>
            <a:ext cx="295351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prompt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Context Packing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중요한 지시와 근거가 노이즈에 묻히지 않게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06/20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93392"/>
            <a:ext cx="141732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93392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17627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49424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2157984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542032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core instruction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47672" y="2578608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1993392"/>
            <a:ext cx="1417320" cy="11430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993392"/>
            <a:ext cx="5029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87752" y="217627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2249424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157984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542032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safety priority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7912" y="2578608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1993392"/>
            <a:ext cx="1417320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993392"/>
            <a:ext cx="50292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217627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249424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2157984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4" y="2542032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task objective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88152" y="2578608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63640" y="1993392"/>
            <a:ext cx="1417320" cy="11430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993392"/>
            <a:ext cx="5029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2" y="217627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249424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2157984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2542032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output contract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08392" y="2578608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83880" y="1993392"/>
            <a:ext cx="1417320" cy="114300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1993392"/>
            <a:ext cx="50292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48472" y="217627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2249424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891B2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384" y="2157984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2542032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projection only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28632" y="2578608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04120" y="1993392"/>
            <a:ext cx="1417320" cy="11430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04120" y="1993392"/>
            <a:ext cx="5029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68712" y="217627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712" y="2249424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07624" y="2157984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07624" y="2542032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RAG / memory / tools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4389120"/>
            <a:ext cx="10104120" cy="8412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4681728"/>
            <a:ext cx="9509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ple SD Gothic Neo"/>
              </a:rPr>
              <a:t>출처·최신성·충돌 여부를 함께 전달하고, raw data는 artifact reference로 대체합니다.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Write / Select / Compress / Isolate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Context Engineering의 4대 전략을 Graph 구조에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07/20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4800600" cy="14173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71600"/>
            <a:ext cx="5029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5544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276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153619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20" b="1">
                <a:solidFill>
                  <a:srgbClr val="111827"/>
                </a:solidFill>
                <a:latin typeface="Apple SD Gothic Neo"/>
              </a:rPr>
              <a:t>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192024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state/memory/checkpoint에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23113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raw는 artifact로 분리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371600"/>
            <a:ext cx="4800600" cy="14173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371600"/>
            <a:ext cx="5029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1" y="15544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16276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153619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20" b="1">
                <a:solidFill>
                  <a:srgbClr val="111827"/>
                </a:solidFill>
                <a:latin typeface="Apple SD Gothic Neo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192024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현재 state에 맞는 RAG/tool만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223113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불필요한 context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383280"/>
            <a:ext cx="4800600" cy="141732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383280"/>
            <a:ext cx="5029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" y="356616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639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354787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20" b="1">
                <a:solidFill>
                  <a:srgbClr val="111827"/>
                </a:solidFill>
                <a:latin typeface="Apple SD Gothic Neo"/>
              </a:rPr>
              <a:t>Compress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" y="393192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observation과 error를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" y="424281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claim 근거만 유지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383280"/>
            <a:ext cx="4800600" cy="141732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383280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3951" y="356616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1" y="3639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354787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20" b="1">
                <a:solidFill>
                  <a:srgbClr val="111827"/>
                </a:solidFill>
                <a:latin typeface="Apple SD Gothic Neo"/>
              </a:rPr>
              <a:t>Isolate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393192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subgraph/subagent/tool scope 분리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424281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오염 전파 차단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Long Context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긴 컨텍스트는 성능 향상이 아니라 오염과 혼란을 만들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08/20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800600" cy="13716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5029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6002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733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158191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Context Poisoning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196596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잘못된 정보가 이후 판단을 오염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27685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대응: source/confidence/policy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417320"/>
            <a:ext cx="4800600" cy="13716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417320"/>
            <a:ext cx="50292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1" y="16002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16733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158191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Context Distraction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196596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긴 과거 정보가 현재 목표를 방해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227685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대응: source/confidence/policy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383280"/>
            <a:ext cx="4800600" cy="13716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383280"/>
            <a:ext cx="5029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" y="356616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3639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354787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Context Confusion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" y="393192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불필요한 tool/doc이 선택을 흔듦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" y="424281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대응: source/confidence/policy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383280"/>
            <a:ext cx="4800600" cy="13716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383280"/>
            <a:ext cx="5029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3951" y="356616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1" y="3639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3547872"/>
            <a:ext cx="40325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Context Clash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3931920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문서·메모리·도구 결과가 충돌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4242816"/>
            <a:ext cx="40142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대응: source/confidence/policy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LangGraph는 Context Flow를 명시화한다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State lane, node boundary, checkpoint가 분리되어야 운영 가능하다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09/20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35640" cy="5486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00" b="1">
                <a:solidFill>
                  <a:srgbClr val="111827"/>
                </a:solidFill>
                <a:latin typeface="Apple SD Gothic Neo"/>
              </a:rPr>
              <a:t>Shared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426464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80" b="0">
                <a:solidFill>
                  <a:srgbClr val="667085"/>
                </a:solidFill>
                <a:latin typeface="Apple SD Gothic Neo"/>
              </a:rPr>
              <a:t>request · raw_log_ref · metrics · evidence · validation · final_report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2084831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788920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953512"/>
            <a:ext cx="13167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Input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337560"/>
            <a:ext cx="129844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user_input / log_path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865376" y="1783080"/>
            <a:ext cx="0" cy="978408"/>
          </a:xfrm>
          <a:prstGeom prst="line">
            <a:avLst/>
          </a:prstGeom>
          <a:ln w="13970">
            <a:solidFill>
              <a:srgbClr val="667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44368" y="3364992"/>
            <a:ext cx="621792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11879" y="2788920"/>
            <a:ext cx="2084831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79" y="2788920"/>
            <a:ext cx="50292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76472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3" y="2953512"/>
            <a:ext cx="131673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Node A · 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3" y="3337560"/>
            <a:ext cx="129844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request 추출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654296" y="1783080"/>
            <a:ext cx="0" cy="978408"/>
          </a:xfrm>
          <a:prstGeom prst="line">
            <a:avLst/>
          </a:prstGeom>
          <a:ln w="13970">
            <a:solidFill>
              <a:srgbClr val="667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33288" y="3364992"/>
            <a:ext cx="621791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0" y="2788920"/>
            <a:ext cx="2084831" cy="11430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788920"/>
            <a:ext cx="5029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65392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2953512"/>
            <a:ext cx="13167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Node B · Tools/RAG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337560"/>
            <a:ext cx="129844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evidence 수집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443216" y="1783080"/>
            <a:ext cx="0" cy="978408"/>
          </a:xfrm>
          <a:prstGeom prst="line">
            <a:avLst/>
          </a:prstGeom>
          <a:ln w="13970">
            <a:solidFill>
              <a:srgbClr val="667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22208" y="3364992"/>
            <a:ext cx="621792" cy="0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89719" y="2788920"/>
            <a:ext cx="2084831" cy="11430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19" y="2788920"/>
            <a:ext cx="5029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54311" y="29718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1" y="3044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2953512"/>
            <a:ext cx="13167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Node C · 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3224" y="3337560"/>
            <a:ext cx="1298447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claim 검사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0232136" y="1783080"/>
            <a:ext cx="0" cy="978408"/>
          </a:xfrm>
          <a:prstGeom prst="line">
            <a:avLst/>
          </a:prstGeom>
          <a:ln w="13970">
            <a:solidFill>
              <a:srgbClr val="6670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89720" y="4800600"/>
            <a:ext cx="2011680" cy="86868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4800600"/>
            <a:ext cx="50292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54312" y="49834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2" y="50566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93224" y="4965192"/>
            <a:ext cx="12435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Output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3224" y="5349240"/>
            <a:ext cx="12252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final_report / validation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195560" y="3986784"/>
            <a:ext cx="0" cy="768096"/>
          </a:xfrm>
          <a:prstGeom prst="line">
            <a:avLst/>
          </a:prstGeom>
          <a:ln w="1651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337560" y="5010912"/>
            <a:ext cx="5212080" cy="56692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84448" y="5193792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111827"/>
                </a:solidFill>
                <a:latin typeface="Apple SD Gothic Neo"/>
              </a:rPr>
              <a:t>Checkpointer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5193792"/>
            <a:ext cx="3383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263244"/>
                </a:solidFill>
                <a:latin typeface="Apple SD Gothic Neo"/>
              </a:rPr>
              <a:t>각 node 완료 시 state snapshot 저장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State 설계: raw, summary, evidence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State는 LLM prompt가 아니라 컨텍스트 후보 저장소다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10/20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120640" cy="38862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ple SD Gothic Neo"/>
              </a:rPr>
              <a:t>권장 State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389120" cy="2697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0">
                <a:solidFill>
                  <a:srgbClr val="263244"/>
                </a:solidFill>
                <a:latin typeface="Menlo"/>
              </a:rPr>
              <a:t>request
raw_log_ref
metrics
rag_context
mcp_context
evidence
validation
errors
final_report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17320"/>
            <a:ext cx="4800600" cy="9601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417320"/>
            <a:ext cx="5029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581912"/>
            <a:ext cx="44348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분리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1965960"/>
            <a:ext cx="44165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0">
                <a:solidFill>
                  <a:srgbClr val="263244"/>
                </a:solidFill>
                <a:latin typeface="Apple SD Gothic Neo"/>
              </a:rPr>
              <a:t>• raw data와 summary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276856"/>
            <a:ext cx="44165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0">
                <a:solidFill>
                  <a:srgbClr val="263244"/>
                </a:solidFill>
                <a:latin typeface="Apple SD Gothic Neo"/>
              </a:rPr>
              <a:t>• evidence와 hypothesis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770632"/>
            <a:ext cx="4800600" cy="9601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770632"/>
            <a:ext cx="5029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2935224"/>
            <a:ext cx="44348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LLM Projection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319272"/>
            <a:ext cx="44165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0">
                <a:solidFill>
                  <a:srgbClr val="263244"/>
                </a:solidFill>
                <a:latin typeface="Apple SD Gothic Neo"/>
              </a:rPr>
              <a:t>• node별 필요한 필드만 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630168"/>
            <a:ext cx="44165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0">
                <a:solidFill>
                  <a:srgbClr val="263244"/>
                </a:solidFill>
                <a:latin typeface="Apple SD Gothic Neo"/>
              </a:rPr>
              <a:t>• 전체 state 주입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123944"/>
            <a:ext cx="4800600" cy="96012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4123944"/>
            <a:ext cx="5029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288536"/>
            <a:ext cx="44348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20" b="1">
                <a:solidFill>
                  <a:srgbClr val="111827"/>
                </a:solidFill>
                <a:latin typeface="Apple SD Gothic Neo"/>
              </a:rPr>
              <a:t>Judge 관점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72583"/>
            <a:ext cx="44165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0">
                <a:solidFill>
                  <a:srgbClr val="263244"/>
                </a:solidFill>
                <a:latin typeface="Apple SD Gothic Neo"/>
              </a:rPr>
              <a:t>• claim ↔ evidence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983479"/>
            <a:ext cx="44165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0">
                <a:solidFill>
                  <a:srgbClr val="263244"/>
                </a:solidFill>
                <a:latin typeface="Apple SD Gothic Neo"/>
              </a:rPr>
              <a:t>• state diff로 drift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Node는 Context Boundary다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각 Node는 read/write/visible/hidden context contract를 가져야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11/20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063240" cy="16002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5029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039112"/>
            <a:ext cx="22951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Node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2423160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Reads / 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734056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Visible / Hidden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670048"/>
            <a:ext cx="566928" cy="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63440" y="1874519"/>
            <a:ext cx="3063240" cy="16002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874519"/>
            <a:ext cx="50292" cy="1600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2803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039112"/>
            <a:ext cx="22951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Deterministic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423160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parse / filter / 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734056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schema validation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670048"/>
            <a:ext cx="566928" cy="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03920" y="1874519"/>
            <a:ext cx="3063240" cy="16002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1874519"/>
            <a:ext cx="50292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6851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2039112"/>
            <a:ext cx="22951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Apple SD Gothic Neo"/>
              </a:rPr>
              <a:t>LLM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2423160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evidence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734056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19" b="0">
                <a:solidFill>
                  <a:srgbClr val="263244"/>
                </a:solidFill>
                <a:latin typeface="Apple SD Gothic Neo"/>
              </a:rPr>
              <a:t>• next action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754880"/>
            <a:ext cx="9875520" cy="6583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983480"/>
            <a:ext cx="9326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ple SD Gothic Neo"/>
              </a:rPr>
              <a:t>숫자는 code로 계산하고, LLM은 요약 evidence와 의사결정 context만 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Tool Drift 방지: Dynamic Tool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현재 state에서 필요한 도구만 LLM에게 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12/20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41732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3317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4048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231343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69748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parse_user_request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47672" y="2724912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2148840"/>
            <a:ext cx="1417320" cy="114300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2148840"/>
            <a:ext cx="50292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87752" y="23317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24048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31343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69748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read_log_file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7912" y="2724912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2148840"/>
            <a:ext cx="1417320" cy="11430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148840"/>
            <a:ext cx="5029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23317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4048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231343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4" y="269748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filter_records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88152" y="2724912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63640" y="2148840"/>
            <a:ext cx="1417320" cy="114300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148840"/>
            <a:ext cx="5029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2" y="23317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4048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231343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269748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compute_metrics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08392" y="2724912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83880" y="2148840"/>
            <a:ext cx="1417320" cy="114300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2148840"/>
            <a:ext cx="50292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48472" y="23317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24048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891B2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384" y="231343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269748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RAG / MCP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28632" y="2724912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04120" y="2148840"/>
            <a:ext cx="1417320" cy="11430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04120" y="2148840"/>
            <a:ext cx="5029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68712" y="23317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712" y="24048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07624" y="231343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Finish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07624" y="269748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finalize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4526280"/>
            <a:ext cx="10104120" cy="74980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4791456"/>
            <a:ext cx="94640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ple SD Gothic Neo"/>
              </a:rPr>
              <a:t>모든 도구를 항상 보여주면 “쓸 수 있는 것”을 “써야 하는 것”으로 오해합니다.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ReAct Step은 최소 Context로 충분하다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전체 state 대신 progress flags와 last observation 중심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13/20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5440680" cy="40690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2560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50" b="1">
                <a:solidFill>
                  <a:srgbClr val="7C3AED"/>
                </a:solidFill>
                <a:latin typeface="Apple SD Gothic Neo"/>
              </a:rPr>
              <a:t>LLM-facing Step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4709160" cy="2926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60" b="0">
                <a:solidFill>
                  <a:srgbClr val="263244"/>
                </a:solidFill>
                <a:latin typeface="Menlo"/>
              </a:rPr>
              <a:t>step: 4
goal: Analyze /api/login 5xx spike
progress:
  logs_loaded: true
  records_filtered: false
  metrics_computed: false
last_observation:
  tool: parse_access_log
  record_count: 10000
available_tools: [filter_log_records]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4434840" cy="11430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50292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581912"/>
            <a:ext cx="40690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50" b="1">
                <a:solidFill>
                  <a:srgbClr val="111827"/>
                </a:solidFill>
                <a:latin typeface="Apple SD Gothic Neo"/>
              </a:rPr>
              <a:t>줄이는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1965960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raw logs 전체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276856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오래된 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587751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records 배열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971800"/>
            <a:ext cx="4434840" cy="11430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2971800"/>
            <a:ext cx="5029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3136392"/>
            <a:ext cx="40690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50" b="1">
                <a:solidFill>
                  <a:srgbClr val="111827"/>
                </a:solidFill>
                <a:latin typeface="Apple SD Gothic Neo"/>
              </a:rPr>
              <a:t>남기는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3520440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현재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831336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진행 상태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4142232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최근 observation 요약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526280"/>
            <a:ext cx="4434840" cy="1143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4526280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4690872"/>
            <a:ext cx="40690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50" b="1">
                <a:solidFill>
                  <a:srgbClr val="111827"/>
                </a:solidFill>
                <a:latin typeface="Apple SD Gothic Neo"/>
              </a:rPr>
              <a:t>Finish 제약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5074920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evidence 전 finish 금지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5385816"/>
            <a:ext cx="405079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00" b="0">
                <a:solidFill>
                  <a:srgbClr val="263244"/>
                </a:solidFill>
                <a:latin typeface="Apple SD Gothic Neo"/>
              </a:rPr>
              <a:t>• 누락 시 다음 node로 route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RAG는 단일 호출이 아니라 Context Pipeline이다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검색 결과가 claim이 되기 전에 검증·압축·역할 구분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14/20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417320" cy="10972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029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203911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Rewrite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42316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intent/query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47672" y="2432304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1874519"/>
            <a:ext cx="1417320" cy="109728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874519"/>
            <a:ext cx="50292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8775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03911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42316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candidate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7912" y="2432304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1874519"/>
            <a:ext cx="1417320" cy="109728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874519"/>
            <a:ext cx="5029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6904" y="203911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Rerank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4" y="242316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권한/최신성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88152" y="2432304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63640" y="1874519"/>
            <a:ext cx="1417320" cy="109728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874519"/>
            <a:ext cx="5029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203911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Compress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242316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excerpt/source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08392" y="2432304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83880" y="1874519"/>
            <a:ext cx="1417320" cy="109728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1874519"/>
            <a:ext cx="5029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4847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384" y="203911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242316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충돌/근거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28632" y="2432304"/>
            <a:ext cx="356616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04120" y="1874519"/>
            <a:ext cx="1417320" cy="1097280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04120" y="1874519"/>
            <a:ext cx="5029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68712" y="205740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8712" y="21305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891B2"/>
                </a:solidFill>
                <a:latin typeface="Apto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07624" y="2039112"/>
            <a:ext cx="649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07624" y="2423160"/>
            <a:ext cx="63093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LLM context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4160520"/>
            <a:ext cx="2468880" cy="10515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4160520"/>
            <a:ext cx="5029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325112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Authoritative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709159"/>
            <a:ext cx="20848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공식 문서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020055"/>
            <a:ext cx="20848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claim 근거 가능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93591" y="4160520"/>
            <a:ext cx="2468880" cy="105156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93591" y="4160520"/>
            <a:ext cx="502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59" y="4325112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Guidance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59" y="4709159"/>
            <a:ext cx="20848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runbook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59" y="5020055"/>
            <a:ext cx="20848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원인 후보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73952" y="4160520"/>
            <a:ext cx="2468880" cy="10515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73952" y="4160520"/>
            <a:ext cx="50292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4325112"/>
            <a:ext cx="2103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Episodic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4709159"/>
            <a:ext cx="20848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과거 incident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020055"/>
            <a:ext cx="20848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유사 사례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54311" y="4160520"/>
            <a:ext cx="2468880" cy="10515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54311" y="4160520"/>
            <a:ext cx="50292" cy="10515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4325112"/>
            <a:ext cx="21031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Background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4709159"/>
            <a:ext cx="208483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외부 설명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5020055"/>
            <a:ext cx="2084831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9" b="0">
                <a:solidFill>
                  <a:srgbClr val="263244"/>
                </a:solidFill>
                <a:latin typeface="Apple SD Gothic Neo"/>
              </a:rPr>
              <a:t>• 보조 정보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Memory와 Checkpoint는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기억해야 할 것과 되돌릴 수 있어야 할 것을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15/20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287000" cy="53035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17904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2563EB"/>
                </a:solidFill>
                <a:latin typeface="Apple SD Gothic Neo"/>
              </a:rPr>
              <a:t>Short-term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17904"/>
            <a:ext cx="69494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00" b="0">
                <a:solidFill>
                  <a:srgbClr val="263244"/>
                </a:solidFill>
                <a:latin typeface="Apple SD Gothic Neo"/>
              </a:rPr>
              <a:t>현재 thread의 진행 상태와 작업 메모리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12264"/>
            <a:ext cx="10287000" cy="53035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04288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0F766E"/>
                </a:solidFill>
                <a:latin typeface="Apple SD Gothic Neo"/>
              </a:rPr>
              <a:t>Long-term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04288"/>
            <a:ext cx="69494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00" b="0">
                <a:solidFill>
                  <a:srgbClr val="263244"/>
                </a:solidFill>
                <a:latin typeface="Apple SD Gothic Neo"/>
              </a:rPr>
              <a:t>사용자 선호, 프로젝트 규칙, 과거 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98648"/>
            <a:ext cx="10287000" cy="53035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090672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7C3AED"/>
                </a:solidFill>
                <a:latin typeface="Apple SD Gothic Neo"/>
              </a:rPr>
              <a:t>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90672"/>
            <a:ext cx="69494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00" b="0">
                <a:solidFill>
                  <a:srgbClr val="263244"/>
                </a:solidFill>
                <a:latin typeface="Apple SD Gothic Neo"/>
              </a:rPr>
              <a:t>각 step의 state snapshot과 resume 지점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85032"/>
            <a:ext cx="10287000" cy="530352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877056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16A34A"/>
                </a:solidFill>
                <a:latin typeface="Apple SD Gothic Neo"/>
              </a:rPr>
              <a:t>Write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77056"/>
            <a:ext cx="69494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00" b="0">
                <a:solidFill>
                  <a:srgbClr val="263244"/>
                </a:solidFill>
                <a:latin typeface="Apple SD Gothic Neo"/>
              </a:rPr>
              <a:t>명시적 결정과 검증된 사실만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71416"/>
            <a:ext cx="10287000" cy="530352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663440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50" b="1">
                <a:solidFill>
                  <a:srgbClr val="D97706"/>
                </a:solidFill>
                <a:latin typeface="Apple SD Gothic Neo"/>
              </a:rPr>
              <a:t>Retrieval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63440"/>
            <a:ext cx="69494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00" b="0">
                <a:solidFill>
                  <a:srgbClr val="263244"/>
                </a:solidFill>
                <a:latin typeface="Apple SD Gothic Neo"/>
              </a:rPr>
              <a:t>relevance, recency, permission, sensitivity 기준 선택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Human-in-the-loop: Side Effect는 승인 Gate로 격리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외부 발송·삭제·재시작 같은 행동은 checkpoint 이후 승인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16/20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1691640" cy="118872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029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2402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13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221992"/>
            <a:ext cx="9235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606040"/>
            <a:ext cx="9052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action 제안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87168" y="2651760"/>
            <a:ext cx="484632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17520" y="2057400"/>
            <a:ext cx="1691640" cy="118872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057400"/>
            <a:ext cx="50292" cy="1188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82112" y="22402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2313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221992"/>
            <a:ext cx="9235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606040"/>
            <a:ext cx="9052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근거/위험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27448" y="2651760"/>
            <a:ext cx="484632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57800" y="2057400"/>
            <a:ext cx="1691640" cy="118872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57800" y="2057400"/>
            <a:ext cx="5029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22392" y="22402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2313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1304" y="2221992"/>
            <a:ext cx="9235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1304" y="2606040"/>
            <a:ext cx="9052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human approval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67728" y="2651760"/>
            <a:ext cx="484632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98080" y="2057400"/>
            <a:ext cx="1691640" cy="118872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0" y="2057400"/>
            <a:ext cx="50292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62672" y="22402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2313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4" y="2221992"/>
            <a:ext cx="9235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Execute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4" y="2606040"/>
            <a:ext cx="9052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승인 후 tool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08008" y="2651760"/>
            <a:ext cx="484632" cy="0"/>
          </a:xfrm>
          <a:prstGeom prst="line">
            <a:avLst/>
          </a:prstGeom>
          <a:ln w="1524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38360" y="2057400"/>
            <a:ext cx="1691640" cy="11887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2057400"/>
            <a:ext cx="5029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902952" y="22402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02952" y="2313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1864" y="2221992"/>
            <a:ext cx="9235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Resume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41864" y="2606040"/>
            <a:ext cx="9052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checkpoint 재개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572000"/>
            <a:ext cx="9555480" cy="69494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08760" y="4818888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150" b="1">
                <a:solidFill>
                  <a:srgbClr val="111827"/>
                </a:solidFill>
                <a:latin typeface="Apple SD Gothic Neo"/>
              </a:rPr>
              <a:t>Approval Context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4818888"/>
            <a:ext cx="6766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080" b="0">
                <a:solidFill>
                  <a:srgbClr val="263244"/>
                </a:solidFill>
                <a:latin typeface="Apple SD Gothic Neo"/>
              </a:rPr>
              <a:t>proposed_action · reason · evidence · risk · rollback · source_refs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Reference 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WebLog Analysis Agent의 context, tool, telemetry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17/20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880360" cy="38862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1031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ple SD Gothic Neo"/>
              </a:rPr>
              <a:t>Input &amp;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011680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9696"/>
            <a:ext cx="6858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39696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0" b="0">
                <a:solidFill>
                  <a:srgbClr val="667085"/>
                </a:solidFill>
                <a:latin typeface="Apple SD Gothic Neo"/>
              </a:rPr>
              <a:t>요청/목표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670048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98063"/>
            <a:ext cx="6858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Log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98063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0" b="0">
                <a:solidFill>
                  <a:srgbClr val="667085"/>
                </a:solidFill>
                <a:latin typeface="Apple SD Gothic Neo"/>
              </a:rPr>
              <a:t>분석 대상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328416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56432"/>
            <a:ext cx="6858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56432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0" b="0">
                <a:solidFill>
                  <a:srgbClr val="667085"/>
                </a:solidFill>
                <a:latin typeface="Apple SD Gothic Neo"/>
              </a:rPr>
              <a:t>prompt/rules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986784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114800"/>
            <a:ext cx="6858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14800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10" b="0">
                <a:solidFill>
                  <a:srgbClr val="667085"/>
                </a:solidFill>
                <a:latin typeface="Apple SD Gothic Neo"/>
              </a:rPr>
              <a:t>output contract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1143000"/>
            <a:ext cx="3977639" cy="425196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141732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Apple SD Gothic Neo"/>
              </a:rPr>
              <a:t>LangGraph-style 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828800"/>
            <a:ext cx="27889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1947672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1">
                <a:solidFill>
                  <a:srgbClr val="111827"/>
                </a:solidFill>
                <a:latin typeface="Apple SD Gothic Neo"/>
              </a:rPr>
              <a:t>initialize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4728" y="1947672"/>
            <a:ext cx="10515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state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2441448"/>
            <a:ext cx="27889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2560320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1">
                <a:solidFill>
                  <a:srgbClr val="111827"/>
                </a:solidFill>
                <a:latin typeface="Apple SD Gothic Neo"/>
              </a:rPr>
              <a:t>react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2560320"/>
            <a:ext cx="10515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tool 선택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054096"/>
            <a:ext cx="27889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172968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1">
                <a:solidFill>
                  <a:srgbClr val="111827"/>
                </a:solidFill>
                <a:latin typeface="Apple SD Gothic Neo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4728" y="3172968"/>
            <a:ext cx="10515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metrics 계산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666744"/>
            <a:ext cx="27889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785616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1">
                <a:solidFill>
                  <a:srgbClr val="111827"/>
                </a:solidFill>
                <a:latin typeface="Apple SD Gothic Neo"/>
              </a:rPr>
              <a:t>RAG / 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4728" y="3785616"/>
            <a:ext cx="10515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외부 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279392"/>
            <a:ext cx="278892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4398264"/>
            <a:ext cx="9601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60" b="1">
                <a:solidFill>
                  <a:srgbClr val="111827"/>
                </a:solidFill>
                <a:latin typeface="Apple SD Gothic Neo"/>
              </a:rP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4728" y="4398264"/>
            <a:ext cx="10515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finish 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1325880"/>
            <a:ext cx="2880360" cy="38862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1600200"/>
            <a:ext cx="21945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ple SD Gothic Neo"/>
              </a:rPr>
              <a:t>Output &amp; Telemetry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97112" y="2011680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2139696"/>
            <a:ext cx="80467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139696"/>
            <a:ext cx="8686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최종 분석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7112" y="2670048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2798063"/>
            <a:ext cx="80467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798063"/>
            <a:ext cx="8686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gate 결과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97112" y="3328416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3456432"/>
            <a:ext cx="80467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Trace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456432"/>
            <a:ext cx="8686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JSONL events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97112" y="3986784"/>
            <a:ext cx="21488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4114800"/>
            <a:ext cx="80467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pple SD Gothic Neo"/>
              </a:rPr>
              <a:t>Judge input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4114800"/>
            <a:ext cx="86868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00" b="0">
                <a:solidFill>
                  <a:srgbClr val="667085"/>
                </a:solidFill>
                <a:latin typeface="Apple SD Gothic Neo"/>
              </a:rPr>
              <a:t>평가 데이터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584448" y="3246120"/>
            <a:ext cx="420624" cy="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92440" y="3246120"/>
            <a:ext cx="484632" cy="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965960" y="5687568"/>
            <a:ext cx="8183879" cy="49377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5852160"/>
            <a:ext cx="13716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1">
                <a:solidFill>
                  <a:srgbClr val="111827"/>
                </a:solidFill>
                <a:latin typeface="Apple SD Gothic Neo"/>
              </a:rPr>
              <a:t>의미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852160"/>
            <a:ext cx="62179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30" b="0">
                <a:solidFill>
                  <a:srgbClr val="263244"/>
                </a:solidFill>
                <a:latin typeface="Apple SD Gothic Neo"/>
              </a:rPr>
              <a:t>입력 컨텍스트 → graph 실행 → 검증 가능한 산출물/trace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Drift Telemetry Event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어떤 이벤트가 어떤 질문에 답하는가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18/20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83280"/>
                <a:gridCol w="5349240"/>
              </a:tblGrid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827"/>
                          </a:solidFill>
                          <a:latin typeface="Apple SD Gothic Neo"/>
                        </a:rPr>
                        <a:t>Layer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827"/>
                          </a:solidFill>
                          <a:latin typeface="Apple SD Gothic Neo"/>
                        </a:rPr>
                        <a:t>Event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827"/>
                          </a:solidFill>
                          <a:latin typeface="Apple SD Gothic Neo"/>
                        </a:rPr>
                        <a:t>답하는 질문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3244"/>
                          </a:solidFill>
                          <a:latin typeface="Apple SD Gothic Neo"/>
                        </a:rPr>
                        <a:t>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run_start / run_end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어떤 agent/version/model인가?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3244"/>
                          </a:solidFill>
                          <a:latin typeface="Apple SD Gothic Neo"/>
                        </a:rPr>
                        <a:t>Prompt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instruction_snapshot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어떤 지시로 실행됐는가?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3244"/>
                          </a:solidFill>
                          <a:latin typeface="Apple SD Gothic Neo"/>
                        </a:rPr>
                        <a:t>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node_start / node_end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어떤 경로로 실행됐는가?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3244"/>
                          </a:solidFill>
                          <a:latin typeface="Apple SD Gothic Neo"/>
                        </a:rPr>
                        <a:t>ReAct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react_step / observation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왜 이 action을 골랐는가?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3244"/>
                          </a:solidFill>
                          <a:latin typeface="Apple SD Gothic Neo"/>
                        </a:rPr>
                        <a:t>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tool / RAG / MCP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주장의 근거가 있는가?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3244"/>
                          </a:solidFill>
                          <a:latin typeface="Apple SD Gothic Neo"/>
                        </a:rPr>
                        <a:t>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validation_result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3244"/>
                          </a:solidFill>
                          <a:latin typeface="Apple SD Gothic Neo"/>
                        </a:rPr>
                        <a:t>최종 품질은 통과했는가?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JUDGE AGENT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Judge Agent 평가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Observe → Judge → Improve 폐루프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19/20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2148840" cy="10058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743200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29260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9992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907792"/>
            <a:ext cx="13807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ple SD Gothic Neo"/>
              </a:rPr>
              <a:t>Agent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2184" y="3291840"/>
            <a:ext cx="13624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사용자 요청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463040"/>
            <a:ext cx="2148840" cy="10058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1463040"/>
            <a:ext cx="5029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48072" y="164592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7190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6984" y="1627632"/>
            <a:ext cx="13807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ple SD Gothic Neo"/>
              </a:rPr>
              <a:t>Trace JSONL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6984" y="2011680"/>
            <a:ext cx="13624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실행 증거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43200"/>
            <a:ext cx="2148840" cy="100584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2743200"/>
            <a:ext cx="5029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62872" y="29260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9992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1784" y="2907792"/>
            <a:ext cx="13807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ple SD Gothic Neo"/>
              </a:rPr>
              <a:t>Judge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3291840"/>
            <a:ext cx="13624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drift/evidence 평가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4709160"/>
            <a:ext cx="2148840" cy="100584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3480" y="4709160"/>
            <a:ext cx="5029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48072" y="489204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8072" y="496519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6984" y="4873752"/>
            <a:ext cx="13807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ple SD Gothic Neo"/>
              </a:rP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6984" y="5257800"/>
            <a:ext cx="13624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850" b="0">
                <a:solidFill>
                  <a:srgbClr val="263244"/>
                </a:solidFill>
                <a:latin typeface="Apple SD Gothic Neo"/>
              </a:rPr>
              <a:t>• prompt/graph/tool 개선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2971800"/>
            <a:ext cx="3703320" cy="6858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218688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>
                <a:solidFill>
                  <a:srgbClr val="111827"/>
                </a:solidFill>
                <a:latin typeface="Apple SD Gothic Neo"/>
              </a:rPr>
              <a:t>Evaluation Criteria: goal · tool · evidence · rag · bloat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063240" y="1965960"/>
            <a:ext cx="1828800" cy="100584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78040" y="1965960"/>
            <a:ext cx="1828800" cy="100584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040880" y="3794760"/>
            <a:ext cx="2194560" cy="109728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971800" y="3703320"/>
            <a:ext cx="2011680" cy="1188720"/>
          </a:xfrm>
          <a:prstGeom prst="line">
            <a:avLst/>
          </a:prstGeom>
          <a:ln w="2159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71323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750" b="1">
                <a:solidFill>
                  <a:srgbClr val="667085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0467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950" b="1">
                <a:solidFill>
                  <a:srgbClr val="111827"/>
                </a:solidFill>
                <a:latin typeface="Apple SD Gothic Neo"/>
              </a:rPr>
              <a:t>구현 체크리스트와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412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50" b="0">
                <a:solidFill>
                  <a:srgbClr val="667085"/>
                </a:solidFill>
                <a:latin typeface="Apple SD Gothic Neo"/>
              </a:rPr>
              <a:t>좋은 Agent는 답변 생성기가 아니라 검증 가능한 실행 시스템이다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>
                <a:solidFill>
                  <a:srgbClr val="98A2B3"/>
                </a:solidFill>
                <a:latin typeface="Aptos"/>
              </a:rPr>
              <a:t>20/20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3063240" cy="19202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5029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7830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562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1764792"/>
            <a:ext cx="22951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2148840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459736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2770632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raw/summary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600200"/>
            <a:ext cx="3063240" cy="19202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600200"/>
            <a:ext cx="50292" cy="1920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2312" y="17830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18562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Aptos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1764792"/>
            <a:ext cx="22951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148840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state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459736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conditional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770632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checkpoint/thread_id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1600200"/>
            <a:ext cx="3063240" cy="192024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58200" y="1600200"/>
            <a:ext cx="5029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22792" y="1783080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18562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ptos"/>
              </a:rP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1764792"/>
            <a:ext cx="22951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Apple SD Gothic Neo"/>
              </a:rPr>
              <a:t>Telemetry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2148840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prompt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2459736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node/tool/llm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2770632"/>
            <a:ext cx="22768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r>
              <a:rPr sz="940" b="0">
                <a:solidFill>
                  <a:srgbClr val="263244"/>
                </a:solidFill>
                <a:latin typeface="Apple SD Gothic Neo"/>
              </a:rPr>
              <a:t>• validation result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800600"/>
            <a:ext cx="10149840" cy="822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074920"/>
            <a:ext cx="9601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pple SD Gothic Neo"/>
              </a:rPr>
              <a:t>운영 가능한 AI Agent는 상태(state) · 근거(evidence) · 추적(trace)으로 설명 가능해야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